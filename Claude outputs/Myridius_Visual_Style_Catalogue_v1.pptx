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87" r:id="rId4"/>
    <p:sldMasterId id="2147483824" r:id="rId5"/>
    <p:sldMasterId id="2147483882" r:id="rId6"/>
  </p:sldMasterIdLst>
  <p:notesMasterIdLst>
    <p:notesMasterId r:id="rId23"/>
  </p:notesMasterIdLst>
  <p:handoutMasterIdLst>
    <p:handoutMasterId r:id="rId24"/>
  </p:handoutMasterIdLst>
  <p:sldIdLst>
    <p:sldId id="2147483085" r:id="rId7"/>
    <p:sldId id="2147483086" r:id="rId8"/>
    <p:sldId id="2147483087" r:id="rId9"/>
    <p:sldId id="2147483088" r:id="rId10"/>
    <p:sldId id="2147483089" r:id="rId11"/>
    <p:sldId id="2147483090" r:id="rId12"/>
    <p:sldId id="2147483091" r:id="rId13"/>
    <p:sldId id="2147483092" r:id="rId14"/>
    <p:sldId id="2147483093" r:id="rId15"/>
    <p:sldId id="2147483094" r:id="rId16"/>
    <p:sldId id="2147483095" r:id="rId17"/>
    <p:sldId id="2147483096" r:id="rId18"/>
    <p:sldId id="2147483097" r:id="rId19"/>
    <p:sldId id="2147483098" r:id="rId20"/>
    <p:sldId id="2147483099" r:id="rId21"/>
    <p:sldId id="28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AA6C9D7-3117-8CC8-4E4A-4A731FABDC02}" name="Jigna Vaghela" initials="JV" userId="S::jigna.vaghela@RCGGS.COM::53518ad6-d5f0-45d8-b2d6-db097a3d432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31A7"/>
    <a:srgbClr val="004F5F"/>
    <a:srgbClr val="F5F1FA"/>
    <a:srgbClr val="D2F0C6"/>
    <a:srgbClr val="A8DAE3"/>
    <a:srgbClr val="52E081"/>
    <a:srgbClr val="0C2226"/>
    <a:srgbClr val="061F22"/>
    <a:srgbClr val="FF3838"/>
    <a:srgbClr val="FF5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658737-DA86-43AA-8007-8DE9CCF4C1D0}" v="1" dt="2026-10-09T10:16:59.3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shek Sharma" userId="e7d45df1-48b0-4fec-a35b-6bd23f494861" providerId="ADAL" clId="{98EF8AF6-41F6-453C-BAF3-9F92310D77CE}"/>
    <pc:docChg chg="undo custSel addSld delSld modSld sldOrd delMainMaster modMainMaster">
      <pc:chgData name="Abhishek Sharma" userId="e7d45df1-48b0-4fec-a35b-6bd23f494861" providerId="ADAL" clId="{98EF8AF6-41F6-453C-BAF3-9F92310D77CE}" dt="2026-10-09T10:16:59.308" v="180"/>
      <pc:docMkLst>
        <pc:docMk/>
      </pc:docMkLst>
      <pc:sldChg chg="add">
        <pc:chgData name="Abhishek Sharma" userId="e7d45df1-48b0-4fec-a35b-6bd23f494861" providerId="ADAL" clId="{98EF8AF6-41F6-453C-BAF3-9F92310D77CE}" dt="2026-10-08T06:25:33.704" v="168"/>
        <pc:sldMkLst>
          <pc:docMk/>
          <pc:sldMk cId="0" sldId="259"/>
        </pc:sldMkLst>
      </pc:sldChg>
      <pc:sldChg chg="add ord">
        <pc:chgData name="Abhishek Sharma" userId="e7d45df1-48b0-4fec-a35b-6bd23f494861" providerId="ADAL" clId="{98EF8AF6-41F6-453C-BAF3-9F92310D77CE}" dt="2026-10-08T06:26:04.326" v="174"/>
        <pc:sldMkLst>
          <pc:docMk/>
          <pc:sldMk cId="0" sldId="260"/>
        </pc:sldMkLst>
      </pc:sldChg>
      <pc:sldChg chg="modSp add del mod ord">
        <pc:chgData name="Abhishek Sharma" userId="e7d45df1-48b0-4fec-a35b-6bd23f494861" providerId="ADAL" clId="{98EF8AF6-41F6-453C-BAF3-9F92310D77CE}" dt="2026-10-08T08:31:16.093" v="179" actId="47"/>
        <pc:sldMkLst>
          <pc:docMk/>
          <pc:sldMk cId="0" sldId="261"/>
        </pc:sldMkLst>
        <pc:spChg chg="mod">
          <ac:chgData name="Abhishek Sharma" userId="e7d45df1-48b0-4fec-a35b-6bd23f494861" providerId="ADAL" clId="{98EF8AF6-41F6-453C-BAF3-9F92310D77CE}" dt="2026-10-08T08:00:26.362" v="175" actId="1076"/>
          <ac:spMkLst>
            <pc:docMk/>
            <pc:sldMk cId="0" sldId="261"/>
            <ac:spMk id="12" creationId="{00000000-0000-0000-0000-000000000000}"/>
          </ac:spMkLst>
        </pc:spChg>
      </pc:sldChg>
      <pc:sldChg chg="add">
        <pc:chgData name="Abhishek Sharma" userId="e7d45df1-48b0-4fec-a35b-6bd23f494861" providerId="ADAL" clId="{98EF8AF6-41F6-453C-BAF3-9F92310D77CE}" dt="2026-10-08T06:24:50.574" v="166"/>
        <pc:sldMkLst>
          <pc:docMk/>
          <pc:sldMk cId="198539992" sldId="266"/>
        </pc:sldMkLst>
      </pc:sldChg>
      <pc:sldChg chg="add">
        <pc:chgData name="Abhishek Sharma" userId="e7d45df1-48b0-4fec-a35b-6bd23f494861" providerId="ADAL" clId="{98EF8AF6-41F6-453C-BAF3-9F92310D77CE}" dt="2026-10-08T06:24:50.574" v="166"/>
        <pc:sldMkLst>
          <pc:docMk/>
          <pc:sldMk cId="1175046173" sldId="271"/>
        </pc:sldMkLst>
      </pc:sldChg>
      <pc:sldChg chg="add">
        <pc:chgData name="Abhishek Sharma" userId="e7d45df1-48b0-4fec-a35b-6bd23f494861" providerId="ADAL" clId="{98EF8AF6-41F6-453C-BAF3-9F92310D77CE}" dt="2026-10-08T06:24:50.574" v="166"/>
        <pc:sldMkLst>
          <pc:docMk/>
          <pc:sldMk cId="2701059910" sldId="276"/>
        </pc:sldMkLst>
      </pc:sldChg>
      <pc:sldChg chg="delSp add mod">
        <pc:chgData name="Abhishek Sharma" userId="e7d45df1-48b0-4fec-a35b-6bd23f494861" providerId="ADAL" clId="{98EF8AF6-41F6-453C-BAF3-9F92310D77CE}" dt="2026-10-08T06:24:54.261" v="167" actId="478"/>
        <pc:sldMkLst>
          <pc:docMk/>
          <pc:sldMk cId="595481304" sldId="281"/>
        </pc:sldMkLst>
        <pc:spChg chg="del">
          <ac:chgData name="Abhishek Sharma" userId="e7d45df1-48b0-4fec-a35b-6bd23f494861" providerId="ADAL" clId="{98EF8AF6-41F6-453C-BAF3-9F92310D77CE}" dt="2026-10-08T06:24:54.261" v="167" actId="478"/>
          <ac:spMkLst>
            <pc:docMk/>
            <pc:sldMk cId="595481304" sldId="281"/>
            <ac:spMk id="21" creationId="{E41AFBFD-827C-EBF4-D39E-9D0D21811618}"/>
          </ac:spMkLst>
        </pc:spChg>
      </pc:sldChg>
      <pc:sldChg chg="add">
        <pc:chgData name="Abhishek Sharma" userId="e7d45df1-48b0-4fec-a35b-6bd23f494861" providerId="ADAL" clId="{98EF8AF6-41F6-453C-BAF3-9F92310D77CE}" dt="2026-10-08T06:24:50.574" v="166"/>
        <pc:sldMkLst>
          <pc:docMk/>
          <pc:sldMk cId="659292089" sldId="282"/>
        </pc:sldMkLst>
      </pc:sldChg>
      <pc:sldChg chg="add">
        <pc:chgData name="Abhishek Sharma" userId="e7d45df1-48b0-4fec-a35b-6bd23f494861" providerId="ADAL" clId="{98EF8AF6-41F6-453C-BAF3-9F92310D77CE}" dt="2026-10-08T06:24:50.574" v="166"/>
        <pc:sldMkLst>
          <pc:docMk/>
          <pc:sldMk cId="3286271730" sldId="283"/>
        </pc:sldMkLst>
      </pc:sldChg>
      <pc:sldChg chg="add">
        <pc:chgData name="Abhishek Sharma" userId="e7d45df1-48b0-4fec-a35b-6bd23f494861" providerId="ADAL" clId="{98EF8AF6-41F6-453C-BAF3-9F92310D77CE}" dt="2026-10-08T06:24:50.574" v="166"/>
        <pc:sldMkLst>
          <pc:docMk/>
          <pc:sldMk cId="2923487738" sldId="285"/>
        </pc:sldMkLst>
      </pc:sldChg>
      <pc:sldChg chg="add">
        <pc:chgData name="Abhishek Sharma" userId="e7d45df1-48b0-4fec-a35b-6bd23f494861" providerId="ADAL" clId="{98EF8AF6-41F6-453C-BAF3-9F92310D77CE}" dt="2026-10-08T06:24:50.574" v="166"/>
        <pc:sldMkLst>
          <pc:docMk/>
          <pc:sldMk cId="2319159472" sldId="287"/>
        </pc:sldMkLst>
      </pc:sldChg>
      <pc:sldChg chg="addSp delSp modSp add del mod">
        <pc:chgData name="Abhishek Sharma" userId="e7d45df1-48b0-4fec-a35b-6bd23f494861" providerId="ADAL" clId="{98EF8AF6-41F6-453C-BAF3-9F92310D77CE}" dt="2026-10-08T08:31:11.811" v="178"/>
        <pc:sldMkLst>
          <pc:docMk/>
          <pc:sldMk cId="1601503242" sldId="2147483055"/>
        </pc:sldMkLst>
        <pc:spChg chg="add mod">
          <ac:chgData name="Abhishek Sharma" userId="e7d45df1-48b0-4fec-a35b-6bd23f494861" providerId="ADAL" clId="{98EF8AF6-41F6-453C-BAF3-9F92310D77CE}" dt="2026-10-08T08:31:11.811" v="178"/>
          <ac:spMkLst>
            <pc:docMk/>
            <pc:sldMk cId="1601503242" sldId="2147483055"/>
            <ac:spMk id="2" creationId="{7C2372B2-A490-1901-2414-7626F650A16B}"/>
          </ac:spMkLst>
        </pc:spChg>
        <pc:spChg chg="del">
          <ac:chgData name="Abhishek Sharma" userId="e7d45df1-48b0-4fec-a35b-6bd23f494861" providerId="ADAL" clId="{98EF8AF6-41F6-453C-BAF3-9F92310D77CE}" dt="2026-10-08T08:31:11.232" v="177" actId="478"/>
          <ac:spMkLst>
            <pc:docMk/>
            <pc:sldMk cId="1601503242" sldId="2147483055"/>
            <ac:spMk id="3" creationId="{53E840B1-980B-114E-34A7-EADE8E263E9D}"/>
          </ac:spMkLst>
        </pc:spChg>
        <pc:spChg chg="add mod">
          <ac:chgData name="Abhishek Sharma" userId="e7d45df1-48b0-4fec-a35b-6bd23f494861" providerId="ADAL" clId="{98EF8AF6-41F6-453C-BAF3-9F92310D77CE}" dt="2026-10-08T08:31:11.811" v="178"/>
          <ac:spMkLst>
            <pc:docMk/>
            <pc:sldMk cId="1601503242" sldId="2147483055"/>
            <ac:spMk id="4" creationId="{C0BA39DF-1755-E6C5-86F5-CA586EB5E2C7}"/>
          </ac:spMkLst>
        </pc:spChg>
        <pc:spChg chg="del">
          <ac:chgData name="Abhishek Sharma" userId="e7d45df1-48b0-4fec-a35b-6bd23f494861" providerId="ADAL" clId="{98EF8AF6-41F6-453C-BAF3-9F92310D77CE}" dt="2026-10-08T08:31:11.232" v="177" actId="478"/>
          <ac:spMkLst>
            <pc:docMk/>
            <pc:sldMk cId="1601503242" sldId="2147483055"/>
            <ac:spMk id="5" creationId="{3CE17CE4-1FC1-79D3-485C-F406C9894ED0}"/>
          </ac:spMkLst>
        </pc:spChg>
        <pc:spChg chg="add mod">
          <ac:chgData name="Abhishek Sharma" userId="e7d45df1-48b0-4fec-a35b-6bd23f494861" providerId="ADAL" clId="{98EF8AF6-41F6-453C-BAF3-9F92310D77CE}" dt="2026-10-08T08:31:11.811" v="178"/>
          <ac:spMkLst>
            <pc:docMk/>
            <pc:sldMk cId="1601503242" sldId="2147483055"/>
            <ac:spMk id="6" creationId="{ECF94EDD-AD63-7804-7976-B3B3AD6F24D9}"/>
          </ac:spMkLst>
        </pc:spChg>
        <pc:spChg chg="del">
          <ac:chgData name="Abhishek Sharma" userId="e7d45df1-48b0-4fec-a35b-6bd23f494861" providerId="ADAL" clId="{98EF8AF6-41F6-453C-BAF3-9F92310D77CE}" dt="2026-10-08T08:31:11.232" v="177" actId="478"/>
          <ac:spMkLst>
            <pc:docMk/>
            <pc:sldMk cId="1601503242" sldId="2147483055"/>
            <ac:spMk id="45" creationId="{9AB5CCBE-4493-38BF-B705-3C72C995FEEB}"/>
          </ac:spMkLst>
        </pc:spChg>
      </pc:sldChg>
      <pc:sldChg chg="del">
        <pc:chgData name="Abhishek Sharma" userId="e7d45df1-48b0-4fec-a35b-6bd23f494861" providerId="ADAL" clId="{98EF8AF6-41F6-453C-BAF3-9F92310D77CE}" dt="2026-10-08T06:25:53.980" v="171" actId="47"/>
        <pc:sldMkLst>
          <pc:docMk/>
          <pc:sldMk cId="444373032" sldId="2147483083"/>
        </pc:sldMkLst>
      </pc:sldChg>
      <pc:sldChg chg="del">
        <pc:chgData name="Abhishek Sharma" userId="e7d45df1-48b0-4fec-a35b-6bd23f494861" providerId="ADAL" clId="{98EF8AF6-41F6-453C-BAF3-9F92310D77CE}" dt="2026-10-08T06:25:54.824" v="172" actId="47"/>
        <pc:sldMkLst>
          <pc:docMk/>
          <pc:sldMk cId="2870705265" sldId="2147483084"/>
        </pc:sldMkLst>
      </pc:sldChg>
      <pc:sldChg chg="addSp delSp modSp add mod">
        <pc:chgData name="Abhishek Sharma" userId="e7d45df1-48b0-4fec-a35b-6bd23f494861" providerId="ADAL" clId="{98EF8AF6-41F6-453C-BAF3-9F92310D77CE}" dt="2026-10-08T06:24:24.364" v="165" actId="20577"/>
        <pc:sldMkLst>
          <pc:docMk/>
          <pc:sldMk cId="4129506378" sldId="2147483085"/>
        </pc:sldMkLst>
        <pc:spChg chg="add mod">
          <ac:chgData name="Abhishek Sharma" userId="e7d45df1-48b0-4fec-a35b-6bd23f494861" providerId="ADAL" clId="{98EF8AF6-41F6-453C-BAF3-9F92310D77CE}" dt="2026-10-08T06:24:12.957" v="152" actId="20577"/>
          <ac:spMkLst>
            <pc:docMk/>
            <pc:sldMk cId="4129506378" sldId="2147483085"/>
            <ac:spMk id="8" creationId="{210953F2-55CC-53E6-8003-955D663F1606}"/>
          </ac:spMkLst>
        </pc:spChg>
        <pc:spChg chg="mod">
          <ac:chgData name="Abhishek Sharma" userId="e7d45df1-48b0-4fec-a35b-6bd23f494861" providerId="ADAL" clId="{98EF8AF6-41F6-453C-BAF3-9F92310D77CE}" dt="2026-10-08T06:24:17.530" v="159" actId="20577"/>
          <ac:spMkLst>
            <pc:docMk/>
            <pc:sldMk cId="4129506378" sldId="2147483085"/>
            <ac:spMk id="9" creationId="{FF8CAA86-6AFF-95F5-9210-D4D41025145C}"/>
          </ac:spMkLst>
        </pc:spChg>
        <pc:spChg chg="mod">
          <ac:chgData name="Abhishek Sharma" userId="e7d45df1-48b0-4fec-a35b-6bd23f494861" providerId="ADAL" clId="{98EF8AF6-41F6-453C-BAF3-9F92310D77CE}" dt="2026-10-08T06:24:24.364" v="165" actId="20577"/>
          <ac:spMkLst>
            <pc:docMk/>
            <pc:sldMk cId="4129506378" sldId="2147483085"/>
            <ac:spMk id="10" creationId="{9EE5F53B-9C65-4982-2E72-53FE40AD0BBD}"/>
          </ac:spMkLst>
        </pc:spChg>
      </pc:sldChg>
      <pc:sldChg chg="modAnim">
        <pc:chgData name="Abhishek Sharma" userId="e7d45df1-48b0-4fec-a35b-6bd23f494861" providerId="ADAL" clId="{98EF8AF6-41F6-453C-BAF3-9F92310D77CE}" dt="2026-10-09T10:16:59.308" v="180"/>
        <pc:sldMkLst>
          <pc:docMk/>
          <pc:sldMk cId="0" sldId="2147483092"/>
        </pc:sldMkLst>
      </pc:sldChg>
      <pc:sldMasterChg chg="del delSldLayout">
        <pc:chgData name="Abhishek Sharma" userId="e7d45df1-48b0-4fec-a35b-6bd23f494861" providerId="ADAL" clId="{98EF8AF6-41F6-453C-BAF3-9F92310D77CE}" dt="2026-10-08T06:25:54.824" v="172" actId="47"/>
        <pc:sldMasterMkLst>
          <pc:docMk/>
          <pc:sldMasterMk cId="3916917496" sldId="2147483806"/>
        </pc:sldMasterMkLst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3531600110" sldId="2147483807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2191725475" sldId="2147483808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1232358330" sldId="2147483809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4265335020" sldId="2147483810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3108595349" sldId="2147483811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2188659001" sldId="2147483812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3942429497" sldId="2147483813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495975078" sldId="2147483814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2848055562" sldId="2147483815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3030882386" sldId="2147483816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2213650215" sldId="2147483817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4061152758" sldId="2147483818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804173191" sldId="2147483819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1941096993" sldId="2147483820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3431248615" sldId="2147483821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1529328987" sldId="2147483822"/>
          </pc:sldLayoutMkLst>
        </pc:sldLayoutChg>
        <pc:sldLayoutChg chg="del">
          <pc:chgData name="Abhishek Sharma" userId="e7d45df1-48b0-4fec-a35b-6bd23f494861" providerId="ADAL" clId="{98EF8AF6-41F6-453C-BAF3-9F92310D77CE}" dt="2026-10-08T06:25:54.824" v="172" actId="47"/>
          <pc:sldLayoutMkLst>
            <pc:docMk/>
            <pc:sldMasterMk cId="3916917496" sldId="2147483806"/>
            <pc:sldLayoutMk cId="4272461480" sldId="2147483823"/>
          </pc:sldLayoutMkLst>
        </pc:sldLayoutChg>
      </pc:sldMasterChg>
      <pc:sldMasterChg chg="del delSldLayout">
        <pc:chgData name="Abhishek Sharma" userId="e7d45df1-48b0-4fec-a35b-6bd23f494861" providerId="ADAL" clId="{98EF8AF6-41F6-453C-BAF3-9F92310D77CE}" dt="2026-10-08T08:31:16.093" v="179" actId="47"/>
        <pc:sldMasterMkLst>
          <pc:docMk/>
          <pc:sldMasterMk cId="186040706" sldId="2147483865"/>
        </pc:sldMasterMkLst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1553786963" sldId="2147483866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3842634426" sldId="2147483867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1808528890" sldId="2147483868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3862266462" sldId="2147483869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1703074363" sldId="2147483870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990156413" sldId="2147483871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4074053974" sldId="2147483872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1150820856" sldId="2147483873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1670269110" sldId="2147483874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3186546618" sldId="2147483875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975457373" sldId="2147483876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683121584" sldId="2147483877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159223823" sldId="2147483878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2343819673" sldId="2147483879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2938942071" sldId="2147483880"/>
          </pc:sldLayoutMkLst>
        </pc:sldLayoutChg>
        <pc:sldLayoutChg chg="del">
          <pc:chgData name="Abhishek Sharma" userId="e7d45df1-48b0-4fec-a35b-6bd23f494861" providerId="ADAL" clId="{98EF8AF6-41F6-453C-BAF3-9F92310D77CE}" dt="2026-10-08T08:31:16.093" v="179" actId="47"/>
          <pc:sldLayoutMkLst>
            <pc:docMk/>
            <pc:sldMasterMk cId="186040706" sldId="2147483865"/>
            <pc:sldLayoutMk cId="3549632314" sldId="214748388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129307A-05E4-83F5-47D9-6816D5D8DAB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9AF7D6-9B3D-67CF-0F2C-DA0116DC25B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506C20-E8D4-42F6-95D3-87FC5FE1DBCC}" type="datetimeFigureOut">
              <a:rPr lang="en-US" smtClean="0">
                <a:latin typeface="Montserrat" panose="00000500000000000000" pitchFamily="2" charset="0"/>
              </a:rPr>
              <a:t>10/9/2026</a:t>
            </a:fld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44C5EF-5265-3906-F978-F0D07B0D8A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E9A024-933E-4409-E7EF-C8C32382FA3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43959-EC9C-40B0-8EEB-EC6EED09C5AE}" type="slidenum">
              <a:rPr lang="en-US" smtClean="0">
                <a:latin typeface="Montserrat" panose="00000500000000000000" pitchFamily="2" charset="0"/>
              </a:rPr>
              <a:t>‹#›</a:t>
            </a:fld>
            <a:endParaRPr lang="en-US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676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0DB03F26-C5F9-7A4F-B5DF-C6B92861F2FD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E7F5CDF3-08F2-5B4B-B5E7-3D1739CC57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963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emf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emf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Title Slide 1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65F1416-54F3-2673-60EB-49EB636508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" r="17760" b="7020"/>
          <a:stretch>
            <a:fillRect/>
          </a:stretch>
        </p:blipFill>
        <p:spPr>
          <a:xfrm>
            <a:off x="5025572" y="781342"/>
            <a:ext cx="7166428" cy="60766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56ADA57-3A56-B55F-A8DD-21AA532813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46F9164-6E0F-B0B8-105F-36ACCAA8FC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179670"/>
            <a:ext cx="6516130" cy="175403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50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AD93696-E523-01AE-2652-BE3EFB5B8B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798" y="2976178"/>
            <a:ext cx="6516129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519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Title Slide 2 - mi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508C97D9-505E-6308-D566-38719D6528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179670"/>
            <a:ext cx="6516130" cy="175403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5000" b="1" i="0">
                <a:solidFill>
                  <a:srgbClr val="ECFAE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39A49C-E771-C649-7618-BD4E7EE31A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834E3EAE-4033-BED7-15E4-77D84F6AF4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" r="17760" b="7020"/>
          <a:stretch>
            <a:fillRect/>
          </a:stretch>
        </p:blipFill>
        <p:spPr>
          <a:xfrm>
            <a:off x="5025572" y="781342"/>
            <a:ext cx="7166428" cy="6076658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BCB8684-13EB-9834-3912-E10EA155E9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798" y="2976178"/>
            <a:ext cx="6516129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4948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Title Slide 3 - 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BDE65F6-94B3-E6E9-A015-FF606E782E1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1055" b="7020"/>
          <a:stretch/>
        </p:blipFill>
        <p:spPr>
          <a:xfrm>
            <a:off x="4441372" y="781342"/>
            <a:ext cx="7750628" cy="60766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40661D-0B63-FAAA-B9C3-08479CB8B7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1B3BE6-53B4-6FA7-D37D-114A683BF4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122947"/>
            <a:ext cx="6516130" cy="1810753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5000" b="1" i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F5A519B-2B1C-CF9A-EEE3-166A80CA4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798" y="2976178"/>
            <a:ext cx="6516129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90610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ection Separator 1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A101514-41F3-E006-C2D7-E670AC82F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964892"/>
            <a:ext cx="6264049" cy="298907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5000" b="1" i="0">
                <a:solidFill>
                  <a:srgbClr val="ECFAE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4C148-0657-FDF6-F986-6A9E446403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512070"/>
            <a:ext cx="6264048" cy="45282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341BCD-E869-7BD5-3D68-E88229A707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506739E-9483-9029-33A8-F5998736BD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43" t="556" r="24491" b="-556"/>
          <a:stretch>
            <a:fillRect/>
          </a:stretch>
        </p:blipFill>
        <p:spPr>
          <a:xfrm>
            <a:off x="5487693" y="38100"/>
            <a:ext cx="67043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882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ection Separator 2 - mi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A101514-41F3-E006-C2D7-E670AC82F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964892"/>
            <a:ext cx="6264049" cy="298907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5000" b="1" i="0">
                <a:solidFill>
                  <a:srgbClr val="ECFAE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4C148-0657-FDF6-F986-6A9E446403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512070"/>
            <a:ext cx="6264048" cy="45282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A0DB50-FEDF-D4D9-B722-7DB1A2589B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DD7516B-1767-C10D-20EE-98BB781746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5246"/>
          <a:stretch>
            <a:fillRect/>
          </a:stretch>
        </p:blipFill>
        <p:spPr>
          <a:xfrm>
            <a:off x="5496655" y="0"/>
            <a:ext cx="6695345" cy="693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893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ection Separator 3 - 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8C3DE0-CAF3-215C-A90E-A571D02586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D3361AD-8D2D-EBEC-3846-0E8C56330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964892"/>
            <a:ext cx="6264049" cy="298907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5000" b="1" i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2FEAE6-ACF2-3A4E-B592-8FB92A7408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512070"/>
            <a:ext cx="6264048" cy="45282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5754539-BD2D-2828-6082-A3D0E06C9B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5246"/>
          <a:stretch>
            <a:fillRect/>
          </a:stretch>
        </p:blipFill>
        <p:spPr>
          <a:xfrm>
            <a:off x="5496655" y="0"/>
            <a:ext cx="6695345" cy="693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313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Content Slide 1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84CDD7-6D62-3143-0385-6BD7F4F9FCD5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solidFill>
                  <a:schemeClr val="accent2"/>
                </a:solidFill>
                <a:latin typeface="Mundial Light" pitchFamily="50" charset="0"/>
              </a:rPr>
              <a:t>©2026 </a:t>
            </a:r>
            <a:r>
              <a:rPr lang="en-US" sz="1100" err="1">
                <a:solidFill>
                  <a:schemeClr val="accent2"/>
                </a:solidFill>
                <a:latin typeface="Mundial Light" pitchFamily="50" charset="0"/>
              </a:rPr>
              <a:t>Myridius</a:t>
            </a:r>
            <a:r>
              <a:rPr lang="en-US" sz="1100">
                <a:solidFill>
                  <a:schemeClr val="accent2"/>
                </a:solidFill>
                <a:latin typeface="Mundial Light" pitchFamily="50" charset="0"/>
              </a:rPr>
              <a:t>. All rights reserved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2DCBB60-55AE-F48D-EB8B-A69F12ED4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85191" cy="435133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Clr>
                <a:schemeClr val="bg2"/>
              </a:buClr>
              <a:defRPr sz="24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chemeClr val="bg2"/>
              </a:buClr>
              <a:defRPr sz="20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>
                <a:schemeClr val="bg2"/>
              </a:buClr>
              <a:defRPr sz="18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>
                <a:schemeClr val="bg2"/>
              </a:buClr>
              <a:defRPr sz="16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>
                <a:schemeClr val="bg2"/>
              </a:buClr>
              <a:defRPr sz="14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21CD659-73FF-D839-A58A-9B939E699F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090" y="1"/>
            <a:ext cx="11285191" cy="812800"/>
          </a:xfrm>
        </p:spPr>
        <p:txBody>
          <a:bodyPr anchor="b">
            <a:noAutofit/>
          </a:bodyPr>
          <a:lstStyle>
            <a:lvl1pPr>
              <a:defRPr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ADF06F-5E49-8F06-2919-88C2BC15C1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A7E935D-2E5B-E3CE-7F05-0CDCE1A5EF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89" y="843982"/>
            <a:ext cx="11285191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7CEF36DE-42C6-88F9-1563-64E4023D1E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411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Content Slide 2 - mi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BE395D3-B8E0-5411-368B-9199FCEFF8EF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solidFill>
                  <a:schemeClr val="accent2"/>
                </a:solidFill>
                <a:latin typeface="Mundial Light" pitchFamily="50" charset="0"/>
              </a:rPr>
              <a:t>©2026 </a:t>
            </a:r>
            <a:r>
              <a:rPr lang="en-US" sz="1100" err="1">
                <a:solidFill>
                  <a:schemeClr val="accent2"/>
                </a:solidFill>
                <a:latin typeface="Mundial Light" pitchFamily="50" charset="0"/>
              </a:rPr>
              <a:t>Myridius</a:t>
            </a:r>
            <a:r>
              <a:rPr lang="en-US" sz="1100">
                <a:solidFill>
                  <a:schemeClr val="accent2"/>
                </a:solidFill>
                <a:latin typeface="Mundial Light" pitchFamily="50" charset="0"/>
              </a:rPr>
              <a:t>. All rights reserved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0181C-7620-6920-EA88-0F6BE6AB44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5E163A-C556-EC13-E4D6-A1B3B4C22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85191" cy="435133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Clr>
                <a:schemeClr val="bg2"/>
              </a:buClr>
              <a:defRPr sz="24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chemeClr val="bg2"/>
              </a:buClr>
              <a:defRPr sz="20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>
                <a:schemeClr val="bg2"/>
              </a:buClr>
              <a:defRPr sz="18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>
                <a:schemeClr val="bg2"/>
              </a:buClr>
              <a:defRPr sz="16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>
                <a:schemeClr val="bg2"/>
              </a:buClr>
              <a:defRPr sz="14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B8B7F64-B870-44BE-E77F-D87BB6310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090" y="1"/>
            <a:ext cx="11285191" cy="812800"/>
          </a:xfrm>
        </p:spPr>
        <p:txBody>
          <a:bodyPr anchor="b">
            <a:noAutofit/>
          </a:bodyPr>
          <a:lstStyle>
            <a:lvl1pPr>
              <a:defRPr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6105DD0-2CAC-3318-C5B5-C6D230E16E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89" y="843982"/>
            <a:ext cx="11285191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DB7344A5-5678-D440-50A4-E9C9010DF2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460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Content Slide 3 - 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C01FFE-57FF-2A9D-88A8-8F890D36D6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184F84-A5C6-1B20-47A9-092B65B90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85191" cy="43513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6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7608650-1617-2DDA-0AE0-9138B1AD73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090" y="1"/>
            <a:ext cx="11285191" cy="812800"/>
          </a:xfrm>
        </p:spPr>
        <p:txBody>
          <a:bodyPr anchor="b">
            <a:noAutofit/>
          </a:bodyPr>
          <a:lstStyle>
            <a:lvl1pPr>
              <a:defRPr b="1" i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3E57F12-E40B-7D2D-9196-5A82B1EACB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89" y="843982"/>
            <a:ext cx="11285191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B8B37C6C-44D1-387B-FA83-522DF32CD5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735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1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EC6DEB0D-ECB6-4EEA-BE23-5C68C5292D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C606F1C-6459-C014-EA1F-7F2FB8BB24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671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2 - mi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EC6DEB0D-ECB6-4EEA-BE23-5C68C5292D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FC3637-5DD6-1118-150B-0684A844A9ED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solidFill>
                  <a:schemeClr val="bg2"/>
                </a:solidFill>
                <a:latin typeface="Mundial Light" pitchFamily="50" charset="0"/>
              </a:rPr>
              <a:t>©2026 </a:t>
            </a:r>
            <a:r>
              <a:rPr lang="en-US" sz="1100" err="1">
                <a:solidFill>
                  <a:schemeClr val="bg2"/>
                </a:solidFill>
                <a:latin typeface="Mundial Light" pitchFamily="50" charset="0"/>
              </a:rPr>
              <a:t>Myridius</a:t>
            </a:r>
            <a:r>
              <a:rPr lang="en-US" sz="1100">
                <a:solidFill>
                  <a:schemeClr val="bg2"/>
                </a:solidFill>
                <a:latin typeface="Mundial Light" pitchFamily="50" charset="0"/>
              </a:rPr>
              <a:t>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2260573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3 - 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0E6B19B-2A2D-D6D4-687F-A22A6E42B8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1222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4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A630A1-77B5-18CB-B98F-3F2FEAB91080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solidFill>
                  <a:schemeClr val="accent2"/>
                </a:solidFill>
                <a:latin typeface="Mundial Light" pitchFamily="50" charset="0"/>
              </a:rPr>
              <a:t>©2026 </a:t>
            </a:r>
            <a:r>
              <a:rPr lang="en-US" sz="1100" err="1">
                <a:solidFill>
                  <a:schemeClr val="accent2"/>
                </a:solidFill>
                <a:latin typeface="Mundial Light" pitchFamily="50" charset="0"/>
              </a:rPr>
              <a:t>Myridius</a:t>
            </a:r>
            <a:r>
              <a:rPr lang="en-US" sz="1100">
                <a:solidFill>
                  <a:schemeClr val="accent2"/>
                </a:solidFill>
                <a:latin typeface="Mundial Light" pitchFamily="50" charset="0"/>
              </a:rPr>
              <a:t>. All rights reserved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90E769-54AA-3A88-AB86-0C255A5059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43790E73-1096-F93C-05DF-425E167575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522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5 - mi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A630A1-77B5-18CB-B98F-3F2FEAB91080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solidFill>
                  <a:schemeClr val="bg2"/>
                </a:solidFill>
                <a:latin typeface="Mundial Light" pitchFamily="50" charset="0"/>
              </a:rPr>
              <a:t>©2026 </a:t>
            </a:r>
            <a:r>
              <a:rPr lang="en-US" sz="1100" err="1">
                <a:solidFill>
                  <a:schemeClr val="bg2"/>
                </a:solidFill>
                <a:latin typeface="Mundial Light" pitchFamily="50" charset="0"/>
              </a:rPr>
              <a:t>Myridius</a:t>
            </a:r>
            <a:r>
              <a:rPr lang="en-US" sz="1100">
                <a:solidFill>
                  <a:schemeClr val="bg2"/>
                </a:solidFill>
                <a:latin typeface="Mundial Light" pitchFamily="50" charset="0"/>
              </a:rPr>
              <a:t>. All rights reserved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8454EF-F5C1-00D1-76F4-157F9F7203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92F75514-DB9F-9BC2-BA08-0EECBED8A2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0713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6 - 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497587-6F71-51D7-B8CC-8247A02DD6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9C14C4DA-765D-8E14-D826-A01C889448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905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tatement Slide 1 - d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79B8235-A96B-ACA6-A3AE-638059BF8F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00397D-955B-1A98-A6E0-429EBB8A4F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B92BFCF-1603-E78A-889E-35EFBD0BC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980" y="2329841"/>
            <a:ext cx="8289078" cy="1099159"/>
          </a:xfrm>
        </p:spPr>
        <p:txBody>
          <a:bodyPr anchor="b">
            <a:noAutofit/>
          </a:bodyPr>
          <a:lstStyle>
            <a:lvl1pPr algn="ctr">
              <a:defRPr sz="6600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90768F3-EB07-9CB4-B2DA-0D3922403A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979" y="3468000"/>
            <a:ext cx="8289078" cy="45282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354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tatement Slide 2 - mi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79B8235-A96B-ACA6-A3AE-638059BF8F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69A211-634F-179E-A7F6-318D116606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4F8E253-C13D-9648-60C6-1FB820057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980" y="2329841"/>
            <a:ext cx="8289078" cy="1099159"/>
          </a:xfrm>
        </p:spPr>
        <p:txBody>
          <a:bodyPr anchor="b">
            <a:noAutofit/>
          </a:bodyPr>
          <a:lstStyle>
            <a:lvl1pPr algn="ctr">
              <a:defRPr sz="6600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AB673F-B790-C10A-339F-1DF62CFFCF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979" y="3468000"/>
            <a:ext cx="8289078" cy="45282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1306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tatement Slide 3 - 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034618-F2F3-5BCC-6770-A0D96EC3F7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8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3000"/>
                    </a14:imgEffect>
                    <a14:imgEffect>
                      <a14:colorTemperature colorTemp="7078"/>
                    </a14:imgEffect>
                    <a14:imgEffect>
                      <a14:saturation sat="0"/>
                    </a14:imgEffect>
                    <a14:imgEffect>
                      <a14:brightnessContrast bright="-40000" contrast="21000"/>
                    </a14:imgEffect>
                  </a14:imgLayer>
                </a14:imgProps>
              </a:ext>
            </a:extLst>
          </a:blip>
          <a:srcRect l="11299" r="1129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018760-6569-5B38-8370-C5037EF8CF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90AEDF8-FCFC-A8CD-DFCA-751BA4D27A8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D23FCD3F-C641-F6DF-E09C-3EB4694EB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61" y="2307224"/>
            <a:ext cx="10919543" cy="1099159"/>
          </a:xfrm>
        </p:spPr>
        <p:txBody>
          <a:bodyPr anchor="b">
            <a:noAutofit/>
          </a:bodyPr>
          <a:lstStyle>
            <a:lvl1pPr algn="ctr">
              <a:defRPr sz="8000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0550F4C-593D-B036-0B5F-8BA7DDE1A2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9660" y="3445383"/>
            <a:ext cx="10919543" cy="45282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8576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Title Slide 1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65F1416-54F3-2673-60EB-49EB636508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" r="17760" b="7020"/>
          <a:stretch>
            <a:fillRect/>
          </a:stretch>
        </p:blipFill>
        <p:spPr>
          <a:xfrm>
            <a:off x="5025572" y="781342"/>
            <a:ext cx="7166428" cy="60766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56ADA57-3A56-B55F-A8DD-21AA532813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46F9164-6E0F-B0B8-105F-36ACCAA8FC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179670"/>
            <a:ext cx="6516130" cy="175403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50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AD93696-E523-01AE-2652-BE3EFB5B8B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798" y="2976178"/>
            <a:ext cx="6516129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16056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Title Slide 2 - mi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508C97D9-505E-6308-D566-38719D6528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179670"/>
            <a:ext cx="6516130" cy="175403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5000" b="1" i="0">
                <a:solidFill>
                  <a:srgbClr val="ECFAE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39A49C-E771-C649-7618-BD4E7EE31A8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834E3EAE-4033-BED7-15E4-77D84F6AF4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" r="17760" b="7020"/>
          <a:stretch>
            <a:fillRect/>
          </a:stretch>
        </p:blipFill>
        <p:spPr>
          <a:xfrm>
            <a:off x="5025572" y="781342"/>
            <a:ext cx="7166428" cy="6076658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BCB8684-13EB-9834-3912-E10EA155E9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798" y="2976178"/>
            <a:ext cx="6516129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53389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Title Slide 3 - 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BDE65F6-94B3-E6E9-A015-FF606E782E1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1055" b="7020"/>
          <a:stretch/>
        </p:blipFill>
        <p:spPr>
          <a:xfrm>
            <a:off x="4441372" y="781342"/>
            <a:ext cx="7750628" cy="60766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40661D-0B63-FAAA-B9C3-08479CB8B7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1B3BE6-53B4-6FA7-D37D-114A683BF4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1122947"/>
            <a:ext cx="6516130" cy="1810753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5000" b="1" i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F5A519B-2B1C-CF9A-EEE3-166A80CA4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798" y="2976178"/>
            <a:ext cx="6516129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31579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ection Separator 1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A101514-41F3-E006-C2D7-E670AC82F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964892"/>
            <a:ext cx="6264049" cy="298907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5000" b="1" i="0">
                <a:solidFill>
                  <a:srgbClr val="ECFAE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4C148-0657-FDF6-F986-6A9E446403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512070"/>
            <a:ext cx="6264048" cy="45282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341BCD-E869-7BD5-3D68-E88229A707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506739E-9483-9029-33A8-F5998736BD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43" t="556" r="24491" b="-556"/>
          <a:stretch>
            <a:fillRect/>
          </a:stretch>
        </p:blipFill>
        <p:spPr>
          <a:xfrm>
            <a:off x="5487693" y="38100"/>
            <a:ext cx="67043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2882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ection Separator 2 - mi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A101514-41F3-E006-C2D7-E670AC82F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964892"/>
            <a:ext cx="6264049" cy="298907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5000" b="1" i="0">
                <a:solidFill>
                  <a:srgbClr val="ECFAE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4C148-0657-FDF6-F986-6A9E446403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512070"/>
            <a:ext cx="6264048" cy="45282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CA0DB50-FEDF-D4D9-B722-7DB1A2589B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DD7516B-1767-C10D-20EE-98BB781746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5246"/>
          <a:stretch>
            <a:fillRect/>
          </a:stretch>
        </p:blipFill>
        <p:spPr>
          <a:xfrm>
            <a:off x="5496655" y="0"/>
            <a:ext cx="6695345" cy="693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4169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ection Separator 3 - 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8C3DE0-CAF3-215C-A90E-A571D02586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D3361AD-8D2D-EBEC-3846-0E8C56330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964892"/>
            <a:ext cx="6264049" cy="298907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5000" b="1" i="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2FEAE6-ACF2-3A4E-B592-8FB92A7408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512070"/>
            <a:ext cx="6264048" cy="45282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5754539-BD2D-2828-6082-A3D0E06C9B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5246"/>
          <a:stretch>
            <a:fillRect/>
          </a:stretch>
        </p:blipFill>
        <p:spPr>
          <a:xfrm>
            <a:off x="5496655" y="0"/>
            <a:ext cx="6695345" cy="693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5449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Content Slide 1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84CDD7-6D62-3143-0385-6BD7F4F9FCD5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©2026 </a:t>
            </a:r>
            <a:r>
              <a:rPr lang="en-US" sz="1100" dirty="0" err="1">
                <a:solidFill>
                  <a:schemeClr val="accent2"/>
                </a:solidFill>
                <a:latin typeface="Mundial Light" pitchFamily="50" charset="0"/>
              </a:rPr>
              <a:t>Myridius</a:t>
            </a:r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. All rights reserved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2DCBB60-55AE-F48D-EB8B-A69F12ED4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85191" cy="435133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Clr>
                <a:schemeClr val="bg2"/>
              </a:buClr>
              <a:defRPr sz="24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chemeClr val="bg2"/>
              </a:buClr>
              <a:defRPr sz="20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>
                <a:schemeClr val="bg2"/>
              </a:buClr>
              <a:defRPr sz="18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>
                <a:schemeClr val="bg2"/>
              </a:buClr>
              <a:defRPr sz="16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>
                <a:schemeClr val="bg2"/>
              </a:buClr>
              <a:defRPr sz="14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21CD659-73FF-D839-A58A-9B939E699F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090" y="1"/>
            <a:ext cx="11285191" cy="812800"/>
          </a:xfrm>
        </p:spPr>
        <p:txBody>
          <a:bodyPr anchor="b">
            <a:noAutofit/>
          </a:bodyPr>
          <a:lstStyle>
            <a:lvl1pPr>
              <a:defRPr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ADF06F-5E49-8F06-2919-88C2BC15C1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A7E935D-2E5B-E3CE-7F05-0CDCE1A5EF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89" y="843982"/>
            <a:ext cx="11285191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7CEF36DE-42C6-88F9-1563-64E4023D1E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1755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Content Slide 2 - mi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BE395D3-B8E0-5411-368B-9199FCEFF8EF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©2026 </a:t>
            </a:r>
            <a:r>
              <a:rPr lang="en-US" sz="1100" dirty="0" err="1">
                <a:solidFill>
                  <a:schemeClr val="accent2"/>
                </a:solidFill>
                <a:latin typeface="Mundial Light" pitchFamily="50" charset="0"/>
              </a:rPr>
              <a:t>Myridius</a:t>
            </a:r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. All rights reserved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0181C-7620-6920-EA88-0F6BE6AB44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5E163A-C556-EC13-E4D6-A1B3B4C22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85191" cy="4351338"/>
          </a:xfrm>
          <a:prstGeom prst="rect">
            <a:avLst/>
          </a:prstGeom>
        </p:spPr>
        <p:txBody>
          <a:bodyPr>
            <a:noAutofit/>
          </a:bodyPr>
          <a:lstStyle>
            <a:lvl1pPr>
              <a:buClr>
                <a:schemeClr val="bg2"/>
              </a:buClr>
              <a:defRPr sz="24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chemeClr val="bg2"/>
              </a:buClr>
              <a:defRPr sz="20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>
                <a:schemeClr val="bg2"/>
              </a:buClr>
              <a:defRPr sz="18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>
                <a:schemeClr val="bg2"/>
              </a:buClr>
              <a:defRPr sz="16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>
                <a:schemeClr val="bg2"/>
              </a:buClr>
              <a:defRPr sz="14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B8B7F64-B870-44BE-E77F-D87BB63105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090" y="1"/>
            <a:ext cx="11285191" cy="812800"/>
          </a:xfrm>
        </p:spPr>
        <p:txBody>
          <a:bodyPr anchor="b">
            <a:noAutofit/>
          </a:bodyPr>
          <a:lstStyle>
            <a:lvl1pPr>
              <a:defRPr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6105DD0-2CAC-3318-C5B5-C6D230E16E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89" y="843982"/>
            <a:ext cx="11285191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DB7344A5-5678-D440-50A4-E9C9010DF2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6234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Content Slide 3 - 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9CA98B1-DAAC-284D-8381-8147FB60E39F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©2026 </a:t>
            </a:r>
            <a:r>
              <a:rPr lang="en-US" sz="1100" dirty="0" err="1">
                <a:solidFill>
                  <a:schemeClr val="accent2"/>
                </a:solidFill>
                <a:latin typeface="Mundial Light" pitchFamily="50" charset="0"/>
              </a:rPr>
              <a:t>Myridius</a:t>
            </a:r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. All rights reserved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C01FFE-57FF-2A9D-88A8-8F890D36D6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E184F84-A5C6-1B20-47A9-092B65B90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85191" cy="43513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6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4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7608650-1617-2DDA-0AE0-9138B1AD73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090" y="1"/>
            <a:ext cx="11285191" cy="812800"/>
          </a:xfrm>
        </p:spPr>
        <p:txBody>
          <a:bodyPr anchor="b">
            <a:noAutofit/>
          </a:bodyPr>
          <a:lstStyle>
            <a:lvl1pPr>
              <a:defRPr b="1" i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3E57F12-E40B-7D2D-9196-5A82B1EACB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89" y="843982"/>
            <a:ext cx="11285191" cy="45282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B8B37C6C-44D1-387B-FA83-522DF32CD5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8334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1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EC6DEB0D-ECB6-4EEA-BE23-5C68C5292D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FC3637-5DD6-1118-150B-0684A844A9ED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©2026 </a:t>
            </a:r>
            <a:r>
              <a:rPr lang="en-US" sz="1100" dirty="0" err="1">
                <a:solidFill>
                  <a:schemeClr val="accent2"/>
                </a:solidFill>
                <a:latin typeface="Mundial Light" pitchFamily="50" charset="0"/>
              </a:rPr>
              <a:t>Myridius</a:t>
            </a:r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7306370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2 - mi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EC6DEB0D-ECB6-4EEA-BE23-5C68C5292D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FC3637-5DD6-1118-150B-0684A844A9ED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2"/>
                </a:solidFill>
                <a:latin typeface="Mundial Light" pitchFamily="50" charset="0"/>
              </a:rPr>
              <a:t>©2026 </a:t>
            </a:r>
            <a:r>
              <a:rPr lang="en-US" sz="1100" dirty="0" err="1">
                <a:solidFill>
                  <a:schemeClr val="bg2"/>
                </a:solidFill>
                <a:latin typeface="Mundial Light" pitchFamily="50" charset="0"/>
              </a:rPr>
              <a:t>Myridius</a:t>
            </a:r>
            <a:r>
              <a:rPr lang="en-US" sz="1100" dirty="0">
                <a:solidFill>
                  <a:schemeClr val="bg2"/>
                </a:solidFill>
                <a:latin typeface="Mundial Light" pitchFamily="50" charset="0"/>
              </a:rPr>
              <a:t>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4330447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3 - 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0E6B19B-2A2D-D6D4-687F-A22A6E42B8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00245C-994F-14A0-CD26-53A2178F1818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©2026 </a:t>
            </a:r>
            <a:r>
              <a:rPr lang="en-US" sz="1100" dirty="0" err="1">
                <a:solidFill>
                  <a:schemeClr val="accent2"/>
                </a:solidFill>
                <a:latin typeface="Mundial Light" pitchFamily="50" charset="0"/>
              </a:rPr>
              <a:t>Myridius</a:t>
            </a:r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9629464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4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A630A1-77B5-18CB-B98F-3F2FEAB91080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©2026 </a:t>
            </a:r>
            <a:r>
              <a:rPr lang="en-US" sz="1100" dirty="0" err="1">
                <a:solidFill>
                  <a:schemeClr val="accent2"/>
                </a:solidFill>
                <a:latin typeface="Mundial Light" pitchFamily="50" charset="0"/>
              </a:rPr>
              <a:t>Myridius</a:t>
            </a:r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. All rights reserved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90E769-54AA-3A88-AB86-0C255A5059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43790E73-1096-F93C-05DF-425E167575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1051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5 - mi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A630A1-77B5-18CB-B98F-3F2FEAB91080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bg2"/>
                </a:solidFill>
                <a:latin typeface="Mundial Light" pitchFamily="50" charset="0"/>
              </a:rPr>
              <a:t>©2026 </a:t>
            </a:r>
            <a:r>
              <a:rPr lang="en-US" sz="1100" dirty="0" err="1">
                <a:solidFill>
                  <a:schemeClr val="bg2"/>
                </a:solidFill>
                <a:latin typeface="Mundial Light" pitchFamily="50" charset="0"/>
              </a:rPr>
              <a:t>Myridius</a:t>
            </a:r>
            <a:r>
              <a:rPr lang="en-US" sz="1100" dirty="0">
                <a:solidFill>
                  <a:schemeClr val="bg2"/>
                </a:solidFill>
                <a:latin typeface="Mundial Light" pitchFamily="50" charset="0"/>
              </a:rPr>
              <a:t>. All rights reserved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8454EF-F5C1-00D1-76F4-157F9F7203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92F75514-DB9F-9BC2-BA08-0EECBED8A2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8766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Impact Slide 6 - 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497587-6F71-51D7-B8CC-8247A02DD6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0C6134-5305-F00C-7261-F9D7C9102BCC}"/>
              </a:ext>
            </a:extLst>
          </p:cNvPr>
          <p:cNvSpPr txBox="1"/>
          <p:nvPr userDrawn="1"/>
        </p:nvSpPr>
        <p:spPr>
          <a:xfrm>
            <a:off x="4880763" y="6408107"/>
            <a:ext cx="22252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©2026 </a:t>
            </a:r>
            <a:r>
              <a:rPr lang="en-US" sz="1100" dirty="0" err="1">
                <a:solidFill>
                  <a:schemeClr val="accent2"/>
                </a:solidFill>
                <a:latin typeface="Mundial Light" pitchFamily="50" charset="0"/>
              </a:rPr>
              <a:t>Myridius</a:t>
            </a:r>
            <a:r>
              <a:rPr lang="en-US" sz="1100" dirty="0">
                <a:solidFill>
                  <a:schemeClr val="accent2"/>
                </a:solidFill>
                <a:latin typeface="Mundial Light" pitchFamily="50" charset="0"/>
              </a:rPr>
              <a:t>. All rights reserved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9C14C4DA-765D-8E14-D826-A01C889448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01958" y="6311900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7231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tatement Slide 1 - d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79B8235-A96B-ACA6-A3AE-638059BF8F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00397D-955B-1A98-A6E0-429EBB8A4F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B92BFCF-1603-E78A-889E-35EFBD0BC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980" y="2329841"/>
            <a:ext cx="8289078" cy="1099159"/>
          </a:xfrm>
        </p:spPr>
        <p:txBody>
          <a:bodyPr anchor="b">
            <a:noAutofit/>
          </a:bodyPr>
          <a:lstStyle>
            <a:lvl1pPr algn="ctr">
              <a:defRPr sz="6600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90768F3-EB07-9CB4-B2DA-0D3922403A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979" y="3468000"/>
            <a:ext cx="8289078" cy="45282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2348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tatement Slide 2 - mi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79B8235-A96B-ACA6-A3AE-638059BF8F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69A211-634F-179E-A7F6-318D116606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4799" y="6226309"/>
            <a:ext cx="1966914" cy="4434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4F8E253-C13D-9648-60C6-1FB820057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980" y="2329841"/>
            <a:ext cx="8289078" cy="1099159"/>
          </a:xfrm>
        </p:spPr>
        <p:txBody>
          <a:bodyPr anchor="b">
            <a:noAutofit/>
          </a:bodyPr>
          <a:lstStyle>
            <a:lvl1pPr algn="ctr">
              <a:defRPr sz="6600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AB673F-B790-C10A-339F-1DF62CFFCF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979" y="3468000"/>
            <a:ext cx="8289078" cy="45282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24124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6 Statement Slide 3 - 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034618-F2F3-5BCC-6770-A0D96EC3F7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alphaModFix amt="8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3000"/>
                    </a14:imgEffect>
                    <a14:imgEffect>
                      <a14:colorTemperature colorTemp="7078"/>
                    </a14:imgEffect>
                    <a14:imgEffect>
                      <a14:saturation sat="0"/>
                    </a14:imgEffect>
                    <a14:imgEffect>
                      <a14:brightnessContrast bright="-40000" contrast="21000"/>
                    </a14:imgEffect>
                  </a14:imgLayer>
                </a14:imgProps>
              </a:ext>
            </a:extLst>
          </a:blip>
          <a:srcRect l="11299" r="1129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018760-6569-5B38-8370-C5037EF8CF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90AEDF8-FCFC-A8CD-DFCA-751BA4D27A8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D23FCD3F-C641-F6DF-E09C-3EB4694EB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661" y="2307224"/>
            <a:ext cx="10919543" cy="1099159"/>
          </a:xfrm>
        </p:spPr>
        <p:txBody>
          <a:bodyPr anchor="b">
            <a:noAutofit/>
          </a:bodyPr>
          <a:lstStyle>
            <a:lvl1pPr algn="ctr">
              <a:defRPr sz="8000" b="1" i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C0550F4C-593D-B036-0B5F-8BA7DDE1A2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9660" y="3445383"/>
            <a:ext cx="10919543" cy="452822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800" b="0" i="0" spc="30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0355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7B34EE5-0EFB-C3A2-518B-DB78FEA18C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" y="6112387"/>
            <a:ext cx="2336800" cy="5461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65F1416-54F3-2673-60EB-49EB636508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307" b="7020"/>
          <a:stretch/>
        </p:blipFill>
        <p:spPr>
          <a:xfrm>
            <a:off x="4441372" y="781342"/>
            <a:ext cx="8077200" cy="607665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508C97D9-505E-6308-D566-38719D652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179670"/>
            <a:ext cx="6516130" cy="36260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000" b="0" i="0">
                <a:solidFill>
                  <a:srgbClr val="ECFAE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75962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dk">
    <p:bg>
      <p:bgPr>
        <a:solidFill>
          <a:srgbClr val="0C2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A101514-41F3-E006-C2D7-E670AC82F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964892"/>
            <a:ext cx="6264049" cy="298907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5000" b="0" i="0">
                <a:solidFill>
                  <a:srgbClr val="ECFAE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8BCB67-C00F-53F1-00BB-35C06E1EB2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" y="6112387"/>
            <a:ext cx="2336800" cy="5461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03F8531F-B7AC-A648-58EE-4392AB3A6BEF}"/>
              </a:ext>
            </a:extLst>
          </p:cNvPr>
          <p:cNvSpPr/>
          <p:nvPr userDrawn="1"/>
        </p:nvSpPr>
        <p:spPr>
          <a:xfrm rot="14481942">
            <a:off x="7717968" y="528160"/>
            <a:ext cx="4547253" cy="7005785"/>
          </a:xfrm>
          <a:prstGeom prst="ellipse">
            <a:avLst/>
          </a:prstGeom>
          <a:noFill/>
          <a:ln w="19050">
            <a:solidFill>
              <a:srgbClr val="1942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6FA5556-250D-1991-5ECC-485E10046AB9}"/>
              </a:ext>
            </a:extLst>
          </p:cNvPr>
          <p:cNvSpPr/>
          <p:nvPr userDrawn="1"/>
        </p:nvSpPr>
        <p:spPr>
          <a:xfrm rot="1449865">
            <a:off x="8359156" y="420453"/>
            <a:ext cx="4661642" cy="7403248"/>
          </a:xfrm>
          <a:prstGeom prst="ellipse">
            <a:avLst/>
          </a:prstGeom>
          <a:noFill/>
          <a:ln w="19050">
            <a:solidFill>
              <a:srgbClr val="52E0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4C148-0657-FDF6-F986-6A9E4464038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512070"/>
            <a:ext cx="6264048" cy="45282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8782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2 - dk">
    <p:bg>
      <p:bgPr>
        <a:solidFill>
          <a:srgbClr val="0C2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88BCB67-C00F-53F1-00BB-35C06E1EB2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" y="6112387"/>
            <a:ext cx="2336800" cy="5461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A79B8235-A96B-ACA6-A3AE-638059BF8F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3A95EA1-D7F7-5E31-10E8-1BB826284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964892"/>
            <a:ext cx="6264049" cy="298907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5000" b="0" i="0">
                <a:solidFill>
                  <a:srgbClr val="ECFAE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8AFEBC-5D68-C858-A4E3-D72B585EBC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512070"/>
            <a:ext cx="6264048" cy="45282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3150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1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FE5B50C-DB7D-A811-FCD5-BF1D8A65E1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6" y="781342"/>
            <a:ext cx="3860464" cy="607665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D33B2-60D8-0CCE-5CCF-632B679F0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85191" cy="43513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EBD959-1A4E-1736-53B4-8A6E24381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90" y="221587"/>
            <a:ext cx="11285191" cy="1325563"/>
          </a:xfr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07679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5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2DCBB60-55AE-F48D-EB8B-A69F12ED4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85191" cy="43513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21CD659-73FF-D839-A58A-9B939E699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90" y="221587"/>
            <a:ext cx="11285191" cy="1325563"/>
          </a:xfr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DB16F0-E172-B12E-97D3-43A04EAA92FE}"/>
              </a:ext>
            </a:extLst>
          </p:cNvPr>
          <p:cNvSpPr txBox="1"/>
          <p:nvPr userDrawn="1"/>
        </p:nvSpPr>
        <p:spPr>
          <a:xfrm>
            <a:off x="11714544" y="6408107"/>
            <a:ext cx="365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01DF1E64-A64C-4109-ACE3-59E3E3B9F020}" type="slidenum">
              <a:rPr lang="en-US" sz="1100" smtClean="0">
                <a:solidFill>
                  <a:schemeClr val="bg1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11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720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ntumLeaf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3440B02-1005-D095-FDC3-5477E84E2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85191" cy="43513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2"/>
                </a:solidFill>
              </a:defRPr>
            </a:lvl1pPr>
            <a:lvl2pPr>
              <a:defRPr sz="2000">
                <a:solidFill>
                  <a:schemeClr val="bg2"/>
                </a:solidFill>
              </a:defRPr>
            </a:lvl2pPr>
            <a:lvl3pPr>
              <a:defRPr sz="1800">
                <a:solidFill>
                  <a:schemeClr val="bg2"/>
                </a:solidFill>
              </a:defRPr>
            </a:lvl3pPr>
            <a:lvl4pPr>
              <a:defRPr sz="1600">
                <a:solidFill>
                  <a:schemeClr val="bg2"/>
                </a:solidFill>
              </a:defRPr>
            </a:lvl4pPr>
            <a:lvl5pPr>
              <a:defRPr sz="1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442965D-1C98-510B-BC3B-DCC1F7112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90" y="221587"/>
            <a:ext cx="11285191" cy="1325563"/>
          </a:xfr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CB9917A6-04AC-1C12-7ED3-59CF191E86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97264" y="6347220"/>
            <a:ext cx="322132" cy="244728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5D049A-38AE-3DA8-FA50-C121D89F98B7}"/>
              </a:ext>
            </a:extLst>
          </p:cNvPr>
          <p:cNvSpPr txBox="1"/>
          <p:nvPr userDrawn="1"/>
        </p:nvSpPr>
        <p:spPr>
          <a:xfrm>
            <a:off x="346371" y="6408107"/>
            <a:ext cx="365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01DF1E64-A64C-4109-ACE3-59E3E3B9F020}" type="slidenum">
              <a:rPr lang="en-US" sz="1100" smtClean="0">
                <a:solidFill>
                  <a:schemeClr val="accent1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1100"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98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3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EC6DEB0D-ECB6-4EEA-BE23-5C68C5292D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FC97D75-8BD0-2F3B-A1C8-6A71FB9F3940}"/>
              </a:ext>
            </a:extLst>
          </p:cNvPr>
          <p:cNvSpPr txBox="1"/>
          <p:nvPr userDrawn="1"/>
        </p:nvSpPr>
        <p:spPr>
          <a:xfrm>
            <a:off x="346371" y="6408107"/>
            <a:ext cx="365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01DF1E64-A64C-4109-ACE3-59E3E3B9F020}" type="slidenum">
              <a:rPr lang="en-US" sz="1100" smtClean="0">
                <a:solidFill>
                  <a:schemeClr val="accent1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1100"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981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3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EC6DEB0D-ECB6-4EEA-BE23-5C68C5292D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sp>
        <p:nvSpPr>
          <p:cNvPr id="3" name="Freeform 10">
            <a:extLst>
              <a:ext uri="{FF2B5EF4-FFF2-40B4-BE49-F238E27FC236}">
                <a16:creationId xmlns:a16="http://schemas.microsoft.com/office/drawing/2014/main" id="{B9041244-12FD-AB38-FCE7-51C3BD1DD8CC}"/>
              </a:ext>
            </a:extLst>
          </p:cNvPr>
          <p:cNvSpPr>
            <a:spLocks noChangeAspect="1"/>
          </p:cNvSpPr>
          <p:nvPr userDrawn="1"/>
        </p:nvSpPr>
        <p:spPr>
          <a:xfrm>
            <a:off x="2105479" y="2314298"/>
            <a:ext cx="6400800" cy="1505373"/>
          </a:xfrm>
          <a:custGeom>
            <a:avLst/>
            <a:gdLst/>
            <a:ahLst/>
            <a:cxnLst/>
            <a:rect l="l" t="t" r="r" b="b"/>
            <a:pathLst>
              <a:path w="7560341" h="1778080">
                <a:moveTo>
                  <a:pt x="0" y="0"/>
                </a:moveTo>
                <a:lnTo>
                  <a:pt x="7560341" y="0"/>
                </a:lnTo>
                <a:lnTo>
                  <a:pt x="7560341" y="1778080"/>
                </a:lnTo>
                <a:lnTo>
                  <a:pt x="0" y="17780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9FFD90-F441-7092-17EB-7810C1AC1902}"/>
              </a:ext>
            </a:extLst>
          </p:cNvPr>
          <p:cNvSpPr txBox="1"/>
          <p:nvPr userDrawn="1"/>
        </p:nvSpPr>
        <p:spPr>
          <a:xfrm>
            <a:off x="4619765" y="6449297"/>
            <a:ext cx="26212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accent1"/>
                </a:solidFill>
                <a:latin typeface="Montserrat" panose="00000500000000000000" pitchFamily="2" charset="0"/>
              </a:rPr>
              <a:t>©2026 Myridius.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141727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4 - d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A29545-7C3F-AB0F-B427-608EDA4933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" y="6196063"/>
            <a:ext cx="2336800" cy="5461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31A2536-C26D-DEA7-437E-DC7661CA85F3}"/>
              </a:ext>
            </a:extLst>
          </p:cNvPr>
          <p:cNvSpPr txBox="1"/>
          <p:nvPr userDrawn="1"/>
        </p:nvSpPr>
        <p:spPr>
          <a:xfrm>
            <a:off x="11586864" y="6373919"/>
            <a:ext cx="351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01DF1E64-A64C-4109-ACE3-59E3E3B9F020}" type="slidenum">
              <a:rPr lang="en-US" sz="1000" smtClean="0">
                <a:solidFill>
                  <a:schemeClr val="bg1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11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2767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24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 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813027-C7DA-CDA5-5C31-012128498B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" y="6112387"/>
            <a:ext cx="2336800" cy="5461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65F1416-54F3-2673-60EB-49EB636508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307" b="7020"/>
          <a:stretch/>
        </p:blipFill>
        <p:spPr>
          <a:xfrm>
            <a:off x="4114801" y="781342"/>
            <a:ext cx="8077200" cy="607665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A5F7B81-9134-C717-8095-A34939EC6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179670"/>
            <a:ext cx="6219568" cy="362601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5000" b="0" i="0">
                <a:solidFill>
                  <a:srgbClr val="194247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5928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-  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232AD2-2DA6-2394-BAE9-3E65EB913E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" y="6112387"/>
            <a:ext cx="2336800" cy="5461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4B604EA-C568-A013-20EB-E3B7A45E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964892"/>
            <a:ext cx="6264049" cy="298907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5000" b="0" i="0">
                <a:solidFill>
                  <a:srgbClr val="194247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A225AE1-0682-BC1B-C338-40376481B3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512070"/>
            <a:ext cx="6264048" cy="45282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rgbClr val="0C2226"/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26BB95F-336F-2E8C-A798-39387BEB3476}"/>
              </a:ext>
            </a:extLst>
          </p:cNvPr>
          <p:cNvSpPr/>
          <p:nvPr userDrawn="1"/>
        </p:nvSpPr>
        <p:spPr>
          <a:xfrm rot="14481942">
            <a:off x="7717968" y="528160"/>
            <a:ext cx="4547253" cy="7005785"/>
          </a:xfrm>
          <a:prstGeom prst="ellipse">
            <a:avLst/>
          </a:prstGeom>
          <a:noFill/>
          <a:ln w="19050">
            <a:solidFill>
              <a:srgbClr val="1942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26E3DD-3B4D-E742-314C-10204AC63583}"/>
              </a:ext>
            </a:extLst>
          </p:cNvPr>
          <p:cNvSpPr/>
          <p:nvPr userDrawn="1"/>
        </p:nvSpPr>
        <p:spPr>
          <a:xfrm rot="1449865">
            <a:off x="8359156" y="420453"/>
            <a:ext cx="4661642" cy="7403248"/>
          </a:xfrm>
          <a:prstGeom prst="ellipse">
            <a:avLst/>
          </a:prstGeom>
          <a:noFill/>
          <a:ln w="19050">
            <a:solidFill>
              <a:srgbClr val="52E0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91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2 -  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232AD2-2DA6-2394-BAE9-3E65EB913E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4800" y="6112387"/>
            <a:ext cx="2336800" cy="5461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43C52319-C2CC-4FFC-3E83-25832D49FAC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9B0690F-7F23-5DC0-B675-130D73818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9" y="1964892"/>
            <a:ext cx="6264049" cy="298907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5000" b="0" i="0">
                <a:solidFill>
                  <a:srgbClr val="194247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2D7FC99-0C0D-F759-5DB9-E8E0763AC5F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" y="1512070"/>
            <a:ext cx="6264048" cy="45282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rgbClr val="0C2226"/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72676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1 - 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0A4C7199-12CF-1F14-70D0-F5DCAC6995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E21A1DE-9FB2-2365-E717-365323275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98639" cy="43513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8DBE1B2-6580-31CE-9BE9-71AF6079D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91" y="221587"/>
            <a:ext cx="11298640" cy="1325563"/>
          </a:xfrm>
        </p:spPr>
        <p:txBody>
          <a:bodyPr/>
          <a:lstStyle>
            <a:lvl1pPr>
              <a:defRPr b="0" i="0">
                <a:solidFill>
                  <a:srgbClr val="194247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9AA46F-1887-EC8C-0202-AA82EFB9A28F}"/>
              </a:ext>
            </a:extLst>
          </p:cNvPr>
          <p:cNvSpPr txBox="1"/>
          <p:nvPr userDrawn="1"/>
        </p:nvSpPr>
        <p:spPr>
          <a:xfrm>
            <a:off x="346371" y="6408107"/>
            <a:ext cx="365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01DF1E64-A64C-4109-ACE3-59E3E3B9F020}" type="slidenum">
              <a:rPr lang="en-US" sz="1100" smtClean="0">
                <a:solidFill>
                  <a:schemeClr val="accent1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1100"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198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2 - 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7ACE81E-4BDA-CBF1-B883-9C1F91261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71745" cy="43513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CFEDAC5-A196-3B94-FFFC-AE0ACD02D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91" y="221587"/>
            <a:ext cx="11271746" cy="1325563"/>
          </a:xfrm>
        </p:spPr>
        <p:txBody>
          <a:bodyPr/>
          <a:lstStyle>
            <a:lvl1pPr>
              <a:defRPr b="0" i="0">
                <a:solidFill>
                  <a:srgbClr val="194247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6B2CE7-A63E-E1F3-F6C2-ED7DCD1AD5E5}"/>
              </a:ext>
            </a:extLst>
          </p:cNvPr>
          <p:cNvSpPr txBox="1"/>
          <p:nvPr userDrawn="1"/>
        </p:nvSpPr>
        <p:spPr>
          <a:xfrm>
            <a:off x="346371" y="6408107"/>
            <a:ext cx="365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01DF1E64-A64C-4109-ACE3-59E3E3B9F020}" type="slidenum">
              <a:rPr lang="en-US" sz="1100" smtClean="0">
                <a:solidFill>
                  <a:schemeClr val="accent1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1100"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pic>
        <p:nvPicPr>
          <p:cNvPr id="2" name="Image" descr="Image">
            <a:extLst>
              <a:ext uri="{FF2B5EF4-FFF2-40B4-BE49-F238E27FC236}">
                <a16:creationId xmlns:a16="http://schemas.microsoft.com/office/drawing/2014/main" id="{0196B0CE-BEE6-D913-A79B-63A08DE32F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97264" y="6347220"/>
            <a:ext cx="322132" cy="24472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40171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3 - 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5A3B3804-DB07-82AF-F2BA-533D55929A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698" b="7020"/>
          <a:stretch/>
        </p:blipFill>
        <p:spPr>
          <a:xfrm>
            <a:off x="8331537" y="781342"/>
            <a:ext cx="3860464" cy="60766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9BE93A-0FD0-7F03-4A33-0514898BB480}"/>
              </a:ext>
            </a:extLst>
          </p:cNvPr>
          <p:cNvSpPr txBox="1"/>
          <p:nvPr userDrawn="1"/>
        </p:nvSpPr>
        <p:spPr>
          <a:xfrm>
            <a:off x="346371" y="6408107"/>
            <a:ext cx="365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01DF1E64-A64C-4109-ACE3-59E3E3B9F020}" type="slidenum">
              <a:rPr lang="en-US" sz="1100" smtClean="0">
                <a:solidFill>
                  <a:schemeClr val="accent1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1100"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555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4 - 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62B4AA-6F3D-8452-B819-84C22B694DC7}"/>
              </a:ext>
            </a:extLst>
          </p:cNvPr>
          <p:cNvSpPr txBox="1"/>
          <p:nvPr userDrawn="1"/>
        </p:nvSpPr>
        <p:spPr>
          <a:xfrm>
            <a:off x="11586864" y="6373919"/>
            <a:ext cx="351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01DF1E64-A64C-4109-ACE3-59E3E3B9F020}" type="slidenum">
              <a:rPr lang="en-US" sz="1000" smtClean="0">
                <a:solidFill>
                  <a:schemeClr val="tx1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1100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339EDA-D377-5327-05AE-997AFC8404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07642" y="6226309"/>
            <a:ext cx="1961227" cy="44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3026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24">
          <p15:clr>
            <a:srgbClr val="FBAE40"/>
          </p15:clr>
        </p15:guide>
        <p15:guide id="2" pos="7423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t">
    <p:bg>
      <p:bgPr>
        <a:solidFill>
          <a:srgbClr val="ECF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594AE20-1D21-4891-DEC4-C02F720F5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90" y="1572766"/>
            <a:ext cx="11298639" cy="435133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241C716-99B5-5B14-7894-9C08D07C4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91" y="221587"/>
            <a:ext cx="11298640" cy="1325563"/>
          </a:xfrm>
        </p:spPr>
        <p:txBody>
          <a:bodyPr/>
          <a:lstStyle>
            <a:lvl1pPr>
              <a:defRPr b="0" i="0">
                <a:solidFill>
                  <a:srgbClr val="194247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0AA05F-7D29-B5EE-1164-797FBC6910C8}"/>
              </a:ext>
            </a:extLst>
          </p:cNvPr>
          <p:cNvSpPr txBox="1"/>
          <p:nvPr userDrawn="1"/>
        </p:nvSpPr>
        <p:spPr>
          <a:xfrm>
            <a:off x="346371" y="6408107"/>
            <a:ext cx="36580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01DF1E64-A64C-4109-ACE3-59E3E3B9F020}" type="slidenum">
              <a:rPr lang="en-US" sz="1100" smtClean="0">
                <a:solidFill>
                  <a:schemeClr val="accent1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1100" dirty="0">
              <a:solidFill>
                <a:schemeClr val="accent1"/>
              </a:solidFill>
              <a:latin typeface="Montserrat" panose="00000500000000000000" pitchFamily="2" charset="0"/>
            </a:endParaRPr>
          </a:p>
        </p:txBody>
      </p:sp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A6DA2E4B-B2DE-D31B-5C84-F21D0726C4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97264" y="6347220"/>
            <a:ext cx="322132" cy="24472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30686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6C0F96F-2B55-5BD3-6EDB-65EEB66EB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719" y="0"/>
            <a:ext cx="11285191" cy="8617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FDD386E-706C-3E09-3445-82A770A60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698" y="1540059"/>
            <a:ext cx="11293212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1577B0-A7AA-C08A-EE4C-6EDAD2D6F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1958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892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  <p:sldLayoutId id="2147483799" r:id="rId12"/>
    <p:sldLayoutId id="2147483800" r:id="rId13"/>
    <p:sldLayoutId id="2147483801" r:id="rId14"/>
    <p:sldLayoutId id="2147483802" r:id="rId15"/>
    <p:sldLayoutId id="2147483803" r:id="rId16"/>
    <p:sldLayoutId id="2147483804" r:id="rId17"/>
    <p:sldLayoutId id="2147483805" r:id="rId18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000" b="1" i="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6C0F96F-2B55-5BD3-6EDB-65EEB66EB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719" y="0"/>
            <a:ext cx="11285191" cy="8617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FDD386E-706C-3E09-3445-82A770A60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698" y="1540059"/>
            <a:ext cx="11293212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1577B0-A7AA-C08A-EE4C-6EDAD2D6F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1958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F7A99388-A1F9-4093-89EB-2B68D0BECC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366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6" r:id="rId12"/>
    <p:sldLayoutId id="2147483837" r:id="rId13"/>
    <p:sldLayoutId id="2147483838" r:id="rId14"/>
    <p:sldLayoutId id="2147483839" r:id="rId15"/>
    <p:sldLayoutId id="2147483840" r:id="rId16"/>
    <p:sldLayoutId id="2147483841" r:id="rId17"/>
    <p:sldLayoutId id="2147483842" r:id="rId18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000" b="1" i="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06C0F96F-2B55-5BD3-6EDB-65EEB66EB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FDD386E-706C-3E09-3445-82A770A60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8962A-E4B8-748D-3A3B-F09127EED2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9534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  <a:latin typeface="Montserrat" panose="00000500000000000000" pitchFamily="2" charset="0"/>
              </a:defRPr>
            </a:lvl1pPr>
          </a:lstStyle>
          <a:p>
            <a:fld id="{9071AF08-805F-FF40-99D7-455AA99257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041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  <p:sldLayoutId id="2147483897" r:id="rId15"/>
    <p:sldLayoutId id="2147483898" r:id="rId16"/>
    <p:sldLayoutId id="2147483899" r:id="rId17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0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13" Type="http://schemas.openxmlformats.org/officeDocument/2006/relationships/slide" Target="slide12.xml"/><Relationship Id="rId3" Type="http://schemas.openxmlformats.org/officeDocument/2006/relationships/image" Target="../media/image31.svg"/><Relationship Id="rId7" Type="http://schemas.openxmlformats.org/officeDocument/2006/relationships/slide" Target="slide6.xml"/><Relationship Id="rId12" Type="http://schemas.openxmlformats.org/officeDocument/2006/relationships/slide" Target="slide1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2.xml"/><Relationship Id="rId6" Type="http://schemas.openxmlformats.org/officeDocument/2006/relationships/slide" Target="slide5.xml"/><Relationship Id="rId11" Type="http://schemas.openxmlformats.org/officeDocument/2006/relationships/slide" Target="slide10.xml"/><Relationship Id="rId5" Type="http://schemas.openxmlformats.org/officeDocument/2006/relationships/image" Target="../media/image32.svg"/><Relationship Id="rId15" Type="http://schemas.openxmlformats.org/officeDocument/2006/relationships/slide" Target="slide14.xml"/><Relationship Id="rId10" Type="http://schemas.openxmlformats.org/officeDocument/2006/relationships/slide" Target="slide9.xml"/><Relationship Id="rId4" Type="http://schemas.openxmlformats.org/officeDocument/2006/relationships/slide" Target="slide4.xml"/><Relationship Id="rId9" Type="http://schemas.openxmlformats.org/officeDocument/2006/relationships/slide" Target="slide8.xml"/><Relationship Id="rId14" Type="http://schemas.openxmlformats.org/officeDocument/2006/relationships/slide" Target="slide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13" Type="http://schemas.openxmlformats.org/officeDocument/2006/relationships/image" Target="../media/image44.svg"/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12" Type="http://schemas.openxmlformats.org/officeDocument/2006/relationships/image" Target="../media/image43.svg"/><Relationship Id="rId2" Type="http://schemas.openxmlformats.org/officeDocument/2006/relationships/image" Target="../media/image33.svg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37.svg"/><Relationship Id="rId11" Type="http://schemas.openxmlformats.org/officeDocument/2006/relationships/image" Target="../media/image42.svg"/><Relationship Id="rId5" Type="http://schemas.openxmlformats.org/officeDocument/2006/relationships/image" Target="../media/image36.svg"/><Relationship Id="rId10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4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46.svg"/><Relationship Id="rId7" Type="http://schemas.openxmlformats.org/officeDocument/2006/relationships/image" Target="../media/image50.svg"/><Relationship Id="rId2" Type="http://schemas.openxmlformats.org/officeDocument/2006/relationships/image" Target="../media/image45.svg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49.svg"/><Relationship Id="rId11" Type="http://schemas.openxmlformats.org/officeDocument/2006/relationships/image" Target="../media/image44.svg"/><Relationship Id="rId5" Type="http://schemas.openxmlformats.org/officeDocument/2006/relationships/image" Target="../media/image48.svg"/><Relationship Id="rId10" Type="http://schemas.openxmlformats.org/officeDocument/2006/relationships/image" Target="../media/image43.svg"/><Relationship Id="rId4" Type="http://schemas.openxmlformats.org/officeDocument/2006/relationships/image" Target="../media/image47.svg"/><Relationship Id="rId9" Type="http://schemas.openxmlformats.org/officeDocument/2006/relationships/image" Target="../media/image4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13" Type="http://schemas.openxmlformats.org/officeDocument/2006/relationships/image" Target="../media/image42.svg"/><Relationship Id="rId3" Type="http://schemas.openxmlformats.org/officeDocument/2006/relationships/image" Target="../media/image53.svg"/><Relationship Id="rId7" Type="http://schemas.openxmlformats.org/officeDocument/2006/relationships/image" Target="../media/image57.svg"/><Relationship Id="rId12" Type="http://schemas.openxmlformats.org/officeDocument/2006/relationships/image" Target="../media/image62.svg"/><Relationship Id="rId2" Type="http://schemas.openxmlformats.org/officeDocument/2006/relationships/image" Target="../media/image52.svg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56.svg"/><Relationship Id="rId11" Type="http://schemas.openxmlformats.org/officeDocument/2006/relationships/image" Target="../media/image61.svg"/><Relationship Id="rId5" Type="http://schemas.openxmlformats.org/officeDocument/2006/relationships/image" Target="../media/image55.svg"/><Relationship Id="rId15" Type="http://schemas.openxmlformats.org/officeDocument/2006/relationships/image" Target="../media/image44.svg"/><Relationship Id="rId10" Type="http://schemas.openxmlformats.org/officeDocument/2006/relationships/image" Target="../media/image60.svg"/><Relationship Id="rId4" Type="http://schemas.openxmlformats.org/officeDocument/2006/relationships/image" Target="../media/image54.svg"/><Relationship Id="rId9" Type="http://schemas.openxmlformats.org/officeDocument/2006/relationships/image" Target="../media/image59.svg"/><Relationship Id="rId14" Type="http://schemas.openxmlformats.org/officeDocument/2006/relationships/image" Target="../media/image4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64.svg"/><Relationship Id="rId7" Type="http://schemas.openxmlformats.org/officeDocument/2006/relationships/image" Target="../media/image68.svg"/><Relationship Id="rId2" Type="http://schemas.openxmlformats.org/officeDocument/2006/relationships/image" Target="../media/image63.svg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67.svg"/><Relationship Id="rId5" Type="http://schemas.openxmlformats.org/officeDocument/2006/relationships/image" Target="../media/image66.svg"/><Relationship Id="rId10" Type="http://schemas.openxmlformats.org/officeDocument/2006/relationships/image" Target="../media/image44.svg"/><Relationship Id="rId4" Type="http://schemas.openxmlformats.org/officeDocument/2006/relationships/image" Target="../media/image65.svg"/><Relationship Id="rId9" Type="http://schemas.openxmlformats.org/officeDocument/2006/relationships/image" Target="../media/image4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13" Type="http://schemas.openxmlformats.org/officeDocument/2006/relationships/image" Target="../media/image44.svg"/><Relationship Id="rId3" Type="http://schemas.openxmlformats.org/officeDocument/2006/relationships/image" Target="../media/image69.svg"/><Relationship Id="rId7" Type="http://schemas.openxmlformats.org/officeDocument/2006/relationships/image" Target="../media/image72.svg"/><Relationship Id="rId12" Type="http://schemas.openxmlformats.org/officeDocument/2006/relationships/image" Target="../media/image43.svg"/><Relationship Id="rId2" Type="http://schemas.openxmlformats.org/officeDocument/2006/relationships/image" Target="../media/image68.svg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71.svg"/><Relationship Id="rId11" Type="http://schemas.openxmlformats.org/officeDocument/2006/relationships/image" Target="../media/image42.svg"/><Relationship Id="rId5" Type="http://schemas.openxmlformats.org/officeDocument/2006/relationships/image" Target="../media/image66.svg"/><Relationship Id="rId10" Type="http://schemas.openxmlformats.org/officeDocument/2006/relationships/image" Target="../media/image75.svg"/><Relationship Id="rId4" Type="http://schemas.openxmlformats.org/officeDocument/2006/relationships/image" Target="../media/image70.svg"/><Relationship Id="rId9" Type="http://schemas.openxmlformats.org/officeDocument/2006/relationships/image" Target="../media/image74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77.svg"/><Relationship Id="rId7" Type="http://schemas.openxmlformats.org/officeDocument/2006/relationships/image" Target="../media/image42.svg"/><Relationship Id="rId2" Type="http://schemas.openxmlformats.org/officeDocument/2006/relationships/image" Target="../media/image76.svg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80.svg"/><Relationship Id="rId5" Type="http://schemas.openxmlformats.org/officeDocument/2006/relationships/image" Target="../media/image79.svg"/><Relationship Id="rId4" Type="http://schemas.openxmlformats.org/officeDocument/2006/relationships/image" Target="../media/image78.svg"/><Relationship Id="rId9" Type="http://schemas.openxmlformats.org/officeDocument/2006/relationships/image" Target="../media/image4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82.svg"/><Relationship Id="rId7" Type="http://schemas.openxmlformats.org/officeDocument/2006/relationships/image" Target="../media/image42.svg"/><Relationship Id="rId2" Type="http://schemas.openxmlformats.org/officeDocument/2006/relationships/image" Target="../media/image81.svg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85.svg"/><Relationship Id="rId5" Type="http://schemas.openxmlformats.org/officeDocument/2006/relationships/image" Target="../media/image84.svg"/><Relationship Id="rId4" Type="http://schemas.openxmlformats.org/officeDocument/2006/relationships/image" Target="../media/image83.svg"/><Relationship Id="rId9" Type="http://schemas.openxmlformats.org/officeDocument/2006/relationships/image" Target="../media/image4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svg"/><Relationship Id="rId13" Type="http://schemas.openxmlformats.org/officeDocument/2006/relationships/image" Target="../media/image97.svg"/><Relationship Id="rId18" Type="http://schemas.openxmlformats.org/officeDocument/2006/relationships/image" Target="../media/image43.svg"/><Relationship Id="rId3" Type="http://schemas.openxmlformats.org/officeDocument/2006/relationships/image" Target="../media/image87.svg"/><Relationship Id="rId7" Type="http://schemas.openxmlformats.org/officeDocument/2006/relationships/image" Target="../media/image91.svg"/><Relationship Id="rId12" Type="http://schemas.openxmlformats.org/officeDocument/2006/relationships/image" Target="../media/image96.svg"/><Relationship Id="rId17" Type="http://schemas.openxmlformats.org/officeDocument/2006/relationships/image" Target="../media/image42.svg"/><Relationship Id="rId2" Type="http://schemas.openxmlformats.org/officeDocument/2006/relationships/image" Target="../media/image86.svg"/><Relationship Id="rId16" Type="http://schemas.openxmlformats.org/officeDocument/2006/relationships/image" Target="../media/image100.svg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90.svg"/><Relationship Id="rId11" Type="http://schemas.openxmlformats.org/officeDocument/2006/relationships/image" Target="../media/image95.svg"/><Relationship Id="rId5" Type="http://schemas.openxmlformats.org/officeDocument/2006/relationships/image" Target="../media/image89.svg"/><Relationship Id="rId15" Type="http://schemas.openxmlformats.org/officeDocument/2006/relationships/image" Target="../media/image99.svg"/><Relationship Id="rId10" Type="http://schemas.openxmlformats.org/officeDocument/2006/relationships/image" Target="../media/image94.svg"/><Relationship Id="rId19" Type="http://schemas.openxmlformats.org/officeDocument/2006/relationships/image" Target="../media/image44.svg"/><Relationship Id="rId4" Type="http://schemas.openxmlformats.org/officeDocument/2006/relationships/image" Target="../media/image88.svg"/><Relationship Id="rId9" Type="http://schemas.openxmlformats.org/officeDocument/2006/relationships/image" Target="../media/image93.svg"/><Relationship Id="rId14" Type="http://schemas.openxmlformats.org/officeDocument/2006/relationships/image" Target="../media/image9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svg"/><Relationship Id="rId3" Type="http://schemas.openxmlformats.org/officeDocument/2006/relationships/image" Target="../media/image101.svg"/><Relationship Id="rId7" Type="http://schemas.openxmlformats.org/officeDocument/2006/relationships/image" Target="../media/image104.svg"/><Relationship Id="rId2" Type="http://schemas.openxmlformats.org/officeDocument/2006/relationships/image" Target="../media/image79.svg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103.svg"/><Relationship Id="rId11" Type="http://schemas.openxmlformats.org/officeDocument/2006/relationships/image" Target="../media/image44.svg"/><Relationship Id="rId5" Type="http://schemas.openxmlformats.org/officeDocument/2006/relationships/image" Target="../media/image34.svg"/><Relationship Id="rId10" Type="http://schemas.openxmlformats.org/officeDocument/2006/relationships/image" Target="../media/image43.svg"/><Relationship Id="rId4" Type="http://schemas.openxmlformats.org/officeDocument/2006/relationships/image" Target="../media/image102.svg"/><Relationship Id="rId9" Type="http://schemas.openxmlformats.org/officeDocument/2006/relationships/image" Target="../media/image4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svg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44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svg"/><Relationship Id="rId13" Type="http://schemas.openxmlformats.org/officeDocument/2006/relationships/image" Target="../media/image42.svg"/><Relationship Id="rId3" Type="http://schemas.openxmlformats.org/officeDocument/2006/relationships/image" Target="../media/image107.svg"/><Relationship Id="rId7" Type="http://schemas.openxmlformats.org/officeDocument/2006/relationships/image" Target="../media/image111.svg"/><Relationship Id="rId12" Type="http://schemas.openxmlformats.org/officeDocument/2006/relationships/image" Target="../media/image115.svg"/><Relationship Id="rId2" Type="http://schemas.openxmlformats.org/officeDocument/2006/relationships/image" Target="../media/image106.svg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110.svg"/><Relationship Id="rId11" Type="http://schemas.openxmlformats.org/officeDocument/2006/relationships/image" Target="../media/image114.svg"/><Relationship Id="rId5" Type="http://schemas.openxmlformats.org/officeDocument/2006/relationships/image" Target="../media/image109.svg"/><Relationship Id="rId15" Type="http://schemas.openxmlformats.org/officeDocument/2006/relationships/image" Target="../media/image44.svg"/><Relationship Id="rId10" Type="http://schemas.openxmlformats.org/officeDocument/2006/relationships/image" Target="../media/image113.svg"/><Relationship Id="rId4" Type="http://schemas.openxmlformats.org/officeDocument/2006/relationships/image" Target="../media/image108.svg"/><Relationship Id="rId9" Type="http://schemas.openxmlformats.org/officeDocument/2006/relationships/image" Target="../media/image112.svg"/><Relationship Id="rId14" Type="http://schemas.openxmlformats.org/officeDocument/2006/relationships/image" Target="../media/image4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117.svg"/><Relationship Id="rId7" Type="http://schemas.openxmlformats.org/officeDocument/2006/relationships/image" Target="../media/image42.svg"/><Relationship Id="rId2" Type="http://schemas.openxmlformats.org/officeDocument/2006/relationships/image" Target="../media/image116.svg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118.svg"/><Relationship Id="rId5" Type="http://schemas.openxmlformats.org/officeDocument/2006/relationships/hyperlink" Target="https://www.gartner.com/en/newsroom/press-releases/2026-08-04-gartner-survey-finds-87-percent-of-customers-say-companies-using-genai-for-customer-service-must-provide-access-to-a-human-agent0" TargetMode="External"/><Relationship Id="rId4" Type="http://schemas.openxmlformats.org/officeDocument/2006/relationships/hyperlink" Target="https://www.gartner.com/en/newsroom/press-releases/2025-03-05-gartner-predicts-agentic-ai-will-autonomously-resolve-80-percent-of-common-customer-service-issues-without-human-intervention-by-20290" TargetMode="External"/><Relationship Id="rId9" Type="http://schemas.openxmlformats.org/officeDocument/2006/relationships/image" Target="../media/image44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svg"/><Relationship Id="rId3" Type="http://schemas.openxmlformats.org/officeDocument/2006/relationships/image" Target="../media/image120.svg"/><Relationship Id="rId7" Type="http://schemas.openxmlformats.org/officeDocument/2006/relationships/image" Target="../media/image124.svg"/><Relationship Id="rId2" Type="http://schemas.openxmlformats.org/officeDocument/2006/relationships/image" Target="../media/image119.svg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123.svg"/><Relationship Id="rId5" Type="http://schemas.openxmlformats.org/officeDocument/2006/relationships/image" Target="../media/image122.svg"/><Relationship Id="rId10" Type="http://schemas.openxmlformats.org/officeDocument/2006/relationships/image" Target="../media/image127.svg"/><Relationship Id="rId4" Type="http://schemas.openxmlformats.org/officeDocument/2006/relationships/image" Target="../media/image121.svg"/><Relationship Id="rId9" Type="http://schemas.openxmlformats.org/officeDocument/2006/relationships/image" Target="../media/image126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210953F2-55CC-53E6-8003-955D663F1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5" y="1780172"/>
            <a:ext cx="5880100" cy="1810753"/>
          </a:xfrm>
        </p:spPr>
        <p:txBody>
          <a:bodyPr anchor="t"/>
          <a:lstStyle/>
          <a:p>
            <a:r>
              <a:rPr lang="en-US" sz="4000" kern="0" spc="-88" dirty="0">
                <a:solidFill>
                  <a:srgbClr val="09A78D"/>
                </a:solidFill>
                <a:ea typeface="Segoe UI Semibold" pitchFamily="34" charset="-122"/>
              </a:rPr>
              <a:t>Visual style</a:t>
            </a:r>
            <a:br>
              <a:rPr lang="en-US" sz="4000" kern="0" spc="-88" dirty="0">
                <a:solidFill>
                  <a:srgbClr val="09A78D"/>
                </a:solidFill>
                <a:ea typeface="Segoe UI Semibold" pitchFamily="34" charset="-122"/>
              </a:rPr>
            </a:br>
            <a:r>
              <a:rPr lang="en-US" sz="4000" kern="0" spc="-88" dirty="0">
                <a:solidFill>
                  <a:srgbClr val="09A78D"/>
                </a:solidFill>
                <a:ea typeface="Segoe UI Semibold" pitchFamily="34" charset="-122"/>
              </a:rPr>
              <a:t>catalogue</a:t>
            </a:r>
            <a:endParaRPr lang="en-US" sz="4000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F8CAA86-6AFF-95F5-9210-D4D4102514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5771" y="4621815"/>
            <a:ext cx="3340100" cy="452822"/>
          </a:xfrm>
        </p:spPr>
        <p:txBody>
          <a:bodyPr/>
          <a:lstStyle/>
          <a:p>
            <a:r>
              <a:rPr lang="en-US" sz="1400" dirty="0"/>
              <a:t>October 2026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E5F53B-9C65-4982-2E72-53FE40AD0BBD}"/>
              </a:ext>
            </a:extLst>
          </p:cNvPr>
          <p:cNvSpPr txBox="1">
            <a:spLocks/>
          </p:cNvSpPr>
          <p:nvPr/>
        </p:nvSpPr>
        <p:spPr>
          <a:xfrm>
            <a:off x="322169" y="1399070"/>
            <a:ext cx="4133289" cy="4528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b="0" i="0" kern="1200" spc="3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400" b="0" i="0" kern="1200">
                <a:solidFill>
                  <a:schemeClr val="accent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b="0" i="0" kern="1200">
                <a:solidFill>
                  <a:schemeClr val="accent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accent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accent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accent3"/>
                </a:solidFill>
              </a:rPr>
              <a:t>Myridius deck kit</a:t>
            </a:r>
          </a:p>
        </p:txBody>
      </p:sp>
    </p:spTree>
    <p:extLst>
      <p:ext uri="{BB962C8B-B14F-4D97-AF65-F5344CB8AC3E}">
        <p14:creationId xmlns:p14="http://schemas.microsoft.com/office/powerpoint/2010/main" val="4129506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00050" y="203200"/>
            <a:ext cx="1891655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10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 CATALOGUE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374650" y="328930"/>
            <a:ext cx="11870843" cy="4089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28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Twelve visual styles, </a:t>
            </a:r>
            <a:r>
              <a:rPr lang="en-US" sz="2800" b="1" kern="0" spc="-28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picked by the relationship a slide shows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7825" y="1069975"/>
            <a:ext cx="2736850" cy="1339850"/>
          </a:xfrm>
          <a:prstGeom prst="roundRect">
            <a:avLst>
              <a:gd name="adj" fmla="val 7346"/>
            </a:avLst>
          </a:prstGeom>
          <a:solidFill>
            <a:srgbClr val="FFFFFF"/>
          </a:solidFill>
          <a:ln w="6350">
            <a:solidFill>
              <a:srgbClr val="0C2226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527050" y="1219200"/>
            <a:ext cx="266700" cy="266700"/>
          </a:xfrm>
          <a:prstGeom prst="roundRect">
            <a:avLst>
              <a:gd name="adj" fmla="val 23810"/>
            </a:avLst>
          </a:prstGeom>
          <a:solidFill>
            <a:srgbClr val="0C22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602198" y="1216025"/>
            <a:ext cx="11640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2E0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Text 5">
            <a:hlinkClick r:id="rId2" action="ppaction://hlinksldjump"/>
          </p:cNvPr>
          <p:cNvSpPr txBox="1"/>
          <p:nvPr/>
        </p:nvSpPr>
        <p:spPr>
          <a:xfrm>
            <a:off x="882650" y="1259860"/>
            <a:ext cx="889054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Bento grid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27050" y="1584325"/>
            <a:ext cx="251013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Many parts of one offer, in one view</a:t>
            </a:r>
            <a:endParaRPr lang="en-US" sz="1000" dirty="0"/>
          </a:p>
        </p:txBody>
      </p:sp>
      <p:pic>
        <p:nvPicPr>
          <p:cNvPr id="10" name="svgicon-1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050" y="2095500"/>
            <a:ext cx="139700" cy="1397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7550" y="2094885"/>
            <a:ext cx="3995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</a:t>
            </a:r>
            <a:endParaRPr lang="en-US" sz="900" dirty="0"/>
          </a:p>
        </p:txBody>
      </p:sp>
      <p:sp>
        <p:nvSpPr>
          <p:cNvPr id="12" name="Shape 8">
            <a:hlinkClick r:id="rId4" action="ppaction://hlinksldjump"/>
          </p:cNvPr>
          <p:cNvSpPr/>
          <p:nvPr/>
        </p:nvSpPr>
        <p:spPr>
          <a:xfrm>
            <a:off x="3273425" y="1069975"/>
            <a:ext cx="2736850" cy="1339850"/>
          </a:xfrm>
          <a:prstGeom prst="roundRect">
            <a:avLst>
              <a:gd name="adj" fmla="val 7346"/>
            </a:avLst>
          </a:prstGeom>
          <a:solidFill>
            <a:srgbClr val="FFFFFF"/>
          </a:solidFill>
          <a:ln w="6350">
            <a:solidFill>
              <a:srgbClr val="0C2226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3422650" y="1219200"/>
            <a:ext cx="266700" cy="266700"/>
          </a:xfrm>
          <a:prstGeom prst="roundRect">
            <a:avLst>
              <a:gd name="adj" fmla="val 23810"/>
            </a:avLst>
          </a:prstGeom>
          <a:solidFill>
            <a:srgbClr val="0C22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0"/>
          <p:cNvSpPr txBox="1"/>
          <p:nvPr/>
        </p:nvSpPr>
        <p:spPr>
          <a:xfrm>
            <a:off x="3482649" y="1216025"/>
            <a:ext cx="14660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2E0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1">
            <a:hlinkClick r:id="rId4" action="ppaction://hlinksldjump"/>
          </p:cNvPr>
          <p:cNvSpPr txBox="1"/>
          <p:nvPr/>
        </p:nvSpPr>
        <p:spPr>
          <a:xfrm>
            <a:off x="3778250" y="1259860"/>
            <a:ext cx="2126357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Conversation and actions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3422650" y="1584325"/>
            <a:ext cx="2507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AI does during one interaction</a:t>
            </a:r>
            <a:endParaRPr lang="en-US" sz="1000" dirty="0"/>
          </a:p>
        </p:txBody>
      </p:sp>
      <p:pic>
        <p:nvPicPr>
          <p:cNvPr id="17" name="svgicon-2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2650" y="2095500"/>
            <a:ext cx="139700" cy="1397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613150" y="2094885"/>
            <a:ext cx="94131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in steps</a:t>
            </a:r>
            <a:endParaRPr lang="en-US" sz="900" dirty="0"/>
          </a:p>
        </p:txBody>
      </p:sp>
      <p:sp>
        <p:nvSpPr>
          <p:cNvPr id="19" name="Shape 14">
            <a:hlinkClick r:id="rId6" action="ppaction://hlinksldjump"/>
          </p:cNvPr>
          <p:cNvSpPr/>
          <p:nvPr/>
        </p:nvSpPr>
        <p:spPr>
          <a:xfrm>
            <a:off x="6169025" y="1069975"/>
            <a:ext cx="2736850" cy="1339850"/>
          </a:xfrm>
          <a:prstGeom prst="roundRect">
            <a:avLst>
              <a:gd name="adj" fmla="val 7346"/>
            </a:avLst>
          </a:prstGeom>
          <a:solidFill>
            <a:srgbClr val="FFFFFF"/>
          </a:solidFill>
          <a:ln w="6350">
            <a:solidFill>
              <a:srgbClr val="0C2226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6318250" y="1219200"/>
            <a:ext cx="266700" cy="266700"/>
          </a:xfrm>
          <a:prstGeom prst="roundRect">
            <a:avLst>
              <a:gd name="adj" fmla="val 23810"/>
            </a:avLst>
          </a:prstGeom>
          <a:solidFill>
            <a:srgbClr val="0C22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6"/>
          <p:cNvSpPr txBox="1"/>
          <p:nvPr/>
        </p:nvSpPr>
        <p:spPr>
          <a:xfrm>
            <a:off x="6377111" y="1216025"/>
            <a:ext cx="14897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2E0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17">
            <a:hlinkClick r:id="rId6" action="ppaction://hlinksldjump"/>
          </p:cNvPr>
          <p:cNvSpPr txBox="1"/>
          <p:nvPr/>
        </p:nvSpPr>
        <p:spPr>
          <a:xfrm>
            <a:off x="6673850" y="1259860"/>
            <a:ext cx="1000127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trace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6318250" y="1584325"/>
            <a:ext cx="282639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AI step, with the evidence behind it</a:t>
            </a:r>
            <a:endParaRPr lang="en-US" sz="1000" dirty="0"/>
          </a:p>
        </p:txBody>
      </p:sp>
      <p:pic>
        <p:nvPicPr>
          <p:cNvPr id="24" name="svgicon-3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8250" y="2095500"/>
            <a:ext cx="139700" cy="1397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508750" y="2094885"/>
            <a:ext cx="94131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in steps</a:t>
            </a:r>
            <a:endParaRPr lang="en-US" sz="900" dirty="0"/>
          </a:p>
        </p:txBody>
      </p:sp>
      <p:sp>
        <p:nvSpPr>
          <p:cNvPr id="26" name="Shape 20">
            <a:hlinkClick r:id="rId7" action="ppaction://hlinksldjump"/>
          </p:cNvPr>
          <p:cNvSpPr/>
          <p:nvPr/>
        </p:nvSpPr>
        <p:spPr>
          <a:xfrm>
            <a:off x="9064625" y="1069975"/>
            <a:ext cx="2736850" cy="1339850"/>
          </a:xfrm>
          <a:prstGeom prst="roundRect">
            <a:avLst>
              <a:gd name="adj" fmla="val 7346"/>
            </a:avLst>
          </a:prstGeom>
          <a:solidFill>
            <a:srgbClr val="FFFFFF"/>
          </a:solidFill>
          <a:ln w="6350">
            <a:solidFill>
              <a:srgbClr val="0C2226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1"/>
          <p:cNvSpPr/>
          <p:nvPr/>
        </p:nvSpPr>
        <p:spPr>
          <a:xfrm>
            <a:off x="9213850" y="1219200"/>
            <a:ext cx="266700" cy="266700"/>
          </a:xfrm>
          <a:prstGeom prst="roundRect">
            <a:avLst>
              <a:gd name="adj" fmla="val 23810"/>
            </a:avLst>
          </a:prstGeom>
          <a:solidFill>
            <a:srgbClr val="0C22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2"/>
          <p:cNvSpPr txBox="1"/>
          <p:nvPr/>
        </p:nvSpPr>
        <p:spPr>
          <a:xfrm>
            <a:off x="9270342" y="1216025"/>
            <a:ext cx="15361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2E0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50" dirty="0"/>
          </a:p>
        </p:txBody>
      </p:sp>
      <p:sp>
        <p:nvSpPr>
          <p:cNvPr id="29" name="Text 23">
            <a:hlinkClick r:id="rId7" action="ppaction://hlinksldjump"/>
          </p:cNvPr>
          <p:cNvSpPr txBox="1"/>
          <p:nvPr/>
        </p:nvSpPr>
        <p:spPr>
          <a:xfrm>
            <a:off x="9569450" y="1259860"/>
            <a:ext cx="1461726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canvas</a:t>
            </a:r>
            <a:endParaRPr lang="en-US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9213850" y="1593850"/>
            <a:ext cx="2499011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Branching logic, and where people step in</a:t>
            </a:r>
            <a:endParaRPr lang="en-US" sz="1000" dirty="0"/>
          </a:p>
        </p:txBody>
      </p:sp>
      <p:pic>
        <p:nvPicPr>
          <p:cNvPr id="31" name="svgicon-4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13850" y="2095500"/>
            <a:ext cx="139700" cy="1397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404350" y="2094885"/>
            <a:ext cx="94131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in steps</a:t>
            </a:r>
            <a:endParaRPr lang="en-US" sz="900" dirty="0"/>
          </a:p>
        </p:txBody>
      </p:sp>
      <p:sp>
        <p:nvSpPr>
          <p:cNvPr id="33" name="Shape 26">
            <a:hlinkClick r:id="rId8" action="ppaction://hlinksldjump"/>
          </p:cNvPr>
          <p:cNvSpPr/>
          <p:nvPr/>
        </p:nvSpPr>
        <p:spPr>
          <a:xfrm>
            <a:off x="377825" y="2543175"/>
            <a:ext cx="2736850" cy="1339850"/>
          </a:xfrm>
          <a:prstGeom prst="roundRect">
            <a:avLst>
              <a:gd name="adj" fmla="val 7346"/>
            </a:avLst>
          </a:prstGeom>
          <a:solidFill>
            <a:srgbClr val="FFFFFF"/>
          </a:solidFill>
          <a:ln w="6350">
            <a:solidFill>
              <a:srgbClr val="0C2226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27"/>
          <p:cNvSpPr/>
          <p:nvPr/>
        </p:nvSpPr>
        <p:spPr>
          <a:xfrm>
            <a:off x="527050" y="2692400"/>
            <a:ext cx="266700" cy="266700"/>
          </a:xfrm>
          <a:prstGeom prst="roundRect">
            <a:avLst>
              <a:gd name="adj" fmla="val 23810"/>
            </a:avLst>
          </a:prstGeom>
          <a:solidFill>
            <a:srgbClr val="0C22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28"/>
          <p:cNvSpPr txBox="1"/>
          <p:nvPr/>
        </p:nvSpPr>
        <p:spPr>
          <a:xfrm>
            <a:off x="586363" y="2689225"/>
            <a:ext cx="14807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2E0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50" dirty="0"/>
          </a:p>
        </p:txBody>
      </p:sp>
      <p:sp>
        <p:nvSpPr>
          <p:cNvPr id="36" name="Text 29">
            <a:hlinkClick r:id="rId8" action="ppaction://hlinksldjump"/>
          </p:cNvPr>
          <p:cNvSpPr txBox="1"/>
          <p:nvPr/>
        </p:nvSpPr>
        <p:spPr>
          <a:xfrm>
            <a:off x="882650" y="2733060"/>
            <a:ext cx="1609447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Swimlane handoffs</a:t>
            </a:r>
            <a:endParaRPr lang="en-US" sz="1150" dirty="0"/>
          </a:p>
        </p:txBody>
      </p:sp>
      <p:sp>
        <p:nvSpPr>
          <p:cNvPr id="37" name="Text 30"/>
          <p:cNvSpPr txBox="1"/>
          <p:nvPr/>
        </p:nvSpPr>
        <p:spPr>
          <a:xfrm>
            <a:off x="527050" y="3067050"/>
            <a:ext cx="2512735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moving between customer, AI and teams</a:t>
            </a:r>
            <a:endParaRPr lang="en-US" sz="1000" dirty="0"/>
          </a:p>
        </p:txBody>
      </p:sp>
      <p:pic>
        <p:nvPicPr>
          <p:cNvPr id="38" name="svgicon-5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7050" y="3568700"/>
            <a:ext cx="139700" cy="13970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717550" y="3568085"/>
            <a:ext cx="94131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in steps</a:t>
            </a:r>
            <a:endParaRPr lang="en-US" sz="900" dirty="0"/>
          </a:p>
        </p:txBody>
      </p:sp>
      <p:sp>
        <p:nvSpPr>
          <p:cNvPr id="40" name="Shape 32">
            <a:hlinkClick r:id="rId9" action="ppaction://hlinksldjump"/>
          </p:cNvPr>
          <p:cNvSpPr/>
          <p:nvPr/>
        </p:nvSpPr>
        <p:spPr>
          <a:xfrm>
            <a:off x="3273425" y="2543175"/>
            <a:ext cx="2736850" cy="1339850"/>
          </a:xfrm>
          <a:prstGeom prst="roundRect">
            <a:avLst>
              <a:gd name="adj" fmla="val 7346"/>
            </a:avLst>
          </a:prstGeom>
          <a:solidFill>
            <a:srgbClr val="FFFFFF"/>
          </a:solidFill>
          <a:ln w="6350">
            <a:solidFill>
              <a:srgbClr val="0C2226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3"/>
          <p:cNvSpPr/>
          <p:nvPr/>
        </p:nvSpPr>
        <p:spPr>
          <a:xfrm>
            <a:off x="3422650" y="2692400"/>
            <a:ext cx="266700" cy="266700"/>
          </a:xfrm>
          <a:prstGeom prst="roundRect">
            <a:avLst>
              <a:gd name="adj" fmla="val 23810"/>
            </a:avLst>
          </a:prstGeom>
          <a:solidFill>
            <a:srgbClr val="0C22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34"/>
          <p:cNvSpPr txBox="1"/>
          <p:nvPr/>
        </p:nvSpPr>
        <p:spPr>
          <a:xfrm>
            <a:off x="3481178" y="2689225"/>
            <a:ext cx="14954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2E0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50" dirty="0"/>
          </a:p>
        </p:txBody>
      </p:sp>
      <p:sp>
        <p:nvSpPr>
          <p:cNvPr id="43" name="Text 35">
            <a:hlinkClick r:id="rId9" action="ppaction://hlinksldjump"/>
          </p:cNvPr>
          <p:cNvSpPr txBox="1"/>
          <p:nvPr/>
        </p:nvSpPr>
        <p:spPr>
          <a:xfrm>
            <a:off x="3778250" y="2733060"/>
            <a:ext cx="1354725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and after</a:t>
            </a:r>
            <a:endParaRPr lang="en-US" sz="1150" dirty="0"/>
          </a:p>
        </p:txBody>
      </p:sp>
      <p:sp>
        <p:nvSpPr>
          <p:cNvPr id="44" name="Text 36"/>
          <p:cNvSpPr txBox="1"/>
          <p:nvPr/>
        </p:nvSpPr>
        <p:spPr>
          <a:xfrm>
            <a:off x="3422650" y="3057525"/>
            <a:ext cx="267211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change a solution makes to a task</a:t>
            </a:r>
            <a:endParaRPr lang="en-US" sz="1000" dirty="0"/>
          </a:p>
        </p:txBody>
      </p:sp>
      <p:pic>
        <p:nvPicPr>
          <p:cNvPr id="45" name="svgicon-6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2650" y="3568700"/>
            <a:ext cx="139700" cy="139700"/>
          </a:xfrm>
          <a:prstGeom prst="rect">
            <a:avLst/>
          </a:prstGeom>
        </p:spPr>
      </p:pic>
      <p:sp>
        <p:nvSpPr>
          <p:cNvPr id="46" name="Text 37"/>
          <p:cNvSpPr txBox="1"/>
          <p:nvPr/>
        </p:nvSpPr>
        <p:spPr>
          <a:xfrm>
            <a:off x="3613150" y="3568085"/>
            <a:ext cx="94131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in steps</a:t>
            </a:r>
            <a:endParaRPr lang="en-US" sz="900" dirty="0"/>
          </a:p>
        </p:txBody>
      </p:sp>
      <p:sp>
        <p:nvSpPr>
          <p:cNvPr id="47" name="Shape 38">
            <a:hlinkClick r:id="rId10" action="ppaction://hlinksldjump"/>
          </p:cNvPr>
          <p:cNvSpPr/>
          <p:nvPr/>
        </p:nvSpPr>
        <p:spPr>
          <a:xfrm>
            <a:off x="6169025" y="2543175"/>
            <a:ext cx="2736850" cy="1339850"/>
          </a:xfrm>
          <a:prstGeom prst="roundRect">
            <a:avLst>
              <a:gd name="adj" fmla="val 7346"/>
            </a:avLst>
          </a:prstGeom>
          <a:solidFill>
            <a:srgbClr val="FFFFFF"/>
          </a:solidFill>
          <a:ln w="6350">
            <a:solidFill>
              <a:srgbClr val="0C2226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39"/>
          <p:cNvSpPr/>
          <p:nvPr/>
        </p:nvSpPr>
        <p:spPr>
          <a:xfrm>
            <a:off x="6318250" y="2692400"/>
            <a:ext cx="266700" cy="266700"/>
          </a:xfrm>
          <a:prstGeom prst="roundRect">
            <a:avLst>
              <a:gd name="adj" fmla="val 23810"/>
            </a:avLst>
          </a:prstGeom>
          <a:solidFill>
            <a:srgbClr val="0C22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0"/>
          <p:cNvSpPr txBox="1"/>
          <p:nvPr/>
        </p:nvSpPr>
        <p:spPr>
          <a:xfrm>
            <a:off x="6381974" y="2689225"/>
            <a:ext cx="13925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2E0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50" dirty="0"/>
          </a:p>
        </p:txBody>
      </p:sp>
      <p:sp>
        <p:nvSpPr>
          <p:cNvPr id="50" name="Text 41">
            <a:hlinkClick r:id="rId10" action="ppaction://hlinksldjump"/>
          </p:cNvPr>
          <p:cNvSpPr txBox="1"/>
          <p:nvPr/>
        </p:nvSpPr>
        <p:spPr>
          <a:xfrm>
            <a:off x="6673850" y="2733060"/>
            <a:ext cx="1188793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Layered stack</a:t>
            </a:r>
            <a:endParaRPr lang="en-US" sz="1150" dirty="0"/>
          </a:p>
        </p:txBody>
      </p:sp>
      <p:sp>
        <p:nvSpPr>
          <p:cNvPr id="51" name="Text 42"/>
          <p:cNvSpPr txBox="1"/>
          <p:nvPr/>
        </p:nvSpPr>
        <p:spPr>
          <a:xfrm>
            <a:off x="6318250" y="3067050"/>
            <a:ext cx="2403356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sits on what, and who runs each layer</a:t>
            </a:r>
            <a:endParaRPr lang="en-US" sz="1000" dirty="0"/>
          </a:p>
        </p:txBody>
      </p:sp>
      <p:pic>
        <p:nvPicPr>
          <p:cNvPr id="52" name="svgicon-7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8250" y="3568700"/>
            <a:ext cx="139700" cy="139700"/>
          </a:xfrm>
          <a:prstGeom prst="rect">
            <a:avLst/>
          </a:prstGeom>
        </p:spPr>
      </p:pic>
      <p:sp>
        <p:nvSpPr>
          <p:cNvPr id="53" name="Text 43"/>
          <p:cNvSpPr txBox="1"/>
          <p:nvPr/>
        </p:nvSpPr>
        <p:spPr>
          <a:xfrm>
            <a:off x="6508750" y="3568085"/>
            <a:ext cx="94131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in steps</a:t>
            </a:r>
            <a:endParaRPr lang="en-US" sz="900" dirty="0"/>
          </a:p>
        </p:txBody>
      </p:sp>
      <p:sp>
        <p:nvSpPr>
          <p:cNvPr id="54" name="Shape 44"/>
          <p:cNvSpPr/>
          <p:nvPr/>
        </p:nvSpPr>
        <p:spPr>
          <a:xfrm>
            <a:off x="9064625" y="2543175"/>
            <a:ext cx="2736850" cy="1339850"/>
          </a:xfrm>
          <a:prstGeom prst="roundRect">
            <a:avLst>
              <a:gd name="adj" fmla="val 7346"/>
            </a:avLst>
          </a:prstGeom>
          <a:solidFill>
            <a:srgbClr val="FFFFFF"/>
          </a:solidFill>
          <a:ln w="6350">
            <a:solidFill>
              <a:srgbClr val="0C2226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45"/>
          <p:cNvSpPr/>
          <p:nvPr/>
        </p:nvSpPr>
        <p:spPr>
          <a:xfrm>
            <a:off x="9213850" y="2692400"/>
            <a:ext cx="266700" cy="266700"/>
          </a:xfrm>
          <a:prstGeom prst="roundRect">
            <a:avLst>
              <a:gd name="adj" fmla="val 23810"/>
            </a:avLst>
          </a:prstGeom>
          <a:solidFill>
            <a:srgbClr val="0C22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Text 46"/>
          <p:cNvSpPr txBox="1"/>
          <p:nvPr/>
        </p:nvSpPr>
        <p:spPr>
          <a:xfrm>
            <a:off x="9272265" y="2689225"/>
            <a:ext cx="14977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2E0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050" dirty="0"/>
          </a:p>
        </p:txBody>
      </p:sp>
      <p:sp>
        <p:nvSpPr>
          <p:cNvPr id="57" name="Text 47">
            <a:hlinkClick r:id="rId11" action="ppaction://hlinksldjump"/>
          </p:cNvPr>
          <p:cNvSpPr txBox="1"/>
          <p:nvPr/>
        </p:nvSpPr>
        <p:spPr>
          <a:xfrm>
            <a:off x="9569450" y="2733060"/>
            <a:ext cx="460595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</a:t>
            </a:r>
            <a:endParaRPr lang="en-US" sz="1150" dirty="0"/>
          </a:p>
        </p:txBody>
      </p:sp>
      <p:sp>
        <p:nvSpPr>
          <p:cNvPr id="58" name="Text 48"/>
          <p:cNvSpPr txBox="1"/>
          <p:nvPr/>
        </p:nvSpPr>
        <p:spPr>
          <a:xfrm>
            <a:off x="9213850" y="3057525"/>
            <a:ext cx="24240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core connected to many parts</a:t>
            </a:r>
            <a:endParaRPr lang="en-US" sz="1000" dirty="0"/>
          </a:p>
        </p:txBody>
      </p:sp>
      <p:pic>
        <p:nvPicPr>
          <p:cNvPr id="59" name="svgicon-8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13850" y="3568700"/>
            <a:ext cx="139700" cy="139700"/>
          </a:xfrm>
          <a:prstGeom prst="rect">
            <a:avLst/>
          </a:prstGeom>
        </p:spPr>
      </p:pic>
      <p:sp>
        <p:nvSpPr>
          <p:cNvPr id="60" name="Text 49"/>
          <p:cNvSpPr txBox="1"/>
          <p:nvPr/>
        </p:nvSpPr>
        <p:spPr>
          <a:xfrm>
            <a:off x="9404350" y="3568085"/>
            <a:ext cx="3995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</a:t>
            </a:r>
            <a:endParaRPr lang="en-US" sz="900" dirty="0"/>
          </a:p>
        </p:txBody>
      </p:sp>
      <p:sp>
        <p:nvSpPr>
          <p:cNvPr id="61" name="Shape 50">
            <a:hlinkClick r:id="rId12" action="ppaction://hlinksldjump"/>
          </p:cNvPr>
          <p:cNvSpPr/>
          <p:nvPr/>
        </p:nvSpPr>
        <p:spPr>
          <a:xfrm>
            <a:off x="377825" y="4016375"/>
            <a:ext cx="2736850" cy="1339850"/>
          </a:xfrm>
          <a:prstGeom prst="roundRect">
            <a:avLst>
              <a:gd name="adj" fmla="val 7346"/>
            </a:avLst>
          </a:prstGeom>
          <a:solidFill>
            <a:srgbClr val="FFFFFF"/>
          </a:solidFill>
          <a:ln w="6350">
            <a:solidFill>
              <a:srgbClr val="0C2226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51"/>
          <p:cNvSpPr/>
          <p:nvPr/>
        </p:nvSpPr>
        <p:spPr>
          <a:xfrm>
            <a:off x="527050" y="4165600"/>
            <a:ext cx="266700" cy="266700"/>
          </a:xfrm>
          <a:prstGeom prst="roundRect">
            <a:avLst>
              <a:gd name="adj" fmla="val 23810"/>
            </a:avLst>
          </a:prstGeom>
          <a:solidFill>
            <a:srgbClr val="0C22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" name="Text 52"/>
          <p:cNvSpPr txBox="1"/>
          <p:nvPr/>
        </p:nvSpPr>
        <p:spPr>
          <a:xfrm>
            <a:off x="585578" y="4162425"/>
            <a:ext cx="14954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2E0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050" dirty="0"/>
          </a:p>
        </p:txBody>
      </p:sp>
      <p:sp>
        <p:nvSpPr>
          <p:cNvPr id="64" name="Text 53">
            <a:hlinkClick r:id="rId12" action="ppaction://hlinksldjump"/>
          </p:cNvPr>
          <p:cNvSpPr txBox="1"/>
          <p:nvPr/>
        </p:nvSpPr>
        <p:spPr>
          <a:xfrm>
            <a:off x="882650" y="4206260"/>
            <a:ext cx="1477901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Horizon staircase</a:t>
            </a:r>
            <a:endParaRPr lang="en-US" sz="1150" dirty="0"/>
          </a:p>
        </p:txBody>
      </p:sp>
      <p:sp>
        <p:nvSpPr>
          <p:cNvPr id="65" name="Text 54"/>
          <p:cNvSpPr txBox="1"/>
          <p:nvPr/>
        </p:nvSpPr>
        <p:spPr>
          <a:xfrm>
            <a:off x="527050" y="4530725"/>
            <a:ext cx="212556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Maturity and phases over time</a:t>
            </a:r>
            <a:endParaRPr lang="en-US" sz="1000" dirty="0"/>
          </a:p>
        </p:txBody>
      </p:sp>
      <p:pic>
        <p:nvPicPr>
          <p:cNvPr id="66" name="svgicon-9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050" y="5041900"/>
            <a:ext cx="139700" cy="139700"/>
          </a:xfrm>
          <a:prstGeom prst="rect">
            <a:avLst/>
          </a:prstGeom>
        </p:spPr>
      </p:pic>
      <p:sp>
        <p:nvSpPr>
          <p:cNvPr id="67" name="Text 55"/>
          <p:cNvSpPr txBox="1"/>
          <p:nvPr/>
        </p:nvSpPr>
        <p:spPr>
          <a:xfrm>
            <a:off x="717550" y="5041285"/>
            <a:ext cx="3995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</a:t>
            </a:r>
            <a:endParaRPr lang="en-US" sz="900" dirty="0"/>
          </a:p>
        </p:txBody>
      </p:sp>
      <p:sp>
        <p:nvSpPr>
          <p:cNvPr id="68" name="Shape 56">
            <a:hlinkClick r:id="rId13" action="ppaction://hlinksldjump"/>
          </p:cNvPr>
          <p:cNvSpPr/>
          <p:nvPr/>
        </p:nvSpPr>
        <p:spPr>
          <a:xfrm>
            <a:off x="3273425" y="4016375"/>
            <a:ext cx="2736850" cy="1339850"/>
          </a:xfrm>
          <a:prstGeom prst="roundRect">
            <a:avLst>
              <a:gd name="adj" fmla="val 7346"/>
            </a:avLst>
          </a:prstGeom>
          <a:solidFill>
            <a:srgbClr val="FFFFFF"/>
          </a:solidFill>
          <a:ln w="6350">
            <a:solidFill>
              <a:srgbClr val="0C2226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Shape 57"/>
          <p:cNvSpPr/>
          <p:nvPr/>
        </p:nvSpPr>
        <p:spPr>
          <a:xfrm>
            <a:off x="3422650" y="4165600"/>
            <a:ext cx="266700" cy="266700"/>
          </a:xfrm>
          <a:prstGeom prst="roundRect">
            <a:avLst>
              <a:gd name="adj" fmla="val 23810"/>
            </a:avLst>
          </a:prstGeom>
          <a:solidFill>
            <a:srgbClr val="0C22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0" name="Text 58"/>
          <p:cNvSpPr txBox="1"/>
          <p:nvPr/>
        </p:nvSpPr>
        <p:spPr>
          <a:xfrm>
            <a:off x="3446560" y="4162425"/>
            <a:ext cx="218881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2E0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50" dirty="0"/>
          </a:p>
        </p:txBody>
      </p:sp>
      <p:sp>
        <p:nvSpPr>
          <p:cNvPr id="71" name="Text 59">
            <a:hlinkClick r:id="rId13" action="ppaction://hlinksldjump"/>
          </p:cNvPr>
          <p:cNvSpPr txBox="1"/>
          <p:nvPr/>
        </p:nvSpPr>
        <p:spPr>
          <a:xfrm>
            <a:off x="3778250" y="4206260"/>
            <a:ext cx="1178614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Bubble matrix</a:t>
            </a:r>
            <a:endParaRPr lang="en-US" sz="1150" dirty="0"/>
          </a:p>
        </p:txBody>
      </p:sp>
      <p:sp>
        <p:nvSpPr>
          <p:cNvPr id="72" name="Text 60"/>
          <p:cNvSpPr txBox="1"/>
          <p:nvPr/>
        </p:nvSpPr>
        <p:spPr>
          <a:xfrm>
            <a:off x="3422650" y="4530725"/>
            <a:ext cx="23396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Options compared on two criteria</a:t>
            </a:r>
            <a:endParaRPr lang="en-US" sz="1000" dirty="0"/>
          </a:p>
        </p:txBody>
      </p:sp>
      <p:pic>
        <p:nvPicPr>
          <p:cNvPr id="73" name="svgicon-10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2650" y="5041900"/>
            <a:ext cx="139700" cy="139700"/>
          </a:xfrm>
          <a:prstGeom prst="rect">
            <a:avLst/>
          </a:prstGeom>
        </p:spPr>
      </p:pic>
      <p:sp>
        <p:nvSpPr>
          <p:cNvPr id="74" name="Text 61"/>
          <p:cNvSpPr txBox="1"/>
          <p:nvPr/>
        </p:nvSpPr>
        <p:spPr>
          <a:xfrm>
            <a:off x="3613150" y="5041285"/>
            <a:ext cx="3995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</a:t>
            </a:r>
            <a:endParaRPr lang="en-US" sz="900" dirty="0"/>
          </a:p>
        </p:txBody>
      </p:sp>
      <p:sp>
        <p:nvSpPr>
          <p:cNvPr id="75" name="Shape 62"/>
          <p:cNvSpPr/>
          <p:nvPr/>
        </p:nvSpPr>
        <p:spPr>
          <a:xfrm>
            <a:off x="6169025" y="4016375"/>
            <a:ext cx="2736850" cy="1339850"/>
          </a:xfrm>
          <a:prstGeom prst="roundRect">
            <a:avLst>
              <a:gd name="adj" fmla="val 7346"/>
            </a:avLst>
          </a:prstGeom>
          <a:solidFill>
            <a:srgbClr val="FFFFFF"/>
          </a:solidFill>
          <a:ln w="6350">
            <a:solidFill>
              <a:srgbClr val="0C2226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63"/>
          <p:cNvSpPr/>
          <p:nvPr/>
        </p:nvSpPr>
        <p:spPr>
          <a:xfrm>
            <a:off x="6318250" y="4165600"/>
            <a:ext cx="266700" cy="266700"/>
          </a:xfrm>
          <a:prstGeom prst="roundRect">
            <a:avLst>
              <a:gd name="adj" fmla="val 23810"/>
            </a:avLst>
          </a:prstGeom>
          <a:solidFill>
            <a:srgbClr val="0C22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7" name="Text 64"/>
          <p:cNvSpPr txBox="1"/>
          <p:nvPr/>
        </p:nvSpPr>
        <p:spPr>
          <a:xfrm>
            <a:off x="6360604" y="4162425"/>
            <a:ext cx="18189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2E0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50" dirty="0"/>
          </a:p>
        </p:txBody>
      </p:sp>
      <p:sp>
        <p:nvSpPr>
          <p:cNvPr id="78" name="Text 65">
            <a:hlinkClick r:id="rId14" action="ppaction://hlinksldjump"/>
          </p:cNvPr>
          <p:cNvSpPr txBox="1"/>
          <p:nvPr/>
        </p:nvSpPr>
        <p:spPr>
          <a:xfrm>
            <a:off x="6673850" y="4206260"/>
            <a:ext cx="784314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Flywheel</a:t>
            </a:r>
            <a:endParaRPr lang="en-US" sz="1150" dirty="0"/>
          </a:p>
        </p:txBody>
      </p:sp>
      <p:sp>
        <p:nvSpPr>
          <p:cNvPr id="79" name="Text 66"/>
          <p:cNvSpPr txBox="1"/>
          <p:nvPr/>
        </p:nvSpPr>
        <p:spPr>
          <a:xfrm>
            <a:off x="6318250" y="4530725"/>
            <a:ext cx="254056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cycle that improves with each turn</a:t>
            </a:r>
            <a:endParaRPr lang="en-US" sz="1000" dirty="0"/>
          </a:p>
        </p:txBody>
      </p:sp>
      <p:pic>
        <p:nvPicPr>
          <p:cNvPr id="80" name="svgicon-11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8250" y="5041900"/>
            <a:ext cx="139700" cy="139700"/>
          </a:xfrm>
          <a:prstGeom prst="rect">
            <a:avLst/>
          </a:prstGeom>
        </p:spPr>
      </p:pic>
      <p:sp>
        <p:nvSpPr>
          <p:cNvPr id="81" name="Text 67"/>
          <p:cNvSpPr txBox="1"/>
          <p:nvPr/>
        </p:nvSpPr>
        <p:spPr>
          <a:xfrm>
            <a:off x="6508750" y="5041285"/>
            <a:ext cx="3995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</a:t>
            </a:r>
            <a:endParaRPr lang="en-US" sz="900" dirty="0"/>
          </a:p>
        </p:txBody>
      </p:sp>
      <p:sp>
        <p:nvSpPr>
          <p:cNvPr id="82" name="Shape 68"/>
          <p:cNvSpPr/>
          <p:nvPr/>
        </p:nvSpPr>
        <p:spPr>
          <a:xfrm>
            <a:off x="9064625" y="4016375"/>
            <a:ext cx="2736850" cy="1339850"/>
          </a:xfrm>
          <a:prstGeom prst="roundRect">
            <a:avLst>
              <a:gd name="adj" fmla="val 7346"/>
            </a:avLst>
          </a:prstGeom>
          <a:solidFill>
            <a:srgbClr val="FFFFFF"/>
          </a:solidFill>
          <a:ln w="6350">
            <a:solidFill>
              <a:srgbClr val="0C2226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Shape 69"/>
          <p:cNvSpPr/>
          <p:nvPr/>
        </p:nvSpPr>
        <p:spPr>
          <a:xfrm>
            <a:off x="9213850" y="4165600"/>
            <a:ext cx="266700" cy="266700"/>
          </a:xfrm>
          <a:prstGeom prst="roundRect">
            <a:avLst>
              <a:gd name="adj" fmla="val 23810"/>
            </a:avLst>
          </a:prstGeom>
          <a:solidFill>
            <a:srgbClr val="0C22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4" name="Text 70"/>
          <p:cNvSpPr txBox="1"/>
          <p:nvPr/>
        </p:nvSpPr>
        <p:spPr>
          <a:xfrm>
            <a:off x="9241047" y="4162425"/>
            <a:ext cx="212207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2E0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50" dirty="0"/>
          </a:p>
        </p:txBody>
      </p:sp>
      <p:sp>
        <p:nvSpPr>
          <p:cNvPr id="85" name="Text 71">
            <a:hlinkClick r:id="rId15" action="ppaction://hlinksldjump"/>
          </p:cNvPr>
          <p:cNvSpPr txBox="1"/>
          <p:nvPr/>
        </p:nvSpPr>
        <p:spPr>
          <a:xfrm>
            <a:off x="9569450" y="4206260"/>
            <a:ext cx="787368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 hero</a:t>
            </a:r>
            <a:endParaRPr lang="en-US" sz="1150" dirty="0"/>
          </a:p>
        </p:txBody>
      </p:sp>
      <p:sp>
        <p:nvSpPr>
          <p:cNvPr id="86" name="Text 72"/>
          <p:cNvSpPr txBox="1"/>
          <p:nvPr/>
        </p:nvSpPr>
        <p:spPr>
          <a:xfrm>
            <a:off x="9213850" y="4540250"/>
            <a:ext cx="2524498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or two sourced numbers that frame the issue</a:t>
            </a:r>
            <a:endParaRPr lang="en-US" sz="1000" dirty="0"/>
          </a:p>
        </p:txBody>
      </p:sp>
      <p:pic>
        <p:nvPicPr>
          <p:cNvPr id="87" name="svgicon-12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13850" y="5041900"/>
            <a:ext cx="139700" cy="139700"/>
          </a:xfrm>
          <a:prstGeom prst="rect">
            <a:avLst/>
          </a:prstGeom>
        </p:spPr>
      </p:pic>
      <p:sp>
        <p:nvSpPr>
          <p:cNvPr id="88" name="Text 73"/>
          <p:cNvSpPr txBox="1"/>
          <p:nvPr/>
        </p:nvSpPr>
        <p:spPr>
          <a:xfrm>
            <a:off x="9404350" y="5041285"/>
            <a:ext cx="39951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</a:t>
            </a:r>
            <a:endParaRPr lang="en-US" sz="900" dirty="0"/>
          </a:p>
        </p:txBody>
      </p:sp>
      <p:sp>
        <p:nvSpPr>
          <p:cNvPr id="89" name="Text 74"/>
          <p:cNvSpPr txBox="1"/>
          <p:nvPr/>
        </p:nvSpPr>
        <p:spPr>
          <a:xfrm>
            <a:off x="374650" y="5587365"/>
            <a:ext cx="12158932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examples are illustrative, set in customer service operations for a financial services firm. Click a style name to jump to it. The beige strip on each slide is catalogue guidance, not part of the style.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00050" y="203200"/>
            <a:ext cx="2528348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10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 1/12 | BENTO GRID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374650" y="328930"/>
            <a:ext cx="12782278" cy="4089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28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AI service layer covers </a:t>
            </a:r>
            <a:r>
              <a:rPr lang="en-US" sz="2800" b="1" kern="0" spc="-28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whole customer service operation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7825" y="1069975"/>
            <a:ext cx="5632450" cy="4222750"/>
          </a:xfrm>
          <a:prstGeom prst="roundRect">
            <a:avLst>
              <a:gd name="adj" fmla="val 2331"/>
            </a:avLst>
          </a:prstGeom>
          <a:solidFill>
            <a:srgbClr val="0C2226"/>
          </a:solidFill>
          <a:ln w="6350">
            <a:solidFill>
              <a:srgbClr val="0C22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28650" y="1320800"/>
            <a:ext cx="355600" cy="355600"/>
          </a:xfrm>
          <a:prstGeom prst="ellipse">
            <a:avLst/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svgicon-13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9450" y="1371600"/>
            <a:ext cx="254000" cy="2540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73150" y="1438275"/>
            <a:ext cx="89663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8" dirty="0">
                <a:solidFill>
                  <a:srgbClr val="52E0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628650" y="1812290"/>
            <a:ext cx="3809538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Requests resolved end to end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628650" y="2152571"/>
            <a:ext cx="3817795" cy="186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2F0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act across your systems to finish the request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31825" y="2657475"/>
            <a:ext cx="5124450" cy="2381250"/>
          </a:xfrm>
          <a:prstGeom prst="roundRect">
            <a:avLst>
              <a:gd name="adj" fmla="val 4133"/>
            </a:avLst>
          </a:prstGeom>
          <a:solidFill>
            <a:srgbClr val="194247"/>
          </a:solidFill>
          <a:ln w="6350">
            <a:solidFill>
              <a:srgbClr val="1942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2330450" y="2857500"/>
            <a:ext cx="3238500" cy="342900"/>
          </a:xfrm>
          <a:custGeom>
            <a:avLst/>
            <a:gdLst/>
            <a:ahLst/>
            <a:cxnLst/>
            <a:rect l="l" t="t" r="r" b="b"/>
            <a:pathLst>
              <a:path w="3238500" h="342900">
                <a:moveTo>
                  <a:pt x="127000" y="0"/>
                </a:moveTo>
                <a:lnTo>
                  <a:pt x="3111500" y="0"/>
                </a:lnTo>
                <a:cubicBezTo>
                  <a:pt x="3181642" y="0"/>
                  <a:pt x="3238500" y="56858"/>
                  <a:pt x="3238500" y="127000"/>
                </a:cubicBezTo>
                <a:lnTo>
                  <a:pt x="3238500" y="304800"/>
                </a:lnTo>
                <a:cubicBezTo>
                  <a:pt x="3238500" y="325843"/>
                  <a:pt x="3221443" y="342900"/>
                  <a:pt x="3200400" y="342900"/>
                </a:cubicBezTo>
                <a:lnTo>
                  <a:pt x="127000" y="342900"/>
                </a:lnTo>
                <a:cubicBezTo>
                  <a:pt x="56858" y="342900"/>
                  <a:pt x="0" y="286042"/>
                  <a:pt x="0" y="215900"/>
                </a:cubicBezTo>
                <a:lnTo>
                  <a:pt x="0" y="127000"/>
                </a:lnTo>
                <a:cubicBezTo>
                  <a:pt x="0" y="56858"/>
                  <a:pt x="56858" y="0"/>
                  <a:pt x="127000" y="0"/>
                </a:cubicBezTo>
                <a:close/>
              </a:path>
            </a:pathLst>
          </a:custGeom>
          <a:solidFill>
            <a:srgbClr val="D2F0C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 txBox="1"/>
          <p:nvPr/>
        </p:nvSpPr>
        <p:spPr>
          <a:xfrm>
            <a:off x="2457450" y="2940050"/>
            <a:ext cx="307907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C22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you move my payment date to the 15th?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9150" y="3454400"/>
            <a:ext cx="3556000" cy="520700"/>
          </a:xfrm>
          <a:custGeom>
            <a:avLst/>
            <a:gdLst/>
            <a:ahLst/>
            <a:cxnLst/>
            <a:rect l="l" t="t" r="r" b="b"/>
            <a:pathLst>
              <a:path w="3556000" h="520700">
                <a:moveTo>
                  <a:pt x="127000" y="0"/>
                </a:moveTo>
                <a:lnTo>
                  <a:pt x="3429000" y="0"/>
                </a:lnTo>
                <a:cubicBezTo>
                  <a:pt x="3499142" y="0"/>
                  <a:pt x="3556000" y="56858"/>
                  <a:pt x="3556000" y="127000"/>
                </a:cubicBezTo>
                <a:lnTo>
                  <a:pt x="3556000" y="393700"/>
                </a:lnTo>
                <a:cubicBezTo>
                  <a:pt x="3556000" y="463842"/>
                  <a:pt x="3499142" y="520700"/>
                  <a:pt x="3429000" y="520700"/>
                </a:cubicBezTo>
                <a:lnTo>
                  <a:pt x="38100" y="520700"/>
                </a:lnTo>
                <a:cubicBezTo>
                  <a:pt x="17057" y="520700"/>
                  <a:pt x="0" y="503643"/>
                  <a:pt x="0" y="482600"/>
                </a:cubicBezTo>
                <a:lnTo>
                  <a:pt x="0" y="127000"/>
                </a:lnTo>
                <a:cubicBezTo>
                  <a:pt x="0" y="56858"/>
                  <a:pt x="56858" y="0"/>
                  <a:pt x="12700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 txBox="1"/>
          <p:nvPr/>
        </p:nvSpPr>
        <p:spPr>
          <a:xfrm>
            <a:off x="946150" y="3549650"/>
            <a:ext cx="34548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0C22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Done. Your next payment is due on the 15th, and I have sent you a confirmation.</a:t>
            </a:r>
            <a:endParaRPr lang="en-US" sz="1000" dirty="0"/>
          </a:p>
        </p:txBody>
      </p:sp>
      <p:pic>
        <p:nvPicPr>
          <p:cNvPr id="16" name="svgicon-14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150" y="4394200"/>
            <a:ext cx="152400" cy="1524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35050" y="4392255"/>
            <a:ext cx="2778998" cy="1447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52E0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Resolved in chat; no transfer, no callback</a:t>
            </a:r>
            <a:endParaRPr lang="en-US" sz="950" dirty="0"/>
          </a:p>
        </p:txBody>
      </p:sp>
      <p:pic>
        <p:nvPicPr>
          <p:cNvPr id="18" name="svgicon-15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9150" y="4660900"/>
            <a:ext cx="139700" cy="1397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22350" y="4660285"/>
            <a:ext cx="263353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2F0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Updated in the loan platform and the CRM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6169025" y="1069975"/>
            <a:ext cx="2736850" cy="2038350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6350">
            <a:solidFill>
              <a:srgbClr val="0C2226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6330950" y="1219200"/>
            <a:ext cx="330200" cy="330200"/>
          </a:xfrm>
          <a:prstGeom prst="ellipse">
            <a:avLst/>
          </a:prstGeom>
          <a:solidFill>
            <a:srgbClr val="D2F0C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svgicon-16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78575" y="1266825"/>
            <a:ext cx="234950" cy="23495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750050" y="1291610"/>
            <a:ext cx="1062224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assist</a:t>
            </a:r>
            <a:endParaRPr lang="en-US" sz="1150" dirty="0"/>
          </a:p>
        </p:txBody>
      </p:sp>
      <p:sp>
        <p:nvSpPr>
          <p:cNvPr id="24" name="Text 17"/>
          <p:cNvSpPr txBox="1"/>
          <p:nvPr/>
        </p:nvSpPr>
        <p:spPr>
          <a:xfrm>
            <a:off x="6330950" y="1631950"/>
            <a:ext cx="2346500" cy="34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95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best step and wrap-up drafted for every contact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6330950" y="2311400"/>
            <a:ext cx="2413000" cy="266700"/>
          </a:xfrm>
          <a:prstGeom prst="roundRect">
            <a:avLst>
              <a:gd name="adj" fmla="val 23810"/>
            </a:avLst>
          </a:prstGeom>
          <a:solidFill>
            <a:srgbClr val="F6F3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svgicon-17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9850" y="2381250"/>
            <a:ext cx="127000" cy="1270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610350" y="2384425"/>
            <a:ext cx="103756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Offer fee refund</a:t>
            </a:r>
            <a:endParaRPr lang="en-US" sz="900" dirty="0"/>
          </a:p>
        </p:txBody>
      </p:sp>
      <p:sp>
        <p:nvSpPr>
          <p:cNvPr id="28" name="Text 20"/>
          <p:cNvSpPr txBox="1"/>
          <p:nvPr/>
        </p:nvSpPr>
        <p:spPr>
          <a:xfrm>
            <a:off x="8255695" y="2384425"/>
            <a:ext cx="50606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9A78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Eligible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6330950" y="2654300"/>
            <a:ext cx="2413000" cy="266700"/>
          </a:xfrm>
          <a:prstGeom prst="roundRect">
            <a:avLst>
              <a:gd name="adj" fmla="val 23810"/>
            </a:avLst>
          </a:prstGeom>
          <a:solidFill>
            <a:srgbClr val="F6F3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svgicon-18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9850" y="2724150"/>
            <a:ext cx="127000" cy="1270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610350" y="2727325"/>
            <a:ext cx="111685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drafted</a:t>
            </a:r>
            <a:endParaRPr lang="en-US" sz="900" dirty="0"/>
          </a:p>
        </p:txBody>
      </p:sp>
      <p:sp>
        <p:nvSpPr>
          <p:cNvPr id="32" name="Text 23"/>
          <p:cNvSpPr txBox="1"/>
          <p:nvPr/>
        </p:nvSpPr>
        <p:spPr>
          <a:xfrm>
            <a:off x="8257679" y="2727325"/>
            <a:ext cx="50380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9A78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Review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>
            <a:off x="9064625" y="1069975"/>
            <a:ext cx="2736850" cy="2038350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6350">
            <a:solidFill>
              <a:srgbClr val="0C2226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25"/>
          <p:cNvSpPr/>
          <p:nvPr/>
        </p:nvSpPr>
        <p:spPr>
          <a:xfrm>
            <a:off x="9226550" y="1219200"/>
            <a:ext cx="330200" cy="330200"/>
          </a:xfrm>
          <a:prstGeom prst="ellipse">
            <a:avLst/>
          </a:prstGeom>
          <a:solidFill>
            <a:srgbClr val="D2F0C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svgicon-19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74175" y="1266825"/>
            <a:ext cx="234950" cy="23495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9645650" y="1291610"/>
            <a:ext cx="969248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</a:t>
            </a:r>
            <a:endParaRPr lang="en-US" sz="1150" dirty="0"/>
          </a:p>
        </p:txBody>
      </p:sp>
      <p:sp>
        <p:nvSpPr>
          <p:cNvPr id="37" name="Text 27"/>
          <p:cNvSpPr txBox="1"/>
          <p:nvPr/>
        </p:nvSpPr>
        <p:spPr>
          <a:xfrm>
            <a:off x="9226550" y="1631950"/>
            <a:ext cx="2358676" cy="34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95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approved source for people and AI agents</a:t>
            </a:r>
            <a:endParaRPr lang="en-US" sz="950" dirty="0"/>
          </a:p>
        </p:txBody>
      </p:sp>
      <p:sp>
        <p:nvSpPr>
          <p:cNvPr id="38" name="Shape 28"/>
          <p:cNvSpPr/>
          <p:nvPr/>
        </p:nvSpPr>
        <p:spPr>
          <a:xfrm>
            <a:off x="9226550" y="2311400"/>
            <a:ext cx="2413000" cy="266700"/>
          </a:xfrm>
          <a:prstGeom prst="roundRect">
            <a:avLst>
              <a:gd name="adj" fmla="val 23810"/>
            </a:avLst>
          </a:prstGeom>
          <a:solidFill>
            <a:srgbClr val="F6F3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9" name="svgicon-20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15450" y="2381250"/>
            <a:ext cx="127000" cy="127000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9505950" y="2384425"/>
            <a:ext cx="124919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 servicing SOP</a:t>
            </a:r>
            <a:endParaRPr lang="en-US" sz="900" dirty="0"/>
          </a:p>
        </p:txBody>
      </p:sp>
      <p:sp>
        <p:nvSpPr>
          <p:cNvPr id="41" name="Text 30"/>
          <p:cNvSpPr txBox="1"/>
          <p:nvPr/>
        </p:nvSpPr>
        <p:spPr>
          <a:xfrm>
            <a:off x="11010602" y="2384425"/>
            <a:ext cx="66645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9A78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Approved</a:t>
            </a:r>
            <a:endParaRPr lang="en-US" sz="900" dirty="0"/>
          </a:p>
        </p:txBody>
      </p:sp>
      <p:sp>
        <p:nvSpPr>
          <p:cNvPr id="42" name="Shape 31"/>
          <p:cNvSpPr/>
          <p:nvPr/>
        </p:nvSpPr>
        <p:spPr>
          <a:xfrm>
            <a:off x="9226550" y="2654300"/>
            <a:ext cx="2413000" cy="266700"/>
          </a:xfrm>
          <a:prstGeom prst="roundRect">
            <a:avLst>
              <a:gd name="adj" fmla="val 23810"/>
            </a:avLst>
          </a:prstGeom>
          <a:solidFill>
            <a:srgbClr val="F6F3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3" name="svgicon-21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15450" y="2724150"/>
            <a:ext cx="127000" cy="127000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9505950" y="2727325"/>
            <a:ext cx="677313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 policy</a:t>
            </a:r>
            <a:endParaRPr lang="en-US" sz="900" dirty="0"/>
          </a:p>
        </p:txBody>
      </p:sp>
      <p:sp>
        <p:nvSpPr>
          <p:cNvPr id="45" name="Text 33"/>
          <p:cNvSpPr txBox="1"/>
          <p:nvPr/>
        </p:nvSpPr>
        <p:spPr>
          <a:xfrm>
            <a:off x="11010602" y="2727325"/>
            <a:ext cx="66645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9A78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Approved</a:t>
            </a:r>
            <a:endParaRPr lang="en-US" sz="900" dirty="0"/>
          </a:p>
        </p:txBody>
      </p:sp>
      <p:sp>
        <p:nvSpPr>
          <p:cNvPr id="46" name="Shape 34"/>
          <p:cNvSpPr/>
          <p:nvPr/>
        </p:nvSpPr>
        <p:spPr>
          <a:xfrm>
            <a:off x="6169025" y="3254375"/>
            <a:ext cx="2736850" cy="2038350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6350">
            <a:solidFill>
              <a:srgbClr val="0C2226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35"/>
          <p:cNvSpPr/>
          <p:nvPr/>
        </p:nvSpPr>
        <p:spPr>
          <a:xfrm>
            <a:off x="6330950" y="3403600"/>
            <a:ext cx="330200" cy="330200"/>
          </a:xfrm>
          <a:prstGeom prst="ellipse">
            <a:avLst/>
          </a:prstGeom>
          <a:solidFill>
            <a:srgbClr val="D2F0C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8" name="svgicon-22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78575" y="3451225"/>
            <a:ext cx="234950" cy="234950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6750050" y="3476010"/>
            <a:ext cx="769836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Disputes</a:t>
            </a:r>
            <a:endParaRPr lang="en-US" sz="1150" dirty="0"/>
          </a:p>
        </p:txBody>
      </p:sp>
      <p:sp>
        <p:nvSpPr>
          <p:cNvPr id="50" name="Text 37"/>
          <p:cNvSpPr txBox="1"/>
          <p:nvPr/>
        </p:nvSpPr>
        <p:spPr>
          <a:xfrm>
            <a:off x="6330950" y="3807936"/>
            <a:ext cx="2678444" cy="162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Deadlines tracked; letters go out on time</a:t>
            </a:r>
            <a:endParaRPr lang="en-US" sz="950" dirty="0"/>
          </a:p>
        </p:txBody>
      </p:sp>
      <p:sp>
        <p:nvSpPr>
          <p:cNvPr id="51" name="Shape 38"/>
          <p:cNvSpPr/>
          <p:nvPr/>
        </p:nvSpPr>
        <p:spPr>
          <a:xfrm>
            <a:off x="6546850" y="4645025"/>
            <a:ext cx="1981200" cy="6350"/>
          </a:xfrm>
          <a:custGeom>
            <a:avLst/>
            <a:gdLst/>
            <a:ahLst/>
            <a:cxnLst/>
            <a:rect l="l" t="t" r="r" b="b"/>
            <a:pathLst>
              <a:path w="1981200" h="6350">
                <a:moveTo>
                  <a:pt x="0" y="3175"/>
                </a:moveTo>
                <a:lnTo>
                  <a:pt x="1981200" y="3175"/>
                </a:lnTo>
              </a:path>
            </a:pathLst>
          </a:custGeom>
          <a:solidFill>
            <a:srgbClr val="000000"/>
          </a:solidFill>
          <a:ln w="19050">
            <a:solidFill>
              <a:srgbClr val="09A7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39"/>
          <p:cNvSpPr/>
          <p:nvPr/>
        </p:nvSpPr>
        <p:spPr>
          <a:xfrm>
            <a:off x="6464300" y="4565650"/>
            <a:ext cx="165100" cy="165100"/>
          </a:xfrm>
          <a:prstGeom prst="ellipse">
            <a:avLst/>
          </a:prstGeom>
          <a:solidFill>
            <a:srgbClr val="09A78D"/>
          </a:solidFill>
          <a:ln w="19050">
            <a:solidFill>
              <a:srgbClr val="09A7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40"/>
          <p:cNvSpPr/>
          <p:nvPr/>
        </p:nvSpPr>
        <p:spPr>
          <a:xfrm>
            <a:off x="7124700" y="4565650"/>
            <a:ext cx="165100" cy="165100"/>
          </a:xfrm>
          <a:prstGeom prst="ellipse">
            <a:avLst/>
          </a:prstGeom>
          <a:solidFill>
            <a:srgbClr val="09A78D"/>
          </a:solidFill>
          <a:ln w="19050">
            <a:solidFill>
              <a:srgbClr val="09A7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41"/>
          <p:cNvSpPr/>
          <p:nvPr/>
        </p:nvSpPr>
        <p:spPr>
          <a:xfrm>
            <a:off x="7785100" y="4565650"/>
            <a:ext cx="165100" cy="165100"/>
          </a:xfrm>
          <a:prstGeom prst="ellipse">
            <a:avLst/>
          </a:prstGeom>
          <a:solidFill>
            <a:srgbClr val="09A78D"/>
          </a:solidFill>
          <a:ln w="19050">
            <a:solidFill>
              <a:srgbClr val="09A7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42"/>
          <p:cNvSpPr/>
          <p:nvPr/>
        </p:nvSpPr>
        <p:spPr>
          <a:xfrm>
            <a:off x="8445500" y="4565650"/>
            <a:ext cx="165100" cy="1651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9A7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43"/>
          <p:cNvSpPr txBox="1"/>
          <p:nvPr/>
        </p:nvSpPr>
        <p:spPr>
          <a:xfrm>
            <a:off x="6334933" y="4785995"/>
            <a:ext cx="42383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Intake</a:t>
            </a:r>
            <a:endParaRPr lang="en-US" sz="900" dirty="0"/>
          </a:p>
        </p:txBody>
      </p:sp>
      <p:sp>
        <p:nvSpPr>
          <p:cNvPr id="57" name="Text 44"/>
          <p:cNvSpPr txBox="1"/>
          <p:nvPr/>
        </p:nvSpPr>
        <p:spPr>
          <a:xfrm>
            <a:off x="6846714" y="4785995"/>
            <a:ext cx="720973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</a:t>
            </a:r>
            <a:endParaRPr lang="en-US" sz="900" dirty="0"/>
          </a:p>
        </p:txBody>
      </p:sp>
      <p:sp>
        <p:nvSpPr>
          <p:cNvPr id="58" name="Text 45"/>
          <p:cNvSpPr txBox="1"/>
          <p:nvPr/>
        </p:nvSpPr>
        <p:spPr>
          <a:xfrm>
            <a:off x="7656192" y="4785995"/>
            <a:ext cx="42281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Credit</a:t>
            </a:r>
            <a:endParaRPr lang="en-US" sz="900" dirty="0"/>
          </a:p>
        </p:txBody>
      </p:sp>
      <p:sp>
        <p:nvSpPr>
          <p:cNvPr id="59" name="Text 46"/>
          <p:cNvSpPr txBox="1"/>
          <p:nvPr/>
        </p:nvSpPr>
        <p:spPr>
          <a:xfrm>
            <a:off x="8327790" y="4785995"/>
            <a:ext cx="400421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</a:t>
            </a:r>
            <a:endParaRPr lang="en-US" sz="900" dirty="0"/>
          </a:p>
        </p:txBody>
      </p:sp>
      <p:sp>
        <p:nvSpPr>
          <p:cNvPr id="60" name="Shape 47"/>
          <p:cNvSpPr/>
          <p:nvPr/>
        </p:nvSpPr>
        <p:spPr>
          <a:xfrm>
            <a:off x="9064625" y="3254375"/>
            <a:ext cx="2736850" cy="2038350"/>
          </a:xfrm>
          <a:prstGeom prst="roundRect">
            <a:avLst>
              <a:gd name="adj" fmla="val 4829"/>
            </a:avLst>
          </a:prstGeom>
          <a:solidFill>
            <a:srgbClr val="FFFFFF"/>
          </a:solidFill>
          <a:ln w="6350">
            <a:solidFill>
              <a:srgbClr val="0C2226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48"/>
          <p:cNvSpPr/>
          <p:nvPr/>
        </p:nvSpPr>
        <p:spPr>
          <a:xfrm>
            <a:off x="9226550" y="3403600"/>
            <a:ext cx="330200" cy="330200"/>
          </a:xfrm>
          <a:prstGeom prst="ellipse">
            <a:avLst/>
          </a:prstGeom>
          <a:solidFill>
            <a:srgbClr val="D2F0C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2" name="svgicon-23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74175" y="3451225"/>
            <a:ext cx="234950" cy="234950"/>
          </a:xfrm>
          <a:prstGeom prst="rect">
            <a:avLst/>
          </a:prstGeom>
        </p:spPr>
      </p:pic>
      <p:sp>
        <p:nvSpPr>
          <p:cNvPr id="63" name="Text 49"/>
          <p:cNvSpPr txBox="1"/>
          <p:nvPr/>
        </p:nvSpPr>
        <p:spPr>
          <a:xfrm>
            <a:off x="9645650" y="3476010"/>
            <a:ext cx="1576759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and insight</a:t>
            </a:r>
            <a:endParaRPr lang="en-US" sz="1150" dirty="0"/>
          </a:p>
        </p:txBody>
      </p:sp>
      <p:sp>
        <p:nvSpPr>
          <p:cNvPr id="64" name="Text 50"/>
          <p:cNvSpPr txBox="1"/>
          <p:nvPr/>
        </p:nvSpPr>
        <p:spPr>
          <a:xfrm>
            <a:off x="9226550" y="3816350"/>
            <a:ext cx="2188520" cy="34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95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contact reviewed; top reasons spotted early</a:t>
            </a:r>
            <a:endParaRPr lang="en-US" sz="950" dirty="0"/>
          </a:p>
        </p:txBody>
      </p:sp>
      <p:sp>
        <p:nvSpPr>
          <p:cNvPr id="65" name="Shape 51"/>
          <p:cNvSpPr/>
          <p:nvPr/>
        </p:nvSpPr>
        <p:spPr>
          <a:xfrm>
            <a:off x="9264650" y="5064125"/>
            <a:ext cx="2273300" cy="6350"/>
          </a:xfrm>
          <a:custGeom>
            <a:avLst/>
            <a:gdLst/>
            <a:ahLst/>
            <a:cxnLst/>
            <a:rect l="l" t="t" r="r" b="b"/>
            <a:pathLst>
              <a:path w="2273300" h="6350">
                <a:moveTo>
                  <a:pt x="0" y="3175"/>
                </a:moveTo>
                <a:lnTo>
                  <a:pt x="2273300" y="3175"/>
                </a:lnTo>
              </a:path>
            </a:pathLst>
          </a:custGeom>
          <a:solidFill>
            <a:srgbClr val="000000"/>
          </a:solidFill>
          <a:ln w="9525">
            <a:solidFill>
              <a:srgbClr val="33707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52"/>
          <p:cNvSpPr/>
          <p:nvPr/>
        </p:nvSpPr>
        <p:spPr>
          <a:xfrm>
            <a:off x="9315450" y="4394200"/>
            <a:ext cx="279400" cy="673100"/>
          </a:xfrm>
          <a:prstGeom prst="roundRect">
            <a:avLst>
              <a:gd name="adj" fmla="val 13636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Shape 53"/>
          <p:cNvSpPr/>
          <p:nvPr/>
        </p:nvSpPr>
        <p:spPr>
          <a:xfrm>
            <a:off x="9759950" y="4540250"/>
            <a:ext cx="279400" cy="527050"/>
          </a:xfrm>
          <a:prstGeom prst="roundRect">
            <a:avLst>
              <a:gd name="adj" fmla="val 13636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Shape 54"/>
          <p:cNvSpPr/>
          <p:nvPr/>
        </p:nvSpPr>
        <p:spPr>
          <a:xfrm>
            <a:off x="10204450" y="4641850"/>
            <a:ext cx="279400" cy="425450"/>
          </a:xfrm>
          <a:prstGeom prst="roundRect">
            <a:avLst>
              <a:gd name="adj" fmla="val 13636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55"/>
          <p:cNvSpPr/>
          <p:nvPr/>
        </p:nvSpPr>
        <p:spPr>
          <a:xfrm>
            <a:off x="10648950" y="4768850"/>
            <a:ext cx="279400" cy="298450"/>
          </a:xfrm>
          <a:prstGeom prst="roundRect">
            <a:avLst>
              <a:gd name="adj" fmla="val 13636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56"/>
          <p:cNvSpPr/>
          <p:nvPr/>
        </p:nvSpPr>
        <p:spPr>
          <a:xfrm>
            <a:off x="11093450" y="4864100"/>
            <a:ext cx="279400" cy="203200"/>
          </a:xfrm>
          <a:prstGeom prst="roundRect">
            <a:avLst>
              <a:gd name="adj" fmla="val 1875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57"/>
          <p:cNvSpPr/>
          <p:nvPr/>
        </p:nvSpPr>
        <p:spPr>
          <a:xfrm>
            <a:off x="374650" y="5537200"/>
            <a:ext cx="11436350" cy="508000"/>
          </a:xfrm>
          <a:prstGeom prst="roundRect">
            <a:avLst>
              <a:gd name="adj" fmla="val 17500"/>
            </a:avLst>
          </a:prstGeom>
          <a:solidFill>
            <a:srgbClr val="F6F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Shape 58"/>
          <p:cNvSpPr/>
          <p:nvPr/>
        </p:nvSpPr>
        <p:spPr>
          <a:xfrm>
            <a:off x="527050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3" name="svgicon-24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5150" y="5689501"/>
            <a:ext cx="203200" cy="203200"/>
          </a:xfrm>
          <a:prstGeom prst="rect">
            <a:avLst/>
          </a:prstGeom>
        </p:spPr>
      </p:pic>
      <p:sp>
        <p:nvSpPr>
          <p:cNvPr id="74" name="Text 59"/>
          <p:cNvSpPr txBox="1"/>
          <p:nvPr/>
        </p:nvSpPr>
        <p:spPr>
          <a:xfrm>
            <a:off x="882650" y="5640070"/>
            <a:ext cx="86269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IT FOR</a:t>
            </a:r>
            <a:endParaRPr lang="en-US" sz="900" dirty="0"/>
          </a:p>
        </p:txBody>
      </p:sp>
      <p:sp>
        <p:nvSpPr>
          <p:cNvPr id="75" name="Text 60"/>
          <p:cNvSpPr txBox="1"/>
          <p:nvPr/>
        </p:nvSpPr>
        <p:spPr>
          <a:xfrm>
            <a:off x="882650" y="5790525"/>
            <a:ext cx="234669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overview of a platform or portfolio</a:t>
            </a:r>
            <a:endParaRPr lang="en-US" sz="900" dirty="0"/>
          </a:p>
        </p:txBody>
      </p:sp>
      <p:sp>
        <p:nvSpPr>
          <p:cNvPr id="76" name="Shape 61"/>
          <p:cNvSpPr/>
          <p:nvPr/>
        </p:nvSpPr>
        <p:spPr>
          <a:xfrm>
            <a:off x="4288334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7" name="svgicon-25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26434" y="5689501"/>
            <a:ext cx="203200" cy="203200"/>
          </a:xfrm>
          <a:prstGeom prst="rect">
            <a:avLst/>
          </a:prstGeom>
        </p:spPr>
      </p:pic>
      <p:sp>
        <p:nvSpPr>
          <p:cNvPr id="78" name="Text 62"/>
          <p:cNvSpPr txBox="1"/>
          <p:nvPr/>
        </p:nvSpPr>
        <p:spPr>
          <a:xfrm>
            <a:off x="4643934" y="5640070"/>
            <a:ext cx="65435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MOTION</a:t>
            </a:r>
            <a:endParaRPr lang="en-US" sz="900" dirty="0"/>
          </a:p>
        </p:txBody>
      </p:sp>
      <p:sp>
        <p:nvSpPr>
          <p:cNvPr id="79" name="Text 63"/>
          <p:cNvSpPr txBox="1"/>
          <p:nvPr/>
        </p:nvSpPr>
        <p:spPr>
          <a:xfrm>
            <a:off x="4643934" y="5790525"/>
            <a:ext cx="191269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Static; the grid is the message</a:t>
            </a:r>
            <a:endParaRPr lang="en-US" sz="900" dirty="0"/>
          </a:p>
        </p:txBody>
      </p:sp>
      <p:sp>
        <p:nvSpPr>
          <p:cNvPr id="80" name="Shape 64"/>
          <p:cNvSpPr/>
          <p:nvPr/>
        </p:nvSpPr>
        <p:spPr>
          <a:xfrm>
            <a:off x="8049617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1" name="svgicon-26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087717" y="5689501"/>
            <a:ext cx="203200" cy="203200"/>
          </a:xfrm>
          <a:prstGeom prst="rect">
            <a:avLst/>
          </a:prstGeom>
        </p:spPr>
      </p:pic>
      <p:sp>
        <p:nvSpPr>
          <p:cNvPr id="82" name="Text 65"/>
          <p:cNvSpPr txBox="1"/>
          <p:nvPr/>
        </p:nvSpPr>
        <p:spPr>
          <a:xfrm>
            <a:off x="8405217" y="5640070"/>
            <a:ext cx="63354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SEEN IN</a:t>
            </a:r>
            <a:endParaRPr lang="en-US" sz="900" dirty="0"/>
          </a:p>
        </p:txBody>
      </p:sp>
      <p:sp>
        <p:nvSpPr>
          <p:cNvPr id="83" name="Text 66"/>
          <p:cNvSpPr txBox="1"/>
          <p:nvPr/>
        </p:nvSpPr>
        <p:spPr>
          <a:xfrm>
            <a:off x="8405217" y="5790525"/>
            <a:ext cx="2240258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pages of SaaS and AI firms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00050" y="203200"/>
            <a:ext cx="4323620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10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 2/12 | CONVERSATION AND ACTIONS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374650" y="328930"/>
            <a:ext cx="12171601" cy="4089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28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While the customer chats, the AI agent </a:t>
            </a:r>
            <a:r>
              <a:rPr lang="en-US" sz="2800" b="1" kern="0" spc="-28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does the work behind it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38175" y="1069975"/>
            <a:ext cx="4946650" cy="4337050"/>
          </a:xfrm>
          <a:prstGeom prst="roundRect">
            <a:avLst>
              <a:gd name="adj" fmla="val 2562"/>
            </a:avLst>
          </a:prstGeom>
          <a:solidFill>
            <a:srgbClr val="FFFFFF"/>
          </a:solidFill>
          <a:ln w="6350">
            <a:solidFill>
              <a:srgbClr val="0C2226">
                <a:alpha val="16000"/>
              </a:srgbClr>
            </a:solidFill>
            <a:prstDash val="solid"/>
          </a:ln>
          <a:effectLst>
            <a:outerShdw blurRad="279400" dist="114300" dir="5400000" algn="bl" rotWithShape="0">
              <a:srgbClr val="0C2226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35000" y="1066800"/>
            <a:ext cx="4953000" cy="304800"/>
          </a:xfrm>
          <a:custGeom>
            <a:avLst/>
            <a:gdLst/>
            <a:ahLst/>
            <a:cxnLst/>
            <a:rect l="l" t="t" r="r" b="b"/>
            <a:pathLst>
              <a:path w="4953000" h="304800">
                <a:moveTo>
                  <a:pt x="114300" y="0"/>
                </a:moveTo>
                <a:lnTo>
                  <a:pt x="4838700" y="0"/>
                </a:lnTo>
                <a:cubicBezTo>
                  <a:pt x="4901828" y="0"/>
                  <a:pt x="4953000" y="51172"/>
                  <a:pt x="4953000" y="114300"/>
                </a:cubicBezTo>
                <a:lnTo>
                  <a:pt x="4953000" y="304800"/>
                </a:lnTo>
                <a:cubicBezTo>
                  <a:pt x="4953000" y="304800"/>
                  <a:pt x="4953000" y="304800"/>
                  <a:pt x="4953000" y="304800"/>
                </a:cubicBezTo>
                <a:lnTo>
                  <a:pt x="0" y="304800"/>
                </a:lnTo>
                <a:cubicBezTo>
                  <a:pt x="0" y="304800"/>
                  <a:pt x="0" y="304800"/>
                  <a:pt x="0" y="304800"/>
                </a:cubicBezTo>
                <a:lnTo>
                  <a:pt x="0" y="114300"/>
                </a:lnTo>
                <a:cubicBezTo>
                  <a:pt x="0" y="51172"/>
                  <a:pt x="51172" y="0"/>
                  <a:pt x="114300" y="0"/>
                </a:cubicBezTo>
                <a:close/>
              </a:path>
            </a:pathLst>
          </a:custGeom>
          <a:solidFill>
            <a:srgbClr val="0C2226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635000" y="1365250"/>
            <a:ext cx="4953000" cy="6350"/>
          </a:xfrm>
          <a:prstGeom prst="rect">
            <a:avLst/>
          </a:prstGeom>
          <a:solidFill>
            <a:srgbClr val="0C22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774700" y="1181100"/>
            <a:ext cx="76200" cy="76200"/>
          </a:xfrm>
          <a:prstGeom prst="ellipse">
            <a:avLst/>
          </a:prstGeom>
          <a:solidFill>
            <a:srgbClr val="0C2226">
              <a:alpha val="1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901700" y="1181100"/>
            <a:ext cx="76200" cy="76200"/>
          </a:xfrm>
          <a:prstGeom prst="ellipse">
            <a:avLst/>
          </a:prstGeom>
          <a:solidFill>
            <a:srgbClr val="0C2226">
              <a:alpha val="1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028700" y="1181100"/>
            <a:ext cx="76200" cy="76200"/>
          </a:xfrm>
          <a:prstGeom prst="ellipse">
            <a:avLst/>
          </a:prstGeom>
          <a:solidFill>
            <a:srgbClr val="0C2226">
              <a:alpha val="1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1257300" y="1158875"/>
            <a:ext cx="977731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Customer chat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90575" y="4943475"/>
            <a:ext cx="4641850" cy="323850"/>
          </a:xfrm>
          <a:prstGeom prst="roundRect">
            <a:avLst>
              <a:gd name="adj" fmla="val 50000"/>
            </a:avLst>
          </a:prstGeom>
          <a:ln w="6350">
            <a:solidFill>
              <a:srgbClr val="0C2226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933450" y="5045075"/>
            <a:ext cx="105894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a message</a:t>
            </a:r>
            <a:endParaRPr lang="en-US" sz="900" dirty="0"/>
          </a:p>
        </p:txBody>
      </p:sp>
      <p:grpSp>
        <p:nvGrpSpPr>
          <p:cNvPr id="14" name="Step 1"/>
          <p:cNvGrpSpPr/>
          <p:nvPr/>
        </p:nvGrpSpPr>
        <p:grpSpPr>
          <a:xfrm>
            <a:off x="1841500" y="1524000"/>
            <a:ext cx="3648222" cy="342900"/>
            <a:chOff x="1841500" y="1524000"/>
            <a:chExt cx="3648222" cy="342900"/>
          </a:xfrm>
        </p:grpSpPr>
        <p:sp>
          <p:nvSpPr>
            <p:cNvPr id="15" name="Shape"/>
            <p:cNvSpPr/>
            <p:nvPr/>
          </p:nvSpPr>
          <p:spPr>
            <a:xfrm>
              <a:off x="1841500" y="1524000"/>
              <a:ext cx="3556000" cy="342900"/>
            </a:xfrm>
            <a:custGeom>
              <a:avLst/>
              <a:gdLst/>
              <a:ahLst/>
              <a:cxnLst/>
              <a:rect l="l" t="t" r="r" b="b"/>
              <a:pathLst>
                <a:path w="3556000" h="342900">
                  <a:moveTo>
                    <a:pt x="127000" y="0"/>
                  </a:moveTo>
                  <a:lnTo>
                    <a:pt x="3429000" y="0"/>
                  </a:lnTo>
                  <a:cubicBezTo>
                    <a:pt x="3499142" y="0"/>
                    <a:pt x="3556000" y="56858"/>
                    <a:pt x="3556000" y="127000"/>
                  </a:cubicBezTo>
                  <a:lnTo>
                    <a:pt x="3556000" y="304800"/>
                  </a:lnTo>
                  <a:cubicBezTo>
                    <a:pt x="3556000" y="325843"/>
                    <a:pt x="3538943" y="342900"/>
                    <a:pt x="3517900" y="342900"/>
                  </a:cubicBezTo>
                  <a:lnTo>
                    <a:pt x="127000" y="342900"/>
                  </a:lnTo>
                  <a:cubicBezTo>
                    <a:pt x="56858" y="342900"/>
                    <a:pt x="0" y="286042"/>
                    <a:pt x="0" y="215900"/>
                  </a:cubicBezTo>
                  <a:lnTo>
                    <a:pt x="0" y="127000"/>
                  </a:lnTo>
                  <a:cubicBezTo>
                    <a:pt x="0" y="56858"/>
                    <a:pt x="56858" y="0"/>
                    <a:pt x="127000" y="0"/>
                  </a:cubicBezTo>
                  <a:close/>
                </a:path>
              </a:pathLst>
            </a:custGeom>
            <a:solidFill>
              <a:srgbClr val="D2F0C6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"/>
            <p:cNvSpPr txBox="1"/>
            <p:nvPr/>
          </p:nvSpPr>
          <p:spPr>
            <a:xfrm>
              <a:off x="1968500" y="1606550"/>
              <a:ext cx="3521222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0C2226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 don't recognise an $84.20 charge from last night.</a:t>
              </a:r>
              <a:endParaRPr lang="en-US" sz="1000" dirty="0"/>
            </a:p>
          </p:txBody>
        </p:sp>
      </p:grpSp>
      <p:grpSp>
        <p:nvGrpSpPr>
          <p:cNvPr id="17" name="Step 2"/>
          <p:cNvGrpSpPr/>
          <p:nvPr/>
        </p:nvGrpSpPr>
        <p:grpSpPr>
          <a:xfrm>
            <a:off x="762000" y="1905000"/>
            <a:ext cx="11045825" cy="1025525"/>
            <a:chOff x="762000" y="1905000"/>
            <a:chExt cx="11045825" cy="1025525"/>
          </a:xfrm>
        </p:grpSpPr>
        <p:sp>
          <p:nvSpPr>
            <p:cNvPr id="18" name="Shape"/>
            <p:cNvSpPr/>
            <p:nvPr/>
          </p:nvSpPr>
          <p:spPr>
            <a:xfrm>
              <a:off x="762000" y="2362200"/>
              <a:ext cx="254000" cy="254000"/>
            </a:xfrm>
            <a:prstGeom prst="ellipse">
              <a:avLst/>
            </a:prstGeom>
            <a:solidFill>
              <a:srgbClr val="D2F0C6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9" name="svgicon-27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00100" y="2400300"/>
              <a:ext cx="177800" cy="177800"/>
            </a:xfrm>
            <a:prstGeom prst="rect">
              <a:avLst/>
            </a:prstGeom>
          </p:spPr>
        </p:pic>
        <p:sp>
          <p:nvSpPr>
            <p:cNvPr id="20" name="Shape"/>
            <p:cNvSpPr/>
            <p:nvPr/>
          </p:nvSpPr>
          <p:spPr>
            <a:xfrm>
              <a:off x="1092200" y="2095500"/>
              <a:ext cx="3810000" cy="520700"/>
            </a:xfrm>
            <a:custGeom>
              <a:avLst/>
              <a:gdLst/>
              <a:ahLst/>
              <a:cxnLst/>
              <a:rect l="l" t="t" r="r" b="b"/>
              <a:pathLst>
                <a:path w="3810000" h="520700">
                  <a:moveTo>
                    <a:pt x="127000" y="0"/>
                  </a:moveTo>
                  <a:lnTo>
                    <a:pt x="3683000" y="0"/>
                  </a:lnTo>
                  <a:cubicBezTo>
                    <a:pt x="3753142" y="0"/>
                    <a:pt x="3810000" y="56858"/>
                    <a:pt x="3810000" y="127000"/>
                  </a:cubicBezTo>
                  <a:lnTo>
                    <a:pt x="3810000" y="393700"/>
                  </a:lnTo>
                  <a:cubicBezTo>
                    <a:pt x="3810000" y="463842"/>
                    <a:pt x="3753142" y="520700"/>
                    <a:pt x="3683000" y="520700"/>
                  </a:cubicBezTo>
                  <a:lnTo>
                    <a:pt x="38100" y="520700"/>
                  </a:lnTo>
                  <a:cubicBezTo>
                    <a:pt x="17057" y="520700"/>
                    <a:pt x="0" y="503643"/>
                    <a:pt x="0" y="482600"/>
                  </a:cubicBezTo>
                  <a:lnTo>
                    <a:pt x="0" y="127000"/>
                  </a:lnTo>
                  <a:cubicBezTo>
                    <a:pt x="0" y="56858"/>
                    <a:pt x="56858" y="0"/>
                    <a:pt x="127000" y="0"/>
                  </a:cubicBezTo>
                  <a:close/>
                </a:path>
              </a:pathLst>
            </a:custGeom>
            <a:solidFill>
              <a:srgbClr val="F6F3F0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"/>
            <p:cNvSpPr txBox="1"/>
            <p:nvPr/>
          </p:nvSpPr>
          <p:spPr>
            <a:xfrm>
              <a:off x="1219200" y="2190750"/>
              <a:ext cx="3479498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000" dirty="0">
                  <a:solidFill>
                    <a:srgbClr val="0C2226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 can see it: Metro Fuel at 9:42 pm, on your card ending 4471. Was this you?</a:t>
              </a:r>
              <a:endParaRPr lang="en-US" sz="1000" dirty="0"/>
            </a:p>
          </p:txBody>
        </p:sp>
        <p:sp>
          <p:nvSpPr>
            <p:cNvPr id="22" name="Path"/>
            <p:cNvSpPr/>
            <p:nvPr/>
          </p:nvSpPr>
          <p:spPr>
            <a:xfrm>
              <a:off x="5016500" y="2359025"/>
              <a:ext cx="914400" cy="6350"/>
            </a:xfrm>
            <a:custGeom>
              <a:avLst/>
              <a:gdLst/>
              <a:ahLst/>
              <a:cxnLst/>
              <a:rect l="l" t="t" r="r" b="b"/>
              <a:pathLst>
                <a:path w="914400" h="6350">
                  <a:moveTo>
                    <a:pt x="0" y="3175"/>
                  </a:moveTo>
                  <a:lnTo>
                    <a:pt x="914400" y="3175"/>
                  </a:lnTo>
                </a:path>
              </a:pathLst>
            </a:custGeom>
            <a:solidFill>
              <a:srgbClr val="000000"/>
            </a:solidFill>
            <a:ln w="15875">
              <a:solidFill>
                <a:srgbClr val="09A78D"/>
              </a:solidFill>
              <a:prstDash val="dash"/>
              <a:tailEnd type="triangle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Path"/>
            <p:cNvSpPr/>
            <p:nvPr/>
          </p:nvSpPr>
          <p:spPr>
            <a:xfrm>
              <a:off x="6016625" y="1905000"/>
              <a:ext cx="6350" cy="965200"/>
            </a:xfrm>
            <a:custGeom>
              <a:avLst/>
              <a:gdLst/>
              <a:ahLst/>
              <a:cxnLst/>
              <a:rect l="l" t="t" r="r" b="b"/>
              <a:pathLst>
                <a:path w="6350" h="965200">
                  <a:moveTo>
                    <a:pt x="3175" y="0"/>
                  </a:moveTo>
                  <a:lnTo>
                    <a:pt x="3175" y="965200"/>
                  </a:lnTo>
                </a:path>
              </a:pathLst>
            </a:custGeom>
            <a:solidFill>
              <a:srgbClr val="000000"/>
            </a:solidFill>
            <a:ln w="15875">
              <a:solidFill>
                <a:srgbClr val="09A78D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Shape"/>
            <p:cNvSpPr/>
            <p:nvPr/>
          </p:nvSpPr>
          <p:spPr>
            <a:xfrm>
              <a:off x="6124575" y="1908175"/>
              <a:ext cx="5683250" cy="476250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6350">
              <a:solidFill>
                <a:srgbClr val="0C2226">
                  <a:alpha val="16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Shape"/>
            <p:cNvSpPr/>
            <p:nvPr/>
          </p:nvSpPr>
          <p:spPr>
            <a:xfrm>
              <a:off x="6229350" y="1993900"/>
              <a:ext cx="304800" cy="304800"/>
            </a:xfrm>
            <a:prstGeom prst="ellipse">
              <a:avLst/>
            </a:prstGeom>
            <a:solidFill>
              <a:srgbClr val="0C2226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26" name="svgicon-28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70625" y="2035175"/>
              <a:ext cx="222250" cy="222250"/>
            </a:xfrm>
            <a:prstGeom prst="rect">
              <a:avLst/>
            </a:prstGeom>
          </p:spPr>
        </p:pic>
        <p:sp>
          <p:nvSpPr>
            <p:cNvPr id="27" name="Text"/>
            <p:cNvSpPr txBox="1"/>
            <p:nvPr/>
          </p:nvSpPr>
          <p:spPr>
            <a:xfrm>
              <a:off x="6623050" y="1991380"/>
              <a:ext cx="1673241" cy="1600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19424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Found the transaction</a:t>
              </a:r>
              <a:endParaRPr lang="en-US" sz="1050" dirty="0"/>
            </a:p>
          </p:txBody>
        </p:sp>
        <p:sp>
          <p:nvSpPr>
            <p:cNvPr id="28" name="Text"/>
            <p:cNvSpPr txBox="1"/>
            <p:nvPr/>
          </p:nvSpPr>
          <p:spPr>
            <a:xfrm>
              <a:off x="6623050" y="2150685"/>
              <a:ext cx="894257" cy="1485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707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Card platform</a:t>
              </a:r>
              <a:endParaRPr lang="en-US" sz="900" dirty="0"/>
            </a:p>
          </p:txBody>
        </p:sp>
        <p:sp>
          <p:nvSpPr>
            <p:cNvPr id="29" name="Shape"/>
            <p:cNvSpPr/>
            <p:nvPr/>
          </p:nvSpPr>
          <p:spPr>
            <a:xfrm>
              <a:off x="6124575" y="2454275"/>
              <a:ext cx="5683250" cy="476250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6350">
              <a:solidFill>
                <a:srgbClr val="0C2226">
                  <a:alpha val="16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Shape"/>
            <p:cNvSpPr/>
            <p:nvPr/>
          </p:nvSpPr>
          <p:spPr>
            <a:xfrm>
              <a:off x="6229350" y="2540000"/>
              <a:ext cx="304800" cy="304800"/>
            </a:xfrm>
            <a:prstGeom prst="ellipse">
              <a:avLst/>
            </a:prstGeom>
            <a:solidFill>
              <a:srgbClr val="0C2226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31" name="svgicon-29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270625" y="2581275"/>
              <a:ext cx="222250" cy="222250"/>
            </a:xfrm>
            <a:prstGeom prst="rect">
              <a:avLst/>
            </a:prstGeom>
          </p:spPr>
        </p:pic>
        <p:sp>
          <p:nvSpPr>
            <p:cNvPr id="32" name="Text"/>
            <p:cNvSpPr txBox="1"/>
            <p:nvPr/>
          </p:nvSpPr>
          <p:spPr>
            <a:xfrm>
              <a:off x="6623050" y="2537480"/>
              <a:ext cx="1711811" cy="1600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19424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Checked fraud signals</a:t>
              </a:r>
              <a:endParaRPr lang="en-US" sz="1050" dirty="0"/>
            </a:p>
          </p:txBody>
        </p:sp>
        <p:sp>
          <p:nvSpPr>
            <p:cNvPr id="33" name="Text"/>
            <p:cNvSpPr txBox="1"/>
            <p:nvPr/>
          </p:nvSpPr>
          <p:spPr>
            <a:xfrm>
              <a:off x="6623050" y="2696785"/>
              <a:ext cx="760561" cy="1485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707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Risk engine</a:t>
              </a:r>
              <a:endParaRPr lang="en-US" sz="900" dirty="0"/>
            </a:p>
          </p:txBody>
        </p:sp>
      </p:grpSp>
      <p:grpSp>
        <p:nvGrpSpPr>
          <p:cNvPr id="34" name="Step 3"/>
          <p:cNvGrpSpPr/>
          <p:nvPr/>
        </p:nvGrpSpPr>
        <p:grpSpPr>
          <a:xfrm>
            <a:off x="3302000" y="2857500"/>
            <a:ext cx="2219764" cy="342900"/>
            <a:chOff x="3302000" y="2857500"/>
            <a:chExt cx="2219764" cy="342900"/>
          </a:xfrm>
        </p:grpSpPr>
        <p:sp>
          <p:nvSpPr>
            <p:cNvPr id="35" name="Shape"/>
            <p:cNvSpPr/>
            <p:nvPr/>
          </p:nvSpPr>
          <p:spPr>
            <a:xfrm>
              <a:off x="3302000" y="2857500"/>
              <a:ext cx="2095500" cy="342900"/>
            </a:xfrm>
            <a:custGeom>
              <a:avLst/>
              <a:gdLst/>
              <a:ahLst/>
              <a:cxnLst/>
              <a:rect l="l" t="t" r="r" b="b"/>
              <a:pathLst>
                <a:path w="2095500" h="342900">
                  <a:moveTo>
                    <a:pt x="127000" y="0"/>
                  </a:moveTo>
                  <a:lnTo>
                    <a:pt x="1968500" y="0"/>
                  </a:lnTo>
                  <a:cubicBezTo>
                    <a:pt x="2038642" y="0"/>
                    <a:pt x="2095500" y="56858"/>
                    <a:pt x="2095500" y="127000"/>
                  </a:cubicBezTo>
                  <a:lnTo>
                    <a:pt x="2095500" y="304800"/>
                  </a:lnTo>
                  <a:cubicBezTo>
                    <a:pt x="2095500" y="325843"/>
                    <a:pt x="2078443" y="342900"/>
                    <a:pt x="2057400" y="342900"/>
                  </a:cubicBezTo>
                  <a:lnTo>
                    <a:pt x="127000" y="342900"/>
                  </a:lnTo>
                  <a:cubicBezTo>
                    <a:pt x="56858" y="342900"/>
                    <a:pt x="0" y="286042"/>
                    <a:pt x="0" y="215900"/>
                  </a:cubicBezTo>
                  <a:lnTo>
                    <a:pt x="0" y="127000"/>
                  </a:lnTo>
                  <a:cubicBezTo>
                    <a:pt x="0" y="56858"/>
                    <a:pt x="56858" y="0"/>
                    <a:pt x="127000" y="0"/>
                  </a:cubicBezTo>
                  <a:close/>
                </a:path>
              </a:pathLst>
            </a:custGeom>
            <a:solidFill>
              <a:srgbClr val="D2F0C6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"/>
            <p:cNvSpPr txBox="1"/>
            <p:nvPr/>
          </p:nvSpPr>
          <p:spPr>
            <a:xfrm>
              <a:off x="3429000" y="2940050"/>
              <a:ext cx="2092764" cy="1778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0C2226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No, I was at home all evening.</a:t>
              </a:r>
              <a:endParaRPr lang="en-US" sz="1000" dirty="0"/>
            </a:p>
          </p:txBody>
        </p:sp>
      </p:grpSp>
      <p:grpSp>
        <p:nvGrpSpPr>
          <p:cNvPr id="37" name="Step 4"/>
          <p:cNvGrpSpPr/>
          <p:nvPr/>
        </p:nvGrpSpPr>
        <p:grpSpPr>
          <a:xfrm>
            <a:off x="762000" y="3302000"/>
            <a:ext cx="11045825" cy="1317625"/>
            <a:chOff x="762000" y="3302000"/>
            <a:chExt cx="11045825" cy="1317625"/>
          </a:xfrm>
        </p:grpSpPr>
        <p:sp>
          <p:nvSpPr>
            <p:cNvPr id="38" name="Shape"/>
            <p:cNvSpPr/>
            <p:nvPr/>
          </p:nvSpPr>
          <p:spPr>
            <a:xfrm>
              <a:off x="762000" y="3848100"/>
              <a:ext cx="254000" cy="254000"/>
            </a:xfrm>
            <a:prstGeom prst="ellipse">
              <a:avLst/>
            </a:prstGeom>
            <a:solidFill>
              <a:srgbClr val="D2F0C6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39" name="svgicon-30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00100" y="3886200"/>
              <a:ext cx="177800" cy="177800"/>
            </a:xfrm>
            <a:prstGeom prst="rect">
              <a:avLst/>
            </a:prstGeom>
          </p:spPr>
        </p:pic>
        <p:sp>
          <p:nvSpPr>
            <p:cNvPr id="40" name="Shape"/>
            <p:cNvSpPr/>
            <p:nvPr/>
          </p:nvSpPr>
          <p:spPr>
            <a:xfrm>
              <a:off x="1092200" y="3403600"/>
              <a:ext cx="4064000" cy="520700"/>
            </a:xfrm>
            <a:custGeom>
              <a:avLst/>
              <a:gdLst/>
              <a:ahLst/>
              <a:cxnLst/>
              <a:rect l="l" t="t" r="r" b="b"/>
              <a:pathLst>
                <a:path w="4064000" h="520700">
                  <a:moveTo>
                    <a:pt x="127000" y="0"/>
                  </a:moveTo>
                  <a:lnTo>
                    <a:pt x="3937000" y="0"/>
                  </a:lnTo>
                  <a:cubicBezTo>
                    <a:pt x="4007142" y="0"/>
                    <a:pt x="4064000" y="56858"/>
                    <a:pt x="4064000" y="127000"/>
                  </a:cubicBezTo>
                  <a:lnTo>
                    <a:pt x="4064000" y="393700"/>
                  </a:lnTo>
                  <a:cubicBezTo>
                    <a:pt x="4064000" y="463842"/>
                    <a:pt x="4007142" y="520700"/>
                    <a:pt x="3937000" y="520700"/>
                  </a:cubicBezTo>
                  <a:lnTo>
                    <a:pt x="38100" y="520700"/>
                  </a:lnTo>
                  <a:cubicBezTo>
                    <a:pt x="17057" y="520700"/>
                    <a:pt x="0" y="503643"/>
                    <a:pt x="0" y="482600"/>
                  </a:cubicBezTo>
                  <a:lnTo>
                    <a:pt x="0" y="127000"/>
                  </a:lnTo>
                  <a:cubicBezTo>
                    <a:pt x="0" y="56858"/>
                    <a:pt x="56858" y="0"/>
                    <a:pt x="127000" y="0"/>
                  </a:cubicBezTo>
                  <a:close/>
                </a:path>
              </a:pathLst>
            </a:custGeom>
            <a:solidFill>
              <a:srgbClr val="F6F3F0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"/>
            <p:cNvSpPr txBox="1"/>
            <p:nvPr/>
          </p:nvSpPr>
          <p:spPr>
            <a:xfrm>
              <a:off x="1219200" y="3498850"/>
              <a:ext cx="3944564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000" dirty="0">
                  <a:solidFill>
                    <a:srgbClr val="0C2226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 have blocked the card, opened a dispute and credited $84.20 while we look into it. A new card is on its way.</a:t>
              </a:r>
              <a:endParaRPr lang="en-US" sz="1000" dirty="0"/>
            </a:p>
          </p:txBody>
        </p:sp>
        <p:sp>
          <p:nvSpPr>
            <p:cNvPr id="42" name="Path"/>
            <p:cNvSpPr/>
            <p:nvPr/>
          </p:nvSpPr>
          <p:spPr>
            <a:xfrm>
              <a:off x="5270500" y="3756025"/>
              <a:ext cx="660400" cy="6350"/>
            </a:xfrm>
            <a:custGeom>
              <a:avLst/>
              <a:gdLst/>
              <a:ahLst/>
              <a:cxnLst/>
              <a:rect l="l" t="t" r="r" b="b"/>
              <a:pathLst>
                <a:path w="660400" h="6350">
                  <a:moveTo>
                    <a:pt x="0" y="3175"/>
                  </a:moveTo>
                  <a:lnTo>
                    <a:pt x="660400" y="3175"/>
                  </a:lnTo>
                </a:path>
              </a:pathLst>
            </a:custGeom>
            <a:solidFill>
              <a:srgbClr val="000000"/>
            </a:solidFill>
            <a:ln w="15875">
              <a:solidFill>
                <a:srgbClr val="09A78D"/>
              </a:solidFill>
              <a:prstDash val="dash"/>
              <a:tailEnd type="triangle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Path"/>
            <p:cNvSpPr/>
            <p:nvPr/>
          </p:nvSpPr>
          <p:spPr>
            <a:xfrm>
              <a:off x="6016625" y="3302000"/>
              <a:ext cx="6350" cy="965200"/>
            </a:xfrm>
            <a:custGeom>
              <a:avLst/>
              <a:gdLst/>
              <a:ahLst/>
              <a:cxnLst/>
              <a:rect l="l" t="t" r="r" b="b"/>
              <a:pathLst>
                <a:path w="6350" h="965200">
                  <a:moveTo>
                    <a:pt x="3175" y="0"/>
                  </a:moveTo>
                  <a:lnTo>
                    <a:pt x="3175" y="965200"/>
                  </a:lnTo>
                </a:path>
              </a:pathLst>
            </a:custGeom>
            <a:solidFill>
              <a:srgbClr val="000000"/>
            </a:solidFill>
            <a:ln w="15875">
              <a:solidFill>
                <a:srgbClr val="09A78D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Shape"/>
            <p:cNvSpPr/>
            <p:nvPr/>
          </p:nvSpPr>
          <p:spPr>
            <a:xfrm>
              <a:off x="1527175" y="4295775"/>
              <a:ext cx="3168650" cy="323850"/>
            </a:xfrm>
            <a:prstGeom prst="roundRect">
              <a:avLst>
                <a:gd name="adj" fmla="val 50000"/>
              </a:avLst>
            </a:prstGeom>
            <a:ln w="6350">
              <a:solidFill>
                <a:srgbClr val="09A78D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45" name="svgicon-31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71663" y="4387850"/>
              <a:ext cx="139700" cy="139700"/>
            </a:xfrm>
            <a:prstGeom prst="rect">
              <a:avLst/>
            </a:prstGeom>
          </p:spPr>
        </p:pic>
        <p:sp>
          <p:nvSpPr>
            <p:cNvPr id="46" name="Text"/>
            <p:cNvSpPr txBox="1"/>
            <p:nvPr/>
          </p:nvSpPr>
          <p:spPr>
            <a:xfrm>
              <a:off x="2074863" y="4397375"/>
              <a:ext cx="2645868" cy="114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09A78D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Dispute 48213 opened; new card ordered</a:t>
              </a:r>
              <a:endParaRPr lang="en-US" sz="900" dirty="0"/>
            </a:p>
          </p:txBody>
        </p:sp>
        <p:sp>
          <p:nvSpPr>
            <p:cNvPr id="47" name="Shape"/>
            <p:cNvSpPr/>
            <p:nvPr/>
          </p:nvSpPr>
          <p:spPr>
            <a:xfrm>
              <a:off x="6124575" y="3305175"/>
              <a:ext cx="5683250" cy="476250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6350">
              <a:solidFill>
                <a:srgbClr val="0C2226">
                  <a:alpha val="16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Shape"/>
            <p:cNvSpPr/>
            <p:nvPr/>
          </p:nvSpPr>
          <p:spPr>
            <a:xfrm>
              <a:off x="6229350" y="3390900"/>
              <a:ext cx="304800" cy="304800"/>
            </a:xfrm>
            <a:prstGeom prst="ellipse">
              <a:avLst/>
            </a:prstGeom>
            <a:solidFill>
              <a:srgbClr val="0C2226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49" name="svgicon-32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270625" y="3432175"/>
              <a:ext cx="222250" cy="222250"/>
            </a:xfrm>
            <a:prstGeom prst="rect">
              <a:avLst/>
            </a:prstGeom>
          </p:spPr>
        </p:pic>
        <p:sp>
          <p:nvSpPr>
            <p:cNvPr id="50" name="Text"/>
            <p:cNvSpPr txBox="1"/>
            <p:nvPr/>
          </p:nvSpPr>
          <p:spPr>
            <a:xfrm>
              <a:off x="6623050" y="3388380"/>
              <a:ext cx="2921968" cy="1600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19424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Blocked the card and opened a dispute</a:t>
              </a:r>
              <a:endParaRPr lang="en-US" sz="1050" dirty="0"/>
            </a:p>
          </p:txBody>
        </p:sp>
        <p:sp>
          <p:nvSpPr>
            <p:cNvPr id="51" name="Text"/>
            <p:cNvSpPr txBox="1"/>
            <p:nvPr/>
          </p:nvSpPr>
          <p:spPr>
            <a:xfrm>
              <a:off x="6623050" y="3547685"/>
              <a:ext cx="1970040" cy="1485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707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Card platform and case system</a:t>
              </a:r>
              <a:endParaRPr lang="en-US" sz="900" dirty="0"/>
            </a:p>
          </p:txBody>
        </p:sp>
        <p:sp>
          <p:nvSpPr>
            <p:cNvPr id="52" name="Shape"/>
            <p:cNvSpPr/>
            <p:nvPr/>
          </p:nvSpPr>
          <p:spPr>
            <a:xfrm>
              <a:off x="6124575" y="3851275"/>
              <a:ext cx="5683250" cy="476250"/>
            </a:xfrm>
            <a:prstGeom prst="roundRect">
              <a:avLst>
                <a:gd name="adj" fmla="val 18000"/>
              </a:avLst>
            </a:prstGeom>
            <a:solidFill>
              <a:srgbClr val="FFFFFF"/>
            </a:solidFill>
            <a:ln w="6350">
              <a:solidFill>
                <a:srgbClr val="0C2226">
                  <a:alpha val="16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Shape"/>
            <p:cNvSpPr/>
            <p:nvPr/>
          </p:nvSpPr>
          <p:spPr>
            <a:xfrm>
              <a:off x="6229350" y="3937000"/>
              <a:ext cx="304800" cy="304800"/>
            </a:xfrm>
            <a:prstGeom prst="ellipse">
              <a:avLst/>
            </a:prstGeom>
            <a:solidFill>
              <a:srgbClr val="0C2226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54" name="svgicon-33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70625" y="3978275"/>
              <a:ext cx="222250" cy="222250"/>
            </a:xfrm>
            <a:prstGeom prst="rect">
              <a:avLst/>
            </a:prstGeom>
          </p:spPr>
        </p:pic>
        <p:sp>
          <p:nvSpPr>
            <p:cNvPr id="55" name="Text"/>
            <p:cNvSpPr txBox="1"/>
            <p:nvPr/>
          </p:nvSpPr>
          <p:spPr>
            <a:xfrm>
              <a:off x="6623050" y="3934480"/>
              <a:ext cx="1992549" cy="1600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19424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Issued a provisional credit</a:t>
              </a:r>
              <a:endParaRPr lang="en-US" sz="1050" dirty="0"/>
            </a:p>
          </p:txBody>
        </p:sp>
        <p:sp>
          <p:nvSpPr>
            <p:cNvPr id="56" name="Text"/>
            <p:cNvSpPr txBox="1"/>
            <p:nvPr/>
          </p:nvSpPr>
          <p:spPr>
            <a:xfrm>
              <a:off x="6623050" y="4093785"/>
              <a:ext cx="2260618" cy="1485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707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Core banking; dispute deadlines set</a:t>
              </a:r>
              <a:endParaRPr lang="en-US" sz="900" dirty="0"/>
            </a:p>
          </p:txBody>
        </p:sp>
      </p:grpSp>
      <p:grpSp>
        <p:nvGrpSpPr>
          <p:cNvPr id="57" name="Step 5"/>
          <p:cNvGrpSpPr/>
          <p:nvPr/>
        </p:nvGrpSpPr>
        <p:grpSpPr>
          <a:xfrm>
            <a:off x="6124575" y="4587875"/>
            <a:ext cx="5683250" cy="476250"/>
            <a:chOff x="6124575" y="4587875"/>
            <a:chExt cx="5683250" cy="476250"/>
          </a:xfrm>
        </p:grpSpPr>
        <p:sp>
          <p:nvSpPr>
            <p:cNvPr id="58" name="Shape"/>
            <p:cNvSpPr/>
            <p:nvPr/>
          </p:nvSpPr>
          <p:spPr>
            <a:xfrm>
              <a:off x="6124575" y="4587875"/>
              <a:ext cx="5683250" cy="476250"/>
            </a:xfrm>
            <a:prstGeom prst="roundRect">
              <a:avLst>
                <a:gd name="adj" fmla="val 18000"/>
              </a:avLst>
            </a:prstGeom>
            <a:solidFill>
              <a:srgbClr val="D2F0C6"/>
            </a:solidFill>
            <a:ln w="6350">
              <a:solidFill>
                <a:srgbClr val="D2F0C6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Shape"/>
            <p:cNvSpPr/>
            <p:nvPr/>
          </p:nvSpPr>
          <p:spPr>
            <a:xfrm>
              <a:off x="6229350" y="4673600"/>
              <a:ext cx="304800" cy="304800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60" name="svgicon-34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270625" y="4714875"/>
              <a:ext cx="222250" cy="222250"/>
            </a:xfrm>
            <a:prstGeom prst="rect">
              <a:avLst/>
            </a:prstGeom>
          </p:spPr>
        </p:pic>
        <p:sp>
          <p:nvSpPr>
            <p:cNvPr id="61" name="Text"/>
            <p:cNvSpPr txBox="1"/>
            <p:nvPr/>
          </p:nvSpPr>
          <p:spPr>
            <a:xfrm>
              <a:off x="6623050" y="4671080"/>
              <a:ext cx="3686135" cy="1600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19424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 person reviews only above the auto-credit limit</a:t>
              </a:r>
              <a:endParaRPr lang="en-US" sz="1050" dirty="0"/>
            </a:p>
          </p:txBody>
        </p:sp>
        <p:sp>
          <p:nvSpPr>
            <p:cNvPr id="62" name="Text"/>
            <p:cNvSpPr txBox="1"/>
            <p:nvPr/>
          </p:nvSpPr>
          <p:spPr>
            <a:xfrm>
              <a:off x="6623050" y="4830385"/>
              <a:ext cx="2357326" cy="1485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707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Everything else completes in the chat</a:t>
              </a:r>
              <a:endParaRPr lang="en-US" sz="900" dirty="0"/>
            </a:p>
          </p:txBody>
        </p:sp>
      </p:grpSp>
      <p:sp>
        <p:nvSpPr>
          <p:cNvPr id="63" name="Text 47"/>
          <p:cNvSpPr txBox="1"/>
          <p:nvPr/>
        </p:nvSpPr>
        <p:spPr>
          <a:xfrm>
            <a:off x="6121400" y="1244600"/>
            <a:ext cx="2402570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14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BEHIND THE CONVERSATION</a:t>
            </a:r>
            <a:endParaRPr lang="en-US" sz="950" dirty="0"/>
          </a:p>
        </p:txBody>
      </p:sp>
      <p:sp>
        <p:nvSpPr>
          <p:cNvPr id="64" name="Text 48"/>
          <p:cNvSpPr txBox="1"/>
          <p:nvPr/>
        </p:nvSpPr>
        <p:spPr>
          <a:xfrm>
            <a:off x="6121400" y="1423353"/>
            <a:ext cx="3518847" cy="156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AI agent did, in the systems you already run</a:t>
            </a:r>
            <a:endParaRPr lang="en-US" sz="950" dirty="0"/>
          </a:p>
        </p:txBody>
      </p:sp>
      <p:sp>
        <p:nvSpPr>
          <p:cNvPr id="65" name="Shape 49"/>
          <p:cNvSpPr/>
          <p:nvPr/>
        </p:nvSpPr>
        <p:spPr>
          <a:xfrm>
            <a:off x="374650" y="5537200"/>
            <a:ext cx="11436350" cy="508000"/>
          </a:xfrm>
          <a:prstGeom prst="roundRect">
            <a:avLst>
              <a:gd name="adj" fmla="val 17500"/>
            </a:avLst>
          </a:prstGeom>
          <a:solidFill>
            <a:srgbClr val="F6F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50"/>
          <p:cNvSpPr/>
          <p:nvPr/>
        </p:nvSpPr>
        <p:spPr>
          <a:xfrm>
            <a:off x="527050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7" name="svgicon-35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150" y="5689501"/>
            <a:ext cx="203200" cy="203200"/>
          </a:xfrm>
          <a:prstGeom prst="rect">
            <a:avLst/>
          </a:prstGeom>
        </p:spPr>
      </p:pic>
      <p:sp>
        <p:nvSpPr>
          <p:cNvPr id="68" name="Text 51"/>
          <p:cNvSpPr txBox="1"/>
          <p:nvPr/>
        </p:nvSpPr>
        <p:spPr>
          <a:xfrm>
            <a:off x="882650" y="5640070"/>
            <a:ext cx="86269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IT FOR</a:t>
            </a:r>
            <a:endParaRPr lang="en-US" sz="900" dirty="0"/>
          </a:p>
        </p:txBody>
      </p:sp>
      <p:sp>
        <p:nvSpPr>
          <p:cNvPr id="69" name="Text 52"/>
          <p:cNvSpPr txBox="1"/>
          <p:nvPr/>
        </p:nvSpPr>
        <p:spPr>
          <a:xfrm>
            <a:off x="882650" y="5790525"/>
            <a:ext cx="2262201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AI does during one interaction</a:t>
            </a:r>
            <a:endParaRPr lang="en-US" sz="900" dirty="0"/>
          </a:p>
        </p:txBody>
      </p:sp>
      <p:sp>
        <p:nvSpPr>
          <p:cNvPr id="70" name="Shape 53"/>
          <p:cNvSpPr/>
          <p:nvPr/>
        </p:nvSpPr>
        <p:spPr>
          <a:xfrm>
            <a:off x="4288334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1" name="svgicon-36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26434" y="5689501"/>
            <a:ext cx="203200" cy="203200"/>
          </a:xfrm>
          <a:prstGeom prst="rect">
            <a:avLst/>
          </a:prstGeom>
        </p:spPr>
      </p:pic>
      <p:sp>
        <p:nvSpPr>
          <p:cNvPr id="72" name="Text 54"/>
          <p:cNvSpPr txBox="1"/>
          <p:nvPr/>
        </p:nvSpPr>
        <p:spPr>
          <a:xfrm>
            <a:off x="4643934" y="5640070"/>
            <a:ext cx="65435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MOTION</a:t>
            </a:r>
            <a:endParaRPr lang="en-US" sz="900" dirty="0"/>
          </a:p>
        </p:txBody>
      </p:sp>
      <p:sp>
        <p:nvSpPr>
          <p:cNvPr id="73" name="Text 55"/>
          <p:cNvSpPr txBox="1"/>
          <p:nvPr/>
        </p:nvSpPr>
        <p:spPr>
          <a:xfrm>
            <a:off x="4643934" y="5790525"/>
            <a:ext cx="179867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message by message</a:t>
            </a:r>
            <a:endParaRPr lang="en-US" sz="900" dirty="0"/>
          </a:p>
        </p:txBody>
      </p:sp>
      <p:sp>
        <p:nvSpPr>
          <p:cNvPr id="74" name="Shape 56"/>
          <p:cNvSpPr/>
          <p:nvPr/>
        </p:nvSpPr>
        <p:spPr>
          <a:xfrm>
            <a:off x="8049617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5" name="svgicon-37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87717" y="5689501"/>
            <a:ext cx="203200" cy="203200"/>
          </a:xfrm>
          <a:prstGeom prst="rect">
            <a:avLst/>
          </a:prstGeom>
        </p:spPr>
      </p:pic>
      <p:sp>
        <p:nvSpPr>
          <p:cNvPr id="76" name="Text 57"/>
          <p:cNvSpPr txBox="1"/>
          <p:nvPr/>
        </p:nvSpPr>
        <p:spPr>
          <a:xfrm>
            <a:off x="8405217" y="5640070"/>
            <a:ext cx="63354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SEEN IN</a:t>
            </a:r>
            <a:endParaRPr lang="en-US" sz="900" dirty="0"/>
          </a:p>
        </p:txBody>
      </p:sp>
      <p:sp>
        <p:nvSpPr>
          <p:cNvPr id="77" name="Text 58"/>
          <p:cNvSpPr txBox="1"/>
          <p:nvPr/>
        </p:nvSpPr>
        <p:spPr>
          <a:xfrm>
            <a:off x="8405217" y="5790525"/>
            <a:ext cx="2211981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 product pages and demos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7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4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1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8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00050" y="203200"/>
            <a:ext cx="2737487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10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 3/12 | AGENT TRACE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374650" y="328930"/>
            <a:ext cx="10480050" cy="4089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28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AI decision leaves </a:t>
            </a:r>
            <a:r>
              <a:rPr lang="en-US" sz="2800" b="1" kern="0" spc="-28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trace a supervisor can read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7825" y="1069975"/>
            <a:ext cx="7175500" cy="4337050"/>
          </a:xfrm>
          <a:prstGeom prst="roundRect">
            <a:avLst>
              <a:gd name="adj" fmla="val 2269"/>
            </a:avLst>
          </a:prstGeom>
          <a:solidFill>
            <a:srgbClr val="FFFFFF"/>
          </a:solidFill>
          <a:ln w="6350">
            <a:solidFill>
              <a:srgbClr val="0C2226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374650" y="1066800"/>
            <a:ext cx="7181850" cy="431800"/>
          </a:xfrm>
          <a:custGeom>
            <a:avLst/>
            <a:gdLst/>
            <a:ahLst/>
            <a:cxnLst/>
            <a:rect l="l" t="t" r="r" b="b"/>
            <a:pathLst>
              <a:path w="7181850" h="431800">
                <a:moveTo>
                  <a:pt x="101600" y="0"/>
                </a:moveTo>
                <a:lnTo>
                  <a:pt x="7080250" y="0"/>
                </a:lnTo>
                <a:cubicBezTo>
                  <a:pt x="7136364" y="0"/>
                  <a:pt x="7181850" y="45486"/>
                  <a:pt x="7181850" y="101600"/>
                </a:cubicBezTo>
                <a:lnTo>
                  <a:pt x="7181850" y="431800"/>
                </a:lnTo>
                <a:cubicBezTo>
                  <a:pt x="7181850" y="431800"/>
                  <a:pt x="7181850" y="431800"/>
                  <a:pt x="7181850" y="431800"/>
                </a:cubicBezTo>
                <a:lnTo>
                  <a:pt x="0" y="431800"/>
                </a:lnTo>
                <a:cubicBezTo>
                  <a:pt x="0" y="431800"/>
                  <a:pt x="0" y="431800"/>
                  <a:pt x="0" y="431800"/>
                </a:cubicBezTo>
                <a:lnTo>
                  <a:pt x="0" y="101600"/>
                </a:lnTo>
                <a:cubicBezTo>
                  <a:pt x="0" y="45486"/>
                  <a:pt x="45486" y="0"/>
                  <a:pt x="101600" y="0"/>
                </a:cubicBezTo>
                <a:close/>
              </a:path>
            </a:pathLst>
          </a:custGeom>
          <a:solidFill>
            <a:srgbClr val="F6F3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svgicon-38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7850" y="1193800"/>
            <a:ext cx="177800" cy="1778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44550" y="1202095"/>
            <a:ext cx="471793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1302742" y="1207115"/>
            <a:ext cx="1618948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 dispute, case 48213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6809879" y="1222375"/>
            <a:ext cx="670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min 52 s</a:t>
            </a:r>
            <a:endParaRPr lang="en-US" sz="900" dirty="0"/>
          </a:p>
        </p:txBody>
      </p:sp>
      <p:pic>
        <p:nvPicPr>
          <p:cNvPr id="11" name="svgicon-39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9379" y="1212850"/>
            <a:ext cx="139700" cy="1397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304925" y="1854200"/>
            <a:ext cx="6350" cy="2984500"/>
          </a:xfrm>
          <a:custGeom>
            <a:avLst/>
            <a:gdLst/>
            <a:ahLst/>
            <a:cxnLst/>
            <a:rect l="l" t="t" r="r" b="b"/>
            <a:pathLst>
              <a:path w="6350" h="2984500">
                <a:moveTo>
                  <a:pt x="3175" y="0"/>
                </a:moveTo>
                <a:lnTo>
                  <a:pt x="3175" y="2984500"/>
                </a:lnTo>
              </a:path>
            </a:pathLst>
          </a:custGeom>
          <a:solidFill>
            <a:srgbClr val="000000"/>
          </a:solidFill>
          <a:ln w="15875">
            <a:solidFill>
              <a:srgbClr val="09A78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13" name="Step 1"/>
          <p:cNvGrpSpPr/>
          <p:nvPr/>
        </p:nvGrpSpPr>
        <p:grpSpPr>
          <a:xfrm>
            <a:off x="533400" y="1675765"/>
            <a:ext cx="6769100" cy="333296"/>
            <a:chOff x="533400" y="1675765"/>
            <a:chExt cx="6769100" cy="333296"/>
          </a:xfrm>
        </p:grpSpPr>
        <p:sp>
          <p:nvSpPr>
            <p:cNvPr id="14" name="Text"/>
            <p:cNvSpPr txBox="1"/>
            <p:nvPr/>
          </p:nvSpPr>
          <p:spPr>
            <a:xfrm>
              <a:off x="533400" y="1774825"/>
              <a:ext cx="405398" cy="114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7077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00:01</a:t>
              </a:r>
              <a:endParaRPr lang="en-US" sz="900" dirty="0"/>
            </a:p>
          </p:txBody>
        </p:sp>
        <p:sp>
          <p:nvSpPr>
            <p:cNvPr id="15" name="Shape"/>
            <p:cNvSpPr/>
            <p:nvPr/>
          </p:nvSpPr>
          <p:spPr>
            <a:xfrm>
              <a:off x="1155700" y="1701800"/>
              <a:ext cx="304800" cy="304800"/>
            </a:xfrm>
            <a:prstGeom prst="ellipse">
              <a:avLst/>
            </a:prstGeom>
            <a:solidFill>
              <a:srgbClr val="D2F0C6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16" name="svgicon-40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00150" y="1746250"/>
              <a:ext cx="215900" cy="215900"/>
            </a:xfrm>
            <a:prstGeom prst="rect">
              <a:avLst/>
            </a:prstGeom>
          </p:spPr>
        </p:pic>
        <p:sp>
          <p:nvSpPr>
            <p:cNvPr id="17" name="Text"/>
            <p:cNvSpPr txBox="1"/>
            <p:nvPr/>
          </p:nvSpPr>
          <p:spPr>
            <a:xfrm>
              <a:off x="1600200" y="1675765"/>
              <a:ext cx="1810556" cy="1600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19424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Understood the request</a:t>
              </a:r>
              <a:endParaRPr lang="en-US" sz="1050" dirty="0"/>
            </a:p>
          </p:txBody>
        </p:sp>
        <p:sp>
          <p:nvSpPr>
            <p:cNvPr id="18" name="Text"/>
            <p:cNvSpPr txBox="1"/>
            <p:nvPr/>
          </p:nvSpPr>
          <p:spPr>
            <a:xfrm>
              <a:off x="1600200" y="1860471"/>
              <a:ext cx="2848674" cy="1485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707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Unrecognised card charge; intent is a dispute</a:t>
              </a:r>
              <a:endParaRPr lang="en-US" sz="900" dirty="0"/>
            </a:p>
          </p:txBody>
        </p:sp>
        <p:sp>
          <p:nvSpPr>
            <p:cNvPr id="19" name="Text"/>
            <p:cNvSpPr txBox="1"/>
            <p:nvPr/>
          </p:nvSpPr>
          <p:spPr>
            <a:xfrm>
              <a:off x="6589218" y="1774825"/>
              <a:ext cx="713282" cy="114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09A78D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Reasoning</a:t>
              </a:r>
              <a:endParaRPr lang="en-US" sz="900" dirty="0"/>
            </a:p>
          </p:txBody>
        </p:sp>
      </p:grpSp>
      <p:grpSp>
        <p:nvGrpSpPr>
          <p:cNvPr id="20" name="Step 2"/>
          <p:cNvGrpSpPr/>
          <p:nvPr/>
        </p:nvGrpSpPr>
        <p:grpSpPr>
          <a:xfrm>
            <a:off x="533400" y="2272665"/>
            <a:ext cx="6769100" cy="333296"/>
            <a:chOff x="533400" y="2272665"/>
            <a:chExt cx="6769100" cy="333296"/>
          </a:xfrm>
        </p:grpSpPr>
        <p:sp>
          <p:nvSpPr>
            <p:cNvPr id="21" name="Text"/>
            <p:cNvSpPr txBox="1"/>
            <p:nvPr/>
          </p:nvSpPr>
          <p:spPr>
            <a:xfrm>
              <a:off x="533400" y="2371725"/>
              <a:ext cx="433223" cy="114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7077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00:03</a:t>
              </a:r>
              <a:endParaRPr lang="en-US" sz="900" dirty="0"/>
            </a:p>
          </p:txBody>
        </p:sp>
        <p:sp>
          <p:nvSpPr>
            <p:cNvPr id="22" name="Shape"/>
            <p:cNvSpPr/>
            <p:nvPr/>
          </p:nvSpPr>
          <p:spPr>
            <a:xfrm>
              <a:off x="1155700" y="2298700"/>
              <a:ext cx="304800" cy="304800"/>
            </a:xfrm>
            <a:prstGeom prst="ellipse">
              <a:avLst/>
            </a:prstGeom>
            <a:solidFill>
              <a:srgbClr val="D2F0C6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23" name="svgicon-41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00150" y="2343150"/>
              <a:ext cx="215900" cy="215900"/>
            </a:xfrm>
            <a:prstGeom prst="rect">
              <a:avLst/>
            </a:prstGeom>
          </p:spPr>
        </p:pic>
        <p:sp>
          <p:nvSpPr>
            <p:cNvPr id="24" name="Text"/>
            <p:cNvSpPr txBox="1"/>
            <p:nvPr/>
          </p:nvSpPr>
          <p:spPr>
            <a:xfrm>
              <a:off x="1600200" y="2272665"/>
              <a:ext cx="1980107" cy="1600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19424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Looked up the transaction</a:t>
              </a:r>
              <a:endParaRPr lang="en-US" sz="1050" dirty="0"/>
            </a:p>
          </p:txBody>
        </p:sp>
        <p:sp>
          <p:nvSpPr>
            <p:cNvPr id="25" name="Text"/>
            <p:cNvSpPr txBox="1"/>
            <p:nvPr/>
          </p:nvSpPr>
          <p:spPr>
            <a:xfrm>
              <a:off x="1600200" y="2457371"/>
              <a:ext cx="2462292" cy="1485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707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Card platform; one match at Metro Fuel</a:t>
              </a:r>
              <a:endParaRPr lang="en-US" sz="900" dirty="0"/>
            </a:p>
          </p:txBody>
        </p:sp>
        <p:sp>
          <p:nvSpPr>
            <p:cNvPr id="26" name="Text"/>
            <p:cNvSpPr txBox="1"/>
            <p:nvPr/>
          </p:nvSpPr>
          <p:spPr>
            <a:xfrm>
              <a:off x="6730040" y="2371725"/>
              <a:ext cx="572460" cy="114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09A78D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Tool call</a:t>
              </a:r>
              <a:endParaRPr lang="en-US" sz="900" dirty="0"/>
            </a:p>
          </p:txBody>
        </p:sp>
      </p:grpSp>
      <p:grpSp>
        <p:nvGrpSpPr>
          <p:cNvPr id="27" name="Step 3"/>
          <p:cNvGrpSpPr/>
          <p:nvPr/>
        </p:nvGrpSpPr>
        <p:grpSpPr>
          <a:xfrm>
            <a:off x="533400" y="2869565"/>
            <a:ext cx="6769100" cy="333296"/>
            <a:chOff x="533400" y="2869565"/>
            <a:chExt cx="6769100" cy="333296"/>
          </a:xfrm>
        </p:grpSpPr>
        <p:sp>
          <p:nvSpPr>
            <p:cNvPr id="28" name="Text"/>
            <p:cNvSpPr txBox="1"/>
            <p:nvPr/>
          </p:nvSpPr>
          <p:spPr>
            <a:xfrm>
              <a:off x="533400" y="2968625"/>
              <a:ext cx="432205" cy="114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7077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00:05</a:t>
              </a:r>
              <a:endParaRPr lang="en-US" sz="900" dirty="0"/>
            </a:p>
          </p:txBody>
        </p:sp>
        <p:sp>
          <p:nvSpPr>
            <p:cNvPr id="29" name="Shape"/>
            <p:cNvSpPr/>
            <p:nvPr/>
          </p:nvSpPr>
          <p:spPr>
            <a:xfrm>
              <a:off x="1155700" y="2895600"/>
              <a:ext cx="304800" cy="304800"/>
            </a:xfrm>
            <a:prstGeom prst="ellipse">
              <a:avLst/>
            </a:prstGeom>
            <a:solidFill>
              <a:srgbClr val="D2F0C6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30" name="svgicon-42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00150" y="2940050"/>
              <a:ext cx="215900" cy="215900"/>
            </a:xfrm>
            <a:prstGeom prst="rect">
              <a:avLst/>
            </a:prstGeom>
          </p:spPr>
        </p:pic>
        <p:sp>
          <p:nvSpPr>
            <p:cNvPr id="31" name="Text"/>
            <p:cNvSpPr txBox="1"/>
            <p:nvPr/>
          </p:nvSpPr>
          <p:spPr>
            <a:xfrm>
              <a:off x="1600200" y="2869565"/>
              <a:ext cx="2065391" cy="1600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19424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Checked the dispute policy</a:t>
              </a:r>
              <a:endParaRPr lang="en-US" sz="1050" dirty="0"/>
            </a:p>
          </p:txBody>
        </p:sp>
        <p:sp>
          <p:nvSpPr>
            <p:cNvPr id="32" name="Text"/>
            <p:cNvSpPr txBox="1"/>
            <p:nvPr/>
          </p:nvSpPr>
          <p:spPr>
            <a:xfrm>
              <a:off x="1600200" y="3054271"/>
              <a:ext cx="2431187" cy="1485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707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Policy v12, section 3: provisional credit</a:t>
              </a:r>
              <a:endParaRPr lang="en-US" sz="900" dirty="0"/>
            </a:p>
          </p:txBody>
        </p:sp>
        <p:sp>
          <p:nvSpPr>
            <p:cNvPr id="33" name="Text"/>
            <p:cNvSpPr txBox="1"/>
            <p:nvPr/>
          </p:nvSpPr>
          <p:spPr>
            <a:xfrm>
              <a:off x="6542504" y="2968625"/>
              <a:ext cx="759996" cy="114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09A78D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Knowledge</a:t>
              </a:r>
              <a:endParaRPr lang="en-US" sz="900" dirty="0"/>
            </a:p>
          </p:txBody>
        </p:sp>
      </p:grpSp>
      <p:grpSp>
        <p:nvGrpSpPr>
          <p:cNvPr id="34" name="Step 4"/>
          <p:cNvGrpSpPr/>
          <p:nvPr/>
        </p:nvGrpSpPr>
        <p:grpSpPr>
          <a:xfrm>
            <a:off x="533400" y="3466465"/>
            <a:ext cx="6769100" cy="333296"/>
            <a:chOff x="533400" y="3466465"/>
            <a:chExt cx="6769100" cy="333296"/>
          </a:xfrm>
        </p:grpSpPr>
        <p:sp>
          <p:nvSpPr>
            <p:cNvPr id="35" name="Text"/>
            <p:cNvSpPr txBox="1"/>
            <p:nvPr/>
          </p:nvSpPr>
          <p:spPr>
            <a:xfrm>
              <a:off x="533400" y="3565525"/>
              <a:ext cx="433675" cy="114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7077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00:08</a:t>
              </a:r>
              <a:endParaRPr lang="en-US" sz="900" dirty="0"/>
            </a:p>
          </p:txBody>
        </p:sp>
        <p:sp>
          <p:nvSpPr>
            <p:cNvPr id="36" name="Shape"/>
            <p:cNvSpPr/>
            <p:nvPr/>
          </p:nvSpPr>
          <p:spPr>
            <a:xfrm>
              <a:off x="1155700" y="3492500"/>
              <a:ext cx="304800" cy="304800"/>
            </a:xfrm>
            <a:prstGeom prst="ellipse">
              <a:avLst/>
            </a:prstGeom>
            <a:solidFill>
              <a:srgbClr val="D2F0C6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37" name="svgicon-43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00150" y="3536950"/>
              <a:ext cx="215900" cy="215900"/>
            </a:xfrm>
            <a:prstGeom prst="rect">
              <a:avLst/>
            </a:prstGeom>
          </p:spPr>
        </p:pic>
        <p:sp>
          <p:nvSpPr>
            <p:cNvPr id="38" name="Text"/>
            <p:cNvSpPr txBox="1"/>
            <p:nvPr/>
          </p:nvSpPr>
          <p:spPr>
            <a:xfrm>
              <a:off x="1600200" y="3466465"/>
              <a:ext cx="1326221" cy="1600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19424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Scored fraud risk</a:t>
              </a:r>
              <a:endParaRPr lang="en-US" sz="1050" dirty="0"/>
            </a:p>
          </p:txBody>
        </p:sp>
        <p:sp>
          <p:nvSpPr>
            <p:cNvPr id="39" name="Text"/>
            <p:cNvSpPr txBox="1"/>
            <p:nvPr/>
          </p:nvSpPr>
          <p:spPr>
            <a:xfrm>
              <a:off x="1600200" y="3651171"/>
              <a:ext cx="1976713" cy="1485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707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Risk engine: high; card blocked</a:t>
              </a:r>
              <a:endParaRPr lang="en-US" sz="900" dirty="0"/>
            </a:p>
          </p:txBody>
        </p:sp>
        <p:sp>
          <p:nvSpPr>
            <p:cNvPr id="40" name="Text"/>
            <p:cNvSpPr txBox="1"/>
            <p:nvPr/>
          </p:nvSpPr>
          <p:spPr>
            <a:xfrm>
              <a:off x="6730040" y="3565525"/>
              <a:ext cx="572460" cy="114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09A78D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Tool call</a:t>
              </a:r>
              <a:endParaRPr lang="en-US" sz="900" dirty="0"/>
            </a:p>
          </p:txBody>
        </p:sp>
      </p:grpSp>
      <p:grpSp>
        <p:nvGrpSpPr>
          <p:cNvPr id="41" name="Step 5"/>
          <p:cNvGrpSpPr/>
          <p:nvPr/>
        </p:nvGrpSpPr>
        <p:grpSpPr>
          <a:xfrm>
            <a:off x="501650" y="4000500"/>
            <a:ext cx="6927850" cy="520700"/>
            <a:chOff x="501650" y="4000500"/>
            <a:chExt cx="6927850" cy="520700"/>
          </a:xfrm>
        </p:grpSpPr>
        <p:sp>
          <p:nvSpPr>
            <p:cNvPr id="42" name="Shape"/>
            <p:cNvSpPr/>
            <p:nvPr/>
          </p:nvSpPr>
          <p:spPr>
            <a:xfrm>
              <a:off x="501650" y="4000500"/>
              <a:ext cx="6927850" cy="520700"/>
            </a:xfrm>
            <a:prstGeom prst="roundRect">
              <a:avLst>
                <a:gd name="adj" fmla="val 14634"/>
              </a:avLst>
            </a:prstGeom>
            <a:solidFill>
              <a:srgbClr val="D2F0C6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"/>
            <p:cNvSpPr txBox="1"/>
            <p:nvPr/>
          </p:nvSpPr>
          <p:spPr>
            <a:xfrm>
              <a:off x="533400" y="4162425"/>
              <a:ext cx="402005" cy="114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7077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00:41</a:t>
              </a:r>
              <a:endParaRPr lang="en-US" sz="900" dirty="0"/>
            </a:p>
          </p:txBody>
        </p:sp>
        <p:sp>
          <p:nvSpPr>
            <p:cNvPr id="44" name="Shape"/>
            <p:cNvSpPr/>
            <p:nvPr/>
          </p:nvSpPr>
          <p:spPr>
            <a:xfrm>
              <a:off x="1155700" y="4089400"/>
              <a:ext cx="304800" cy="304800"/>
            </a:xfrm>
            <a:prstGeom prst="ellipse">
              <a:avLst/>
            </a:prstGeom>
            <a:solidFill>
              <a:srgbClr val="0C2226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45" name="svgicon-44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200150" y="4133850"/>
              <a:ext cx="215900" cy="215900"/>
            </a:xfrm>
            <a:prstGeom prst="rect">
              <a:avLst/>
            </a:prstGeom>
          </p:spPr>
        </p:pic>
        <p:sp>
          <p:nvSpPr>
            <p:cNvPr id="46" name="Text"/>
            <p:cNvSpPr txBox="1"/>
            <p:nvPr/>
          </p:nvSpPr>
          <p:spPr>
            <a:xfrm>
              <a:off x="1600200" y="4063365"/>
              <a:ext cx="2309255" cy="1600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19424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Asked a supervisor to approve</a:t>
              </a:r>
              <a:endParaRPr lang="en-US" sz="1050" dirty="0"/>
            </a:p>
          </p:txBody>
        </p:sp>
        <p:sp>
          <p:nvSpPr>
            <p:cNvPr id="47" name="Text"/>
            <p:cNvSpPr txBox="1"/>
            <p:nvPr/>
          </p:nvSpPr>
          <p:spPr>
            <a:xfrm>
              <a:off x="1600200" y="4248071"/>
              <a:ext cx="2390920" cy="1485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707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Credit is above the auto-approval limit</a:t>
              </a:r>
              <a:endParaRPr lang="en-US" sz="900" dirty="0"/>
            </a:p>
          </p:txBody>
        </p:sp>
        <p:sp>
          <p:nvSpPr>
            <p:cNvPr id="48" name="Text"/>
            <p:cNvSpPr txBox="1"/>
            <p:nvPr/>
          </p:nvSpPr>
          <p:spPr>
            <a:xfrm>
              <a:off x="6809103" y="4162425"/>
              <a:ext cx="493397" cy="114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0C2226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Person</a:t>
              </a:r>
              <a:endParaRPr lang="en-US" sz="900" dirty="0"/>
            </a:p>
          </p:txBody>
        </p:sp>
      </p:grpSp>
      <p:grpSp>
        <p:nvGrpSpPr>
          <p:cNvPr id="49" name="Step 6"/>
          <p:cNvGrpSpPr/>
          <p:nvPr/>
        </p:nvGrpSpPr>
        <p:grpSpPr>
          <a:xfrm>
            <a:off x="533400" y="4660265"/>
            <a:ext cx="6769100" cy="333296"/>
            <a:chOff x="533400" y="4660265"/>
            <a:chExt cx="6769100" cy="333296"/>
          </a:xfrm>
        </p:grpSpPr>
        <p:sp>
          <p:nvSpPr>
            <p:cNvPr id="50" name="Text"/>
            <p:cNvSpPr txBox="1"/>
            <p:nvPr/>
          </p:nvSpPr>
          <p:spPr>
            <a:xfrm>
              <a:off x="533400" y="4759325"/>
              <a:ext cx="396575" cy="114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7077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01:52</a:t>
              </a:r>
              <a:endParaRPr lang="en-US" sz="900" dirty="0"/>
            </a:p>
          </p:txBody>
        </p:sp>
        <p:sp>
          <p:nvSpPr>
            <p:cNvPr id="51" name="Shape"/>
            <p:cNvSpPr/>
            <p:nvPr/>
          </p:nvSpPr>
          <p:spPr>
            <a:xfrm>
              <a:off x="1155700" y="4686300"/>
              <a:ext cx="304800" cy="304800"/>
            </a:xfrm>
            <a:prstGeom prst="ellipse">
              <a:avLst/>
            </a:prstGeom>
            <a:solidFill>
              <a:srgbClr val="D2F0C6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52" name="svgicon-45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00150" y="4730750"/>
              <a:ext cx="215900" cy="215900"/>
            </a:xfrm>
            <a:prstGeom prst="rect">
              <a:avLst/>
            </a:prstGeom>
          </p:spPr>
        </p:pic>
        <p:sp>
          <p:nvSpPr>
            <p:cNvPr id="53" name="Text"/>
            <p:cNvSpPr txBox="1"/>
            <p:nvPr/>
          </p:nvSpPr>
          <p:spPr>
            <a:xfrm>
              <a:off x="1600200" y="4660265"/>
              <a:ext cx="1808746" cy="1600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19424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Credited and confirmed</a:t>
              </a:r>
              <a:endParaRPr lang="en-US" sz="1050" dirty="0"/>
            </a:p>
          </p:txBody>
        </p:sp>
        <p:sp>
          <p:nvSpPr>
            <p:cNvPr id="54" name="Text"/>
            <p:cNvSpPr txBox="1"/>
            <p:nvPr/>
          </p:nvSpPr>
          <p:spPr>
            <a:xfrm>
              <a:off x="1600200" y="4844971"/>
              <a:ext cx="2369316" cy="1485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707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Letter sent; dispute deadlines tracked</a:t>
              </a:r>
              <a:endParaRPr lang="en-US" sz="900" dirty="0"/>
            </a:p>
          </p:txBody>
        </p:sp>
        <p:sp>
          <p:nvSpPr>
            <p:cNvPr id="55" name="Text"/>
            <p:cNvSpPr txBox="1"/>
            <p:nvPr/>
          </p:nvSpPr>
          <p:spPr>
            <a:xfrm>
              <a:off x="6677331" y="4759325"/>
              <a:ext cx="625169" cy="114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r">
                <a:buNone/>
              </a:pPr>
              <a:r>
                <a:rPr lang="en-US" sz="900" dirty="0">
                  <a:solidFill>
                    <a:srgbClr val="09A78D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Outcome</a:t>
              </a:r>
              <a:endParaRPr lang="en-US" sz="900" dirty="0"/>
            </a:p>
          </p:txBody>
        </p:sp>
      </p:grpSp>
      <p:grpSp>
        <p:nvGrpSpPr>
          <p:cNvPr id="56" name="Step 7"/>
          <p:cNvGrpSpPr/>
          <p:nvPr/>
        </p:nvGrpSpPr>
        <p:grpSpPr>
          <a:xfrm>
            <a:off x="7848600" y="1092200"/>
            <a:ext cx="3959225" cy="4213225"/>
            <a:chOff x="7848600" y="1092200"/>
            <a:chExt cx="3959225" cy="4213225"/>
          </a:xfrm>
        </p:grpSpPr>
        <p:sp>
          <p:nvSpPr>
            <p:cNvPr id="57" name="Text"/>
            <p:cNvSpPr txBox="1"/>
            <p:nvPr/>
          </p:nvSpPr>
          <p:spPr>
            <a:xfrm>
              <a:off x="7848600" y="1092200"/>
              <a:ext cx="2565561" cy="1206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50" b="1" kern="0" spc="114" dirty="0">
                  <a:solidFill>
                    <a:srgbClr val="09A78D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WHAT A SUPERVISOR CAN SEE</a:t>
              </a:r>
              <a:endParaRPr lang="en-US" sz="950" dirty="0"/>
            </a:p>
          </p:txBody>
        </p:sp>
        <p:sp>
          <p:nvSpPr>
            <p:cNvPr id="58" name="Shape"/>
            <p:cNvSpPr/>
            <p:nvPr/>
          </p:nvSpPr>
          <p:spPr>
            <a:xfrm>
              <a:off x="7851775" y="1412875"/>
              <a:ext cx="3956050" cy="1200150"/>
            </a:xfrm>
            <a:prstGeom prst="roundRect">
              <a:avLst>
                <a:gd name="adj" fmla="val 8201"/>
              </a:avLst>
            </a:prstGeom>
            <a:solidFill>
              <a:srgbClr val="0C2226">
                <a:alpha val="4000"/>
              </a:srgbClr>
            </a:solidFill>
            <a:ln w="6350">
              <a:solidFill>
                <a:srgbClr val="0C2226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Shape"/>
            <p:cNvSpPr/>
            <p:nvPr/>
          </p:nvSpPr>
          <p:spPr>
            <a:xfrm>
              <a:off x="8026400" y="1587500"/>
              <a:ext cx="355600" cy="355600"/>
            </a:xfrm>
            <a:prstGeom prst="ellipse">
              <a:avLst/>
            </a:prstGeom>
            <a:solidFill>
              <a:srgbClr val="D2F0C6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60" name="svgicon-46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077200" y="1638300"/>
              <a:ext cx="254000" cy="254000"/>
            </a:xfrm>
            <a:prstGeom prst="rect">
              <a:avLst/>
            </a:prstGeom>
          </p:spPr>
        </p:pic>
        <p:sp>
          <p:nvSpPr>
            <p:cNvPr id="61" name="Text"/>
            <p:cNvSpPr txBox="1"/>
            <p:nvPr/>
          </p:nvSpPr>
          <p:spPr>
            <a:xfrm>
              <a:off x="8026400" y="2039620"/>
              <a:ext cx="1067766" cy="1752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50" b="1" dirty="0">
                  <a:solidFill>
                    <a:srgbClr val="19424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Why it acted</a:t>
              </a:r>
              <a:endParaRPr lang="en-US" sz="1150" dirty="0"/>
            </a:p>
          </p:txBody>
        </p:sp>
        <p:sp>
          <p:nvSpPr>
            <p:cNvPr id="62" name="Text"/>
            <p:cNvSpPr txBox="1"/>
            <p:nvPr/>
          </p:nvSpPr>
          <p:spPr>
            <a:xfrm>
              <a:off x="8026400" y="2252623"/>
              <a:ext cx="3445552" cy="1568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33707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Each step shows its reasoning and the policy it cited</a:t>
              </a:r>
              <a:endParaRPr lang="en-US" sz="950" dirty="0"/>
            </a:p>
          </p:txBody>
        </p:sp>
        <p:sp>
          <p:nvSpPr>
            <p:cNvPr id="63" name="Shape"/>
            <p:cNvSpPr/>
            <p:nvPr/>
          </p:nvSpPr>
          <p:spPr>
            <a:xfrm>
              <a:off x="7851775" y="2759075"/>
              <a:ext cx="3956050" cy="1200150"/>
            </a:xfrm>
            <a:prstGeom prst="roundRect">
              <a:avLst>
                <a:gd name="adj" fmla="val 8201"/>
              </a:avLst>
            </a:prstGeom>
            <a:solidFill>
              <a:srgbClr val="0C2226">
                <a:alpha val="4000"/>
              </a:srgbClr>
            </a:solidFill>
            <a:ln w="6350">
              <a:solidFill>
                <a:srgbClr val="0C2226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Shape"/>
            <p:cNvSpPr/>
            <p:nvPr/>
          </p:nvSpPr>
          <p:spPr>
            <a:xfrm>
              <a:off x="8026400" y="2933700"/>
              <a:ext cx="355600" cy="355600"/>
            </a:xfrm>
            <a:prstGeom prst="ellipse">
              <a:avLst/>
            </a:prstGeom>
            <a:solidFill>
              <a:srgbClr val="D2F0C6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65" name="svgicon-47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077200" y="2984500"/>
              <a:ext cx="254000" cy="254000"/>
            </a:xfrm>
            <a:prstGeom prst="rect">
              <a:avLst/>
            </a:prstGeom>
          </p:spPr>
        </p:pic>
        <p:sp>
          <p:nvSpPr>
            <p:cNvPr id="66" name="Text"/>
            <p:cNvSpPr txBox="1"/>
            <p:nvPr/>
          </p:nvSpPr>
          <p:spPr>
            <a:xfrm>
              <a:off x="8026400" y="3385820"/>
              <a:ext cx="1340699" cy="1752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50" b="1" dirty="0">
                  <a:solidFill>
                    <a:srgbClr val="19424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What it touched</a:t>
              </a:r>
              <a:endParaRPr lang="en-US" sz="1150" dirty="0"/>
            </a:p>
          </p:txBody>
        </p:sp>
        <p:sp>
          <p:nvSpPr>
            <p:cNvPr id="67" name="Text"/>
            <p:cNvSpPr txBox="1"/>
            <p:nvPr/>
          </p:nvSpPr>
          <p:spPr>
            <a:xfrm>
              <a:off x="8026400" y="3598823"/>
              <a:ext cx="2728325" cy="1568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33707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Every system call, with inputs and results</a:t>
              </a:r>
              <a:endParaRPr lang="en-US" sz="950" dirty="0"/>
            </a:p>
          </p:txBody>
        </p:sp>
        <p:sp>
          <p:nvSpPr>
            <p:cNvPr id="68" name="Shape"/>
            <p:cNvSpPr/>
            <p:nvPr/>
          </p:nvSpPr>
          <p:spPr>
            <a:xfrm>
              <a:off x="7851775" y="4105275"/>
              <a:ext cx="3956050" cy="1200150"/>
            </a:xfrm>
            <a:prstGeom prst="roundRect">
              <a:avLst>
                <a:gd name="adj" fmla="val 8201"/>
              </a:avLst>
            </a:prstGeom>
            <a:solidFill>
              <a:srgbClr val="0C2226">
                <a:alpha val="4000"/>
              </a:srgbClr>
            </a:solidFill>
            <a:ln w="6350">
              <a:solidFill>
                <a:srgbClr val="0C2226">
                  <a:alpha val="10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9" name="Shape"/>
            <p:cNvSpPr/>
            <p:nvPr/>
          </p:nvSpPr>
          <p:spPr>
            <a:xfrm>
              <a:off x="8026400" y="4279900"/>
              <a:ext cx="355600" cy="355600"/>
            </a:xfrm>
            <a:prstGeom prst="ellipse">
              <a:avLst/>
            </a:prstGeom>
            <a:solidFill>
              <a:srgbClr val="D2F0C6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70" name="svgicon-48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077200" y="4330700"/>
              <a:ext cx="254000" cy="254000"/>
            </a:xfrm>
            <a:prstGeom prst="rect">
              <a:avLst/>
            </a:prstGeom>
          </p:spPr>
        </p:pic>
        <p:sp>
          <p:nvSpPr>
            <p:cNvPr id="71" name="Text"/>
            <p:cNvSpPr txBox="1"/>
            <p:nvPr/>
          </p:nvSpPr>
          <p:spPr>
            <a:xfrm>
              <a:off x="8026400" y="4732020"/>
              <a:ext cx="2031571" cy="1752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50" b="1" dirty="0">
                  <a:solidFill>
                    <a:srgbClr val="19424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Where a person decided</a:t>
              </a:r>
              <a:endParaRPr lang="en-US" sz="1150" dirty="0"/>
            </a:p>
          </p:txBody>
        </p:sp>
        <p:sp>
          <p:nvSpPr>
            <p:cNvPr id="72" name="Text"/>
            <p:cNvSpPr txBox="1"/>
            <p:nvPr/>
          </p:nvSpPr>
          <p:spPr>
            <a:xfrm>
              <a:off x="8026400" y="4945023"/>
              <a:ext cx="2977053" cy="1568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33707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Approvals and overrides, with who and when</a:t>
              </a:r>
              <a:endParaRPr lang="en-US" sz="950" dirty="0"/>
            </a:p>
          </p:txBody>
        </p:sp>
      </p:grpSp>
      <p:sp>
        <p:nvSpPr>
          <p:cNvPr id="73" name="Shape 52"/>
          <p:cNvSpPr/>
          <p:nvPr/>
        </p:nvSpPr>
        <p:spPr>
          <a:xfrm>
            <a:off x="374650" y="5537200"/>
            <a:ext cx="11436350" cy="508000"/>
          </a:xfrm>
          <a:prstGeom prst="roundRect">
            <a:avLst>
              <a:gd name="adj" fmla="val 17500"/>
            </a:avLst>
          </a:prstGeom>
          <a:solidFill>
            <a:srgbClr val="F6F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Shape 53"/>
          <p:cNvSpPr/>
          <p:nvPr/>
        </p:nvSpPr>
        <p:spPr>
          <a:xfrm>
            <a:off x="527050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5" name="svgicon-49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65150" y="5689501"/>
            <a:ext cx="203200" cy="203200"/>
          </a:xfrm>
          <a:prstGeom prst="rect">
            <a:avLst/>
          </a:prstGeom>
        </p:spPr>
      </p:pic>
      <p:sp>
        <p:nvSpPr>
          <p:cNvPr id="76" name="Text 54"/>
          <p:cNvSpPr txBox="1"/>
          <p:nvPr/>
        </p:nvSpPr>
        <p:spPr>
          <a:xfrm>
            <a:off x="882650" y="5640070"/>
            <a:ext cx="86269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IT FOR</a:t>
            </a:r>
            <a:endParaRPr lang="en-US" sz="900" dirty="0"/>
          </a:p>
        </p:txBody>
      </p:sp>
      <p:sp>
        <p:nvSpPr>
          <p:cNvPr id="77" name="Text 55"/>
          <p:cNvSpPr txBox="1"/>
          <p:nvPr/>
        </p:nvSpPr>
        <p:spPr>
          <a:xfrm>
            <a:off x="882650" y="5790525"/>
            <a:ext cx="214355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Auditability, trust and control of AI</a:t>
            </a:r>
            <a:endParaRPr lang="en-US" sz="900" dirty="0"/>
          </a:p>
        </p:txBody>
      </p:sp>
      <p:sp>
        <p:nvSpPr>
          <p:cNvPr id="78" name="Shape 56"/>
          <p:cNvSpPr/>
          <p:nvPr/>
        </p:nvSpPr>
        <p:spPr>
          <a:xfrm>
            <a:off x="4288334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9" name="svgicon-50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26434" y="5689501"/>
            <a:ext cx="203200" cy="203200"/>
          </a:xfrm>
          <a:prstGeom prst="rect">
            <a:avLst/>
          </a:prstGeom>
        </p:spPr>
      </p:pic>
      <p:sp>
        <p:nvSpPr>
          <p:cNvPr id="80" name="Text 57"/>
          <p:cNvSpPr txBox="1"/>
          <p:nvPr/>
        </p:nvSpPr>
        <p:spPr>
          <a:xfrm>
            <a:off x="4643934" y="5640070"/>
            <a:ext cx="65435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MOTION</a:t>
            </a:r>
            <a:endParaRPr lang="en-US" sz="900" dirty="0"/>
          </a:p>
        </p:txBody>
      </p:sp>
      <p:sp>
        <p:nvSpPr>
          <p:cNvPr id="81" name="Text 58"/>
          <p:cNvSpPr txBox="1"/>
          <p:nvPr/>
        </p:nvSpPr>
        <p:spPr>
          <a:xfrm>
            <a:off x="4643934" y="5790525"/>
            <a:ext cx="138085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Steps appear in order</a:t>
            </a:r>
            <a:endParaRPr lang="en-US" sz="900" dirty="0"/>
          </a:p>
        </p:txBody>
      </p:sp>
      <p:sp>
        <p:nvSpPr>
          <p:cNvPr id="82" name="Shape 59"/>
          <p:cNvSpPr/>
          <p:nvPr/>
        </p:nvSpPr>
        <p:spPr>
          <a:xfrm>
            <a:off x="8049617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3" name="svgicon-51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087717" y="5689501"/>
            <a:ext cx="203200" cy="203200"/>
          </a:xfrm>
          <a:prstGeom prst="rect">
            <a:avLst/>
          </a:prstGeom>
        </p:spPr>
      </p:pic>
      <p:sp>
        <p:nvSpPr>
          <p:cNvPr id="84" name="Text 60"/>
          <p:cNvSpPr txBox="1"/>
          <p:nvPr/>
        </p:nvSpPr>
        <p:spPr>
          <a:xfrm>
            <a:off x="8405217" y="5640070"/>
            <a:ext cx="63354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SEEN IN</a:t>
            </a:r>
            <a:endParaRPr lang="en-US" sz="900" dirty="0"/>
          </a:p>
        </p:txBody>
      </p:sp>
      <p:sp>
        <p:nvSpPr>
          <p:cNvPr id="85" name="Text 61"/>
          <p:cNvSpPr txBox="1"/>
          <p:nvPr/>
        </p:nvSpPr>
        <p:spPr>
          <a:xfrm>
            <a:off x="8405217" y="5790525"/>
            <a:ext cx="2099889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 views in AI agent platforms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7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4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1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8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8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42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00050" y="203200"/>
            <a:ext cx="3366488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10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 4/12 | WORKFLOW CANVAS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374650" y="328930"/>
            <a:ext cx="12839738" cy="4089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28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Onboarding runs as one workflow, </a:t>
            </a:r>
            <a:r>
              <a:rPr lang="en-US" sz="2800" b="1" kern="0" spc="-28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people only where needed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4650" y="1066800"/>
            <a:ext cx="11436350" cy="4343400"/>
          </a:xfrm>
          <a:prstGeom prst="roundRect">
            <a:avLst>
              <a:gd name="adj" fmla="val 2632"/>
            </a:avLst>
          </a:prstGeom>
          <a:solidFill>
            <a:srgbClr val="F6F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879475" y="1117600"/>
            <a:ext cx="6350" cy="4241800"/>
          </a:xfrm>
          <a:custGeom>
            <a:avLst/>
            <a:gdLst/>
            <a:ahLst/>
            <a:cxnLst/>
            <a:rect l="l" t="t" r="r" b="b"/>
            <a:pathLst>
              <a:path w="6350" h="4241800">
                <a:moveTo>
                  <a:pt x="3175" y="0"/>
                </a:moveTo>
                <a:lnTo>
                  <a:pt x="3175" y="4241800"/>
                </a:lnTo>
              </a:path>
            </a:pathLst>
          </a:custGeom>
          <a:solidFill>
            <a:srgbClr val="000000"/>
          </a:solidFill>
          <a:ln w="9525">
            <a:solidFill>
              <a:srgbClr val="0C222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387475" y="1117600"/>
            <a:ext cx="6350" cy="4241800"/>
          </a:xfrm>
          <a:custGeom>
            <a:avLst/>
            <a:gdLst/>
            <a:ahLst/>
            <a:cxnLst/>
            <a:rect l="l" t="t" r="r" b="b"/>
            <a:pathLst>
              <a:path w="6350" h="4241800">
                <a:moveTo>
                  <a:pt x="3175" y="0"/>
                </a:moveTo>
                <a:lnTo>
                  <a:pt x="3175" y="4241800"/>
                </a:lnTo>
              </a:path>
            </a:pathLst>
          </a:custGeom>
          <a:solidFill>
            <a:srgbClr val="000000"/>
          </a:solidFill>
          <a:ln w="9525">
            <a:solidFill>
              <a:srgbClr val="0C222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1895475" y="1117600"/>
            <a:ext cx="6350" cy="4241800"/>
          </a:xfrm>
          <a:custGeom>
            <a:avLst/>
            <a:gdLst/>
            <a:ahLst/>
            <a:cxnLst/>
            <a:rect l="l" t="t" r="r" b="b"/>
            <a:pathLst>
              <a:path w="6350" h="4241800">
                <a:moveTo>
                  <a:pt x="3175" y="0"/>
                </a:moveTo>
                <a:lnTo>
                  <a:pt x="3175" y="4241800"/>
                </a:lnTo>
              </a:path>
            </a:pathLst>
          </a:custGeom>
          <a:solidFill>
            <a:srgbClr val="000000"/>
          </a:solidFill>
          <a:ln w="9525">
            <a:solidFill>
              <a:srgbClr val="0C222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2403475" y="1117600"/>
            <a:ext cx="6350" cy="4241800"/>
          </a:xfrm>
          <a:custGeom>
            <a:avLst/>
            <a:gdLst/>
            <a:ahLst/>
            <a:cxnLst/>
            <a:rect l="l" t="t" r="r" b="b"/>
            <a:pathLst>
              <a:path w="6350" h="4241800">
                <a:moveTo>
                  <a:pt x="3175" y="0"/>
                </a:moveTo>
                <a:lnTo>
                  <a:pt x="3175" y="4241800"/>
                </a:lnTo>
              </a:path>
            </a:pathLst>
          </a:custGeom>
          <a:solidFill>
            <a:srgbClr val="000000"/>
          </a:solidFill>
          <a:ln w="9525">
            <a:solidFill>
              <a:srgbClr val="0C222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2911475" y="1117600"/>
            <a:ext cx="6350" cy="4241800"/>
          </a:xfrm>
          <a:custGeom>
            <a:avLst/>
            <a:gdLst/>
            <a:ahLst/>
            <a:cxnLst/>
            <a:rect l="l" t="t" r="r" b="b"/>
            <a:pathLst>
              <a:path w="6350" h="4241800">
                <a:moveTo>
                  <a:pt x="3175" y="0"/>
                </a:moveTo>
                <a:lnTo>
                  <a:pt x="3175" y="4241800"/>
                </a:lnTo>
              </a:path>
            </a:pathLst>
          </a:custGeom>
          <a:solidFill>
            <a:srgbClr val="000000"/>
          </a:solidFill>
          <a:ln w="9525">
            <a:solidFill>
              <a:srgbClr val="0C222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419475" y="1117600"/>
            <a:ext cx="6350" cy="4241800"/>
          </a:xfrm>
          <a:custGeom>
            <a:avLst/>
            <a:gdLst/>
            <a:ahLst/>
            <a:cxnLst/>
            <a:rect l="l" t="t" r="r" b="b"/>
            <a:pathLst>
              <a:path w="6350" h="4241800">
                <a:moveTo>
                  <a:pt x="3175" y="0"/>
                </a:moveTo>
                <a:lnTo>
                  <a:pt x="3175" y="4241800"/>
                </a:lnTo>
              </a:path>
            </a:pathLst>
          </a:custGeom>
          <a:solidFill>
            <a:srgbClr val="000000"/>
          </a:solidFill>
          <a:ln w="9525">
            <a:solidFill>
              <a:srgbClr val="0C222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927475" y="1117600"/>
            <a:ext cx="6350" cy="4241800"/>
          </a:xfrm>
          <a:custGeom>
            <a:avLst/>
            <a:gdLst/>
            <a:ahLst/>
            <a:cxnLst/>
            <a:rect l="l" t="t" r="r" b="b"/>
            <a:pathLst>
              <a:path w="6350" h="4241800">
                <a:moveTo>
                  <a:pt x="3175" y="0"/>
                </a:moveTo>
                <a:lnTo>
                  <a:pt x="3175" y="4241800"/>
                </a:lnTo>
              </a:path>
            </a:pathLst>
          </a:custGeom>
          <a:solidFill>
            <a:srgbClr val="000000"/>
          </a:solidFill>
          <a:ln w="9525">
            <a:solidFill>
              <a:srgbClr val="0C222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435475" y="1117600"/>
            <a:ext cx="6350" cy="4241800"/>
          </a:xfrm>
          <a:custGeom>
            <a:avLst/>
            <a:gdLst/>
            <a:ahLst/>
            <a:cxnLst/>
            <a:rect l="l" t="t" r="r" b="b"/>
            <a:pathLst>
              <a:path w="6350" h="4241800">
                <a:moveTo>
                  <a:pt x="3175" y="0"/>
                </a:moveTo>
                <a:lnTo>
                  <a:pt x="3175" y="4241800"/>
                </a:lnTo>
              </a:path>
            </a:pathLst>
          </a:custGeom>
          <a:solidFill>
            <a:srgbClr val="000000"/>
          </a:solidFill>
          <a:ln w="9525">
            <a:solidFill>
              <a:srgbClr val="0C222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943475" y="1117600"/>
            <a:ext cx="6350" cy="4241800"/>
          </a:xfrm>
          <a:custGeom>
            <a:avLst/>
            <a:gdLst/>
            <a:ahLst/>
            <a:cxnLst/>
            <a:rect l="l" t="t" r="r" b="b"/>
            <a:pathLst>
              <a:path w="6350" h="4241800">
                <a:moveTo>
                  <a:pt x="3175" y="0"/>
                </a:moveTo>
                <a:lnTo>
                  <a:pt x="3175" y="4241800"/>
                </a:lnTo>
              </a:path>
            </a:pathLst>
          </a:custGeom>
          <a:solidFill>
            <a:srgbClr val="000000"/>
          </a:solidFill>
          <a:ln w="9525">
            <a:solidFill>
              <a:srgbClr val="0C222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5451475" y="1117600"/>
            <a:ext cx="6350" cy="4241800"/>
          </a:xfrm>
          <a:custGeom>
            <a:avLst/>
            <a:gdLst/>
            <a:ahLst/>
            <a:cxnLst/>
            <a:rect l="l" t="t" r="r" b="b"/>
            <a:pathLst>
              <a:path w="6350" h="4241800">
                <a:moveTo>
                  <a:pt x="3175" y="0"/>
                </a:moveTo>
                <a:lnTo>
                  <a:pt x="3175" y="4241800"/>
                </a:lnTo>
              </a:path>
            </a:pathLst>
          </a:custGeom>
          <a:solidFill>
            <a:srgbClr val="000000"/>
          </a:solidFill>
          <a:ln w="9525">
            <a:solidFill>
              <a:srgbClr val="0C222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5959475" y="1117600"/>
            <a:ext cx="6350" cy="4241800"/>
          </a:xfrm>
          <a:custGeom>
            <a:avLst/>
            <a:gdLst/>
            <a:ahLst/>
            <a:cxnLst/>
            <a:rect l="l" t="t" r="r" b="b"/>
            <a:pathLst>
              <a:path w="6350" h="4241800">
                <a:moveTo>
                  <a:pt x="3175" y="0"/>
                </a:moveTo>
                <a:lnTo>
                  <a:pt x="3175" y="4241800"/>
                </a:lnTo>
              </a:path>
            </a:pathLst>
          </a:custGeom>
          <a:solidFill>
            <a:srgbClr val="000000"/>
          </a:solidFill>
          <a:ln w="9525">
            <a:solidFill>
              <a:srgbClr val="0C222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6467475" y="1117600"/>
            <a:ext cx="6350" cy="4241800"/>
          </a:xfrm>
          <a:custGeom>
            <a:avLst/>
            <a:gdLst/>
            <a:ahLst/>
            <a:cxnLst/>
            <a:rect l="l" t="t" r="r" b="b"/>
            <a:pathLst>
              <a:path w="6350" h="4241800">
                <a:moveTo>
                  <a:pt x="3175" y="0"/>
                </a:moveTo>
                <a:lnTo>
                  <a:pt x="3175" y="4241800"/>
                </a:lnTo>
              </a:path>
            </a:pathLst>
          </a:custGeom>
          <a:solidFill>
            <a:srgbClr val="000000"/>
          </a:solidFill>
          <a:ln w="9525">
            <a:solidFill>
              <a:srgbClr val="0C222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6975475" y="1117600"/>
            <a:ext cx="6350" cy="4241800"/>
          </a:xfrm>
          <a:custGeom>
            <a:avLst/>
            <a:gdLst/>
            <a:ahLst/>
            <a:cxnLst/>
            <a:rect l="l" t="t" r="r" b="b"/>
            <a:pathLst>
              <a:path w="6350" h="4241800">
                <a:moveTo>
                  <a:pt x="3175" y="0"/>
                </a:moveTo>
                <a:lnTo>
                  <a:pt x="3175" y="4241800"/>
                </a:lnTo>
              </a:path>
            </a:pathLst>
          </a:custGeom>
          <a:solidFill>
            <a:srgbClr val="000000"/>
          </a:solidFill>
          <a:ln w="9525">
            <a:solidFill>
              <a:srgbClr val="0C222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7483475" y="1117600"/>
            <a:ext cx="6350" cy="4241800"/>
          </a:xfrm>
          <a:custGeom>
            <a:avLst/>
            <a:gdLst/>
            <a:ahLst/>
            <a:cxnLst/>
            <a:rect l="l" t="t" r="r" b="b"/>
            <a:pathLst>
              <a:path w="6350" h="4241800">
                <a:moveTo>
                  <a:pt x="3175" y="0"/>
                </a:moveTo>
                <a:lnTo>
                  <a:pt x="3175" y="4241800"/>
                </a:lnTo>
              </a:path>
            </a:pathLst>
          </a:custGeom>
          <a:solidFill>
            <a:srgbClr val="000000"/>
          </a:solidFill>
          <a:ln w="9525">
            <a:solidFill>
              <a:srgbClr val="0C222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7991475" y="1117600"/>
            <a:ext cx="6350" cy="4241800"/>
          </a:xfrm>
          <a:custGeom>
            <a:avLst/>
            <a:gdLst/>
            <a:ahLst/>
            <a:cxnLst/>
            <a:rect l="l" t="t" r="r" b="b"/>
            <a:pathLst>
              <a:path w="6350" h="4241800">
                <a:moveTo>
                  <a:pt x="3175" y="0"/>
                </a:moveTo>
                <a:lnTo>
                  <a:pt x="3175" y="4241800"/>
                </a:lnTo>
              </a:path>
            </a:pathLst>
          </a:custGeom>
          <a:solidFill>
            <a:srgbClr val="000000"/>
          </a:solidFill>
          <a:ln w="9525">
            <a:solidFill>
              <a:srgbClr val="0C222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8499475" y="1117600"/>
            <a:ext cx="6350" cy="4241800"/>
          </a:xfrm>
          <a:custGeom>
            <a:avLst/>
            <a:gdLst/>
            <a:ahLst/>
            <a:cxnLst/>
            <a:rect l="l" t="t" r="r" b="b"/>
            <a:pathLst>
              <a:path w="6350" h="4241800">
                <a:moveTo>
                  <a:pt x="3175" y="0"/>
                </a:moveTo>
                <a:lnTo>
                  <a:pt x="3175" y="4241800"/>
                </a:lnTo>
              </a:path>
            </a:pathLst>
          </a:custGeom>
          <a:solidFill>
            <a:srgbClr val="000000"/>
          </a:solidFill>
          <a:ln w="9525">
            <a:solidFill>
              <a:srgbClr val="0C222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9007475" y="1117600"/>
            <a:ext cx="6350" cy="4241800"/>
          </a:xfrm>
          <a:custGeom>
            <a:avLst/>
            <a:gdLst/>
            <a:ahLst/>
            <a:cxnLst/>
            <a:rect l="l" t="t" r="r" b="b"/>
            <a:pathLst>
              <a:path w="6350" h="4241800">
                <a:moveTo>
                  <a:pt x="3175" y="0"/>
                </a:moveTo>
                <a:lnTo>
                  <a:pt x="3175" y="4241800"/>
                </a:lnTo>
              </a:path>
            </a:pathLst>
          </a:custGeom>
          <a:solidFill>
            <a:srgbClr val="000000"/>
          </a:solidFill>
          <a:ln w="9525">
            <a:solidFill>
              <a:srgbClr val="0C222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9515475" y="1117600"/>
            <a:ext cx="6350" cy="4241800"/>
          </a:xfrm>
          <a:custGeom>
            <a:avLst/>
            <a:gdLst/>
            <a:ahLst/>
            <a:cxnLst/>
            <a:rect l="l" t="t" r="r" b="b"/>
            <a:pathLst>
              <a:path w="6350" h="4241800">
                <a:moveTo>
                  <a:pt x="3175" y="0"/>
                </a:moveTo>
                <a:lnTo>
                  <a:pt x="3175" y="4241800"/>
                </a:lnTo>
              </a:path>
            </a:pathLst>
          </a:custGeom>
          <a:solidFill>
            <a:srgbClr val="000000"/>
          </a:solidFill>
          <a:ln w="9525">
            <a:solidFill>
              <a:srgbClr val="0C222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10023475" y="1117600"/>
            <a:ext cx="6350" cy="4241800"/>
          </a:xfrm>
          <a:custGeom>
            <a:avLst/>
            <a:gdLst/>
            <a:ahLst/>
            <a:cxnLst/>
            <a:rect l="l" t="t" r="r" b="b"/>
            <a:pathLst>
              <a:path w="6350" h="4241800">
                <a:moveTo>
                  <a:pt x="3175" y="0"/>
                </a:moveTo>
                <a:lnTo>
                  <a:pt x="3175" y="4241800"/>
                </a:lnTo>
              </a:path>
            </a:pathLst>
          </a:custGeom>
          <a:solidFill>
            <a:srgbClr val="000000"/>
          </a:solidFill>
          <a:ln w="9525">
            <a:solidFill>
              <a:srgbClr val="0C222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10531475" y="1117600"/>
            <a:ext cx="6350" cy="4241800"/>
          </a:xfrm>
          <a:custGeom>
            <a:avLst/>
            <a:gdLst/>
            <a:ahLst/>
            <a:cxnLst/>
            <a:rect l="l" t="t" r="r" b="b"/>
            <a:pathLst>
              <a:path w="6350" h="4241800">
                <a:moveTo>
                  <a:pt x="3175" y="0"/>
                </a:moveTo>
                <a:lnTo>
                  <a:pt x="3175" y="4241800"/>
                </a:lnTo>
              </a:path>
            </a:pathLst>
          </a:custGeom>
          <a:solidFill>
            <a:srgbClr val="000000"/>
          </a:solidFill>
          <a:ln w="9525">
            <a:solidFill>
              <a:srgbClr val="0C222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11039475" y="1117600"/>
            <a:ext cx="6350" cy="4241800"/>
          </a:xfrm>
          <a:custGeom>
            <a:avLst/>
            <a:gdLst/>
            <a:ahLst/>
            <a:cxnLst/>
            <a:rect l="l" t="t" r="r" b="b"/>
            <a:pathLst>
              <a:path w="6350" h="4241800">
                <a:moveTo>
                  <a:pt x="3175" y="0"/>
                </a:moveTo>
                <a:lnTo>
                  <a:pt x="3175" y="4241800"/>
                </a:lnTo>
              </a:path>
            </a:pathLst>
          </a:custGeom>
          <a:solidFill>
            <a:srgbClr val="000000"/>
          </a:solidFill>
          <a:ln w="9525">
            <a:solidFill>
              <a:srgbClr val="0C222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11547475" y="1117600"/>
            <a:ext cx="6350" cy="4241800"/>
          </a:xfrm>
          <a:custGeom>
            <a:avLst/>
            <a:gdLst/>
            <a:ahLst/>
            <a:cxnLst/>
            <a:rect l="l" t="t" r="r" b="b"/>
            <a:pathLst>
              <a:path w="6350" h="4241800">
                <a:moveTo>
                  <a:pt x="3175" y="0"/>
                </a:moveTo>
                <a:lnTo>
                  <a:pt x="3175" y="4241800"/>
                </a:lnTo>
              </a:path>
            </a:pathLst>
          </a:custGeom>
          <a:solidFill>
            <a:srgbClr val="000000"/>
          </a:solidFill>
          <a:ln w="9525">
            <a:solidFill>
              <a:srgbClr val="0C222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425450" y="1571625"/>
            <a:ext cx="11334750" cy="6350"/>
          </a:xfrm>
          <a:custGeom>
            <a:avLst/>
            <a:gdLst/>
            <a:ahLst/>
            <a:cxnLst/>
            <a:rect l="l" t="t" r="r" b="b"/>
            <a:pathLst>
              <a:path w="11334750" h="6350">
                <a:moveTo>
                  <a:pt x="0" y="3175"/>
                </a:moveTo>
                <a:lnTo>
                  <a:pt x="11334750" y="3175"/>
                </a:lnTo>
              </a:path>
            </a:pathLst>
          </a:custGeom>
          <a:solidFill>
            <a:srgbClr val="000000"/>
          </a:solidFill>
          <a:ln w="9525">
            <a:solidFill>
              <a:srgbClr val="0C222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425450" y="2079625"/>
            <a:ext cx="11334750" cy="6350"/>
          </a:xfrm>
          <a:custGeom>
            <a:avLst/>
            <a:gdLst/>
            <a:ahLst/>
            <a:cxnLst/>
            <a:rect l="l" t="t" r="r" b="b"/>
            <a:pathLst>
              <a:path w="11334750" h="6350">
                <a:moveTo>
                  <a:pt x="0" y="3175"/>
                </a:moveTo>
                <a:lnTo>
                  <a:pt x="11334750" y="3175"/>
                </a:lnTo>
              </a:path>
            </a:pathLst>
          </a:custGeom>
          <a:solidFill>
            <a:srgbClr val="000000"/>
          </a:solidFill>
          <a:ln w="9525">
            <a:solidFill>
              <a:srgbClr val="0C222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425450" y="2587625"/>
            <a:ext cx="11334750" cy="6350"/>
          </a:xfrm>
          <a:custGeom>
            <a:avLst/>
            <a:gdLst/>
            <a:ahLst/>
            <a:cxnLst/>
            <a:rect l="l" t="t" r="r" b="b"/>
            <a:pathLst>
              <a:path w="11334750" h="6350">
                <a:moveTo>
                  <a:pt x="0" y="3175"/>
                </a:moveTo>
                <a:lnTo>
                  <a:pt x="11334750" y="3175"/>
                </a:lnTo>
              </a:path>
            </a:pathLst>
          </a:custGeom>
          <a:solidFill>
            <a:srgbClr val="000000"/>
          </a:solidFill>
          <a:ln w="9525">
            <a:solidFill>
              <a:srgbClr val="0C222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425450" y="3095625"/>
            <a:ext cx="11334750" cy="6350"/>
          </a:xfrm>
          <a:custGeom>
            <a:avLst/>
            <a:gdLst/>
            <a:ahLst/>
            <a:cxnLst/>
            <a:rect l="l" t="t" r="r" b="b"/>
            <a:pathLst>
              <a:path w="11334750" h="6350">
                <a:moveTo>
                  <a:pt x="0" y="3175"/>
                </a:moveTo>
                <a:lnTo>
                  <a:pt x="11334750" y="3175"/>
                </a:lnTo>
              </a:path>
            </a:pathLst>
          </a:custGeom>
          <a:solidFill>
            <a:srgbClr val="000000"/>
          </a:solidFill>
          <a:ln w="9525">
            <a:solidFill>
              <a:srgbClr val="0C222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425450" y="3603625"/>
            <a:ext cx="11334750" cy="6350"/>
          </a:xfrm>
          <a:custGeom>
            <a:avLst/>
            <a:gdLst/>
            <a:ahLst/>
            <a:cxnLst/>
            <a:rect l="l" t="t" r="r" b="b"/>
            <a:pathLst>
              <a:path w="11334750" h="6350">
                <a:moveTo>
                  <a:pt x="0" y="3175"/>
                </a:moveTo>
                <a:lnTo>
                  <a:pt x="11334750" y="3175"/>
                </a:lnTo>
              </a:path>
            </a:pathLst>
          </a:custGeom>
          <a:solidFill>
            <a:srgbClr val="000000"/>
          </a:solidFill>
          <a:ln w="9525">
            <a:solidFill>
              <a:srgbClr val="0C222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425450" y="4111625"/>
            <a:ext cx="11334750" cy="6350"/>
          </a:xfrm>
          <a:custGeom>
            <a:avLst/>
            <a:gdLst/>
            <a:ahLst/>
            <a:cxnLst/>
            <a:rect l="l" t="t" r="r" b="b"/>
            <a:pathLst>
              <a:path w="11334750" h="6350">
                <a:moveTo>
                  <a:pt x="0" y="3175"/>
                </a:moveTo>
                <a:lnTo>
                  <a:pt x="11334750" y="3175"/>
                </a:lnTo>
              </a:path>
            </a:pathLst>
          </a:custGeom>
          <a:solidFill>
            <a:srgbClr val="000000"/>
          </a:solidFill>
          <a:ln w="9525">
            <a:solidFill>
              <a:srgbClr val="0C222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425450" y="4619625"/>
            <a:ext cx="11334750" cy="6350"/>
          </a:xfrm>
          <a:custGeom>
            <a:avLst/>
            <a:gdLst/>
            <a:ahLst/>
            <a:cxnLst/>
            <a:rect l="l" t="t" r="r" b="b"/>
            <a:pathLst>
              <a:path w="11334750" h="6350">
                <a:moveTo>
                  <a:pt x="0" y="3175"/>
                </a:moveTo>
                <a:lnTo>
                  <a:pt x="11334750" y="3175"/>
                </a:lnTo>
              </a:path>
            </a:pathLst>
          </a:custGeom>
          <a:solidFill>
            <a:srgbClr val="000000"/>
          </a:solidFill>
          <a:ln w="9525">
            <a:solidFill>
              <a:srgbClr val="0C222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425450" y="5127625"/>
            <a:ext cx="11334750" cy="6350"/>
          </a:xfrm>
          <a:custGeom>
            <a:avLst/>
            <a:gdLst/>
            <a:ahLst/>
            <a:cxnLst/>
            <a:rect l="l" t="t" r="r" b="b"/>
            <a:pathLst>
              <a:path w="11334750" h="6350">
                <a:moveTo>
                  <a:pt x="0" y="3175"/>
                </a:moveTo>
                <a:lnTo>
                  <a:pt x="11334750" y="3175"/>
                </a:lnTo>
              </a:path>
            </a:pathLst>
          </a:custGeom>
          <a:solidFill>
            <a:srgbClr val="000000"/>
          </a:solidFill>
          <a:ln w="9525">
            <a:solidFill>
              <a:srgbClr val="0C2226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 txBox="1"/>
          <p:nvPr/>
        </p:nvSpPr>
        <p:spPr>
          <a:xfrm>
            <a:off x="635000" y="1244600"/>
            <a:ext cx="2143889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14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MERCHANT ONBOARDING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9682262" y="1228725"/>
            <a:ext cx="56103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9494937" y="1222375"/>
            <a:ext cx="133350" cy="133350"/>
          </a:xfrm>
          <a:prstGeom prst="roundRect">
            <a:avLst>
              <a:gd name="adj" fmla="val 26190"/>
            </a:avLst>
          </a:prstGeom>
          <a:solidFill>
            <a:srgbClr val="0C2226"/>
          </a:solidFill>
          <a:ln w="6350">
            <a:solidFill>
              <a:srgbClr val="0C22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 txBox="1"/>
          <p:nvPr/>
        </p:nvSpPr>
        <p:spPr>
          <a:xfrm>
            <a:off x="10485438" y="1228725"/>
            <a:ext cx="50787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10298113" y="1222375"/>
            <a:ext cx="133350" cy="133350"/>
          </a:xfrm>
          <a:prstGeom prst="roundRect">
            <a:avLst>
              <a:gd name="adj" fmla="val 26190"/>
            </a:avLst>
          </a:prstGeom>
          <a:solidFill>
            <a:srgbClr val="FFFFFF"/>
          </a:solidFill>
          <a:ln w="6350">
            <a:solidFill>
              <a:srgbClr val="0C2226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 txBox="1"/>
          <p:nvPr/>
        </p:nvSpPr>
        <p:spPr>
          <a:xfrm>
            <a:off x="11241980" y="1228725"/>
            <a:ext cx="482312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11054655" y="1222375"/>
            <a:ext cx="133350" cy="133350"/>
          </a:xfrm>
          <a:prstGeom prst="roundRect">
            <a:avLst>
              <a:gd name="adj" fmla="val 26190"/>
            </a:avLst>
          </a:prstGeom>
          <a:solidFill>
            <a:srgbClr val="D2F0C6"/>
          </a:solidFill>
          <a:ln w="6350">
            <a:solidFill>
              <a:srgbClr val="D2F0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43" name="Step 1"/>
          <p:cNvGrpSpPr/>
          <p:nvPr/>
        </p:nvGrpSpPr>
        <p:grpSpPr>
          <a:xfrm>
            <a:off x="638175" y="2936875"/>
            <a:ext cx="1898650" cy="628650"/>
            <a:chOff x="638175" y="2936875"/>
            <a:chExt cx="1898650" cy="628650"/>
          </a:xfrm>
        </p:grpSpPr>
        <p:sp>
          <p:nvSpPr>
            <p:cNvPr id="44" name="Shape"/>
            <p:cNvSpPr/>
            <p:nvPr/>
          </p:nvSpPr>
          <p:spPr>
            <a:xfrm>
              <a:off x="638175" y="2936875"/>
              <a:ext cx="1898650" cy="62865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6350">
              <a:solidFill>
                <a:srgbClr val="0C2226">
                  <a:alpha val="16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Shape"/>
            <p:cNvSpPr/>
            <p:nvPr/>
          </p:nvSpPr>
          <p:spPr>
            <a:xfrm>
              <a:off x="742950" y="3092450"/>
              <a:ext cx="317500" cy="317500"/>
            </a:xfrm>
            <a:prstGeom prst="ellipse">
              <a:avLst/>
            </a:prstGeom>
            <a:solidFill>
              <a:srgbClr val="D2F0C6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46" name="svgicon-52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87400" y="3136900"/>
              <a:ext cx="228600" cy="228600"/>
            </a:xfrm>
            <a:prstGeom prst="rect">
              <a:avLst/>
            </a:prstGeom>
          </p:spPr>
        </p:pic>
        <p:sp>
          <p:nvSpPr>
            <p:cNvPr id="47" name="Text"/>
            <p:cNvSpPr txBox="1"/>
            <p:nvPr/>
          </p:nvSpPr>
          <p:spPr>
            <a:xfrm>
              <a:off x="1149350" y="3016945"/>
              <a:ext cx="802196" cy="3506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60"/>
                </a:lnSpc>
                <a:buNone/>
              </a:pPr>
              <a:r>
                <a:rPr lang="en-US" sz="1050" b="1" dirty="0">
                  <a:solidFill>
                    <a:srgbClr val="19424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Application received</a:t>
              </a:r>
              <a:endParaRPr lang="en-US" sz="1050" dirty="0"/>
            </a:p>
          </p:txBody>
        </p:sp>
        <p:sp>
          <p:nvSpPr>
            <p:cNvPr id="48" name="Text"/>
            <p:cNvSpPr txBox="1"/>
            <p:nvPr/>
          </p:nvSpPr>
          <p:spPr>
            <a:xfrm>
              <a:off x="1149350" y="3335556"/>
              <a:ext cx="1383681" cy="1485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707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Trigger: portal upload</a:t>
              </a:r>
              <a:endParaRPr lang="en-US" sz="900" dirty="0"/>
            </a:p>
          </p:txBody>
        </p:sp>
      </p:grpSp>
      <p:grpSp>
        <p:nvGrpSpPr>
          <p:cNvPr id="49" name="Step 2"/>
          <p:cNvGrpSpPr/>
          <p:nvPr/>
        </p:nvGrpSpPr>
        <p:grpSpPr>
          <a:xfrm>
            <a:off x="2495550" y="2936875"/>
            <a:ext cx="2390775" cy="628650"/>
            <a:chOff x="2495550" y="2936875"/>
            <a:chExt cx="2390775" cy="628650"/>
          </a:xfrm>
        </p:grpSpPr>
        <p:sp>
          <p:nvSpPr>
            <p:cNvPr id="50" name="Path"/>
            <p:cNvSpPr/>
            <p:nvPr/>
          </p:nvSpPr>
          <p:spPr>
            <a:xfrm>
              <a:off x="2540000" y="3248025"/>
              <a:ext cx="393700" cy="6350"/>
            </a:xfrm>
            <a:custGeom>
              <a:avLst/>
              <a:gdLst/>
              <a:ahLst/>
              <a:cxnLst/>
              <a:rect l="l" t="t" r="r" b="b"/>
              <a:pathLst>
                <a:path w="393700" h="6350">
                  <a:moveTo>
                    <a:pt x="0" y="3175"/>
                  </a:moveTo>
                  <a:lnTo>
                    <a:pt x="393700" y="3175"/>
                  </a:lnTo>
                </a:path>
              </a:pathLst>
            </a:custGeom>
            <a:ln w="15875">
              <a:solidFill>
                <a:srgbClr val="194247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Oval"/>
            <p:cNvSpPr/>
            <p:nvPr/>
          </p:nvSpPr>
          <p:spPr>
            <a:xfrm>
              <a:off x="2495550" y="3206750"/>
              <a:ext cx="88900" cy="889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337077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Shape"/>
            <p:cNvSpPr/>
            <p:nvPr/>
          </p:nvSpPr>
          <p:spPr>
            <a:xfrm>
              <a:off x="2987675" y="2936875"/>
              <a:ext cx="1898650" cy="628650"/>
            </a:xfrm>
            <a:prstGeom prst="roundRect">
              <a:avLst>
                <a:gd name="adj" fmla="val 13636"/>
              </a:avLst>
            </a:prstGeom>
            <a:solidFill>
              <a:srgbClr val="0C2226"/>
            </a:solidFill>
            <a:ln w="6350">
              <a:solidFill>
                <a:srgbClr val="0C2226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Shape"/>
            <p:cNvSpPr/>
            <p:nvPr/>
          </p:nvSpPr>
          <p:spPr>
            <a:xfrm>
              <a:off x="3092450" y="3092450"/>
              <a:ext cx="317500" cy="317500"/>
            </a:xfrm>
            <a:prstGeom prst="ellipse">
              <a:avLst/>
            </a:prstGeom>
            <a:solidFill>
              <a:srgbClr val="52E081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54" name="svgicon-53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36900" y="3136900"/>
              <a:ext cx="228600" cy="228600"/>
            </a:xfrm>
            <a:prstGeom prst="rect">
              <a:avLst/>
            </a:prstGeom>
          </p:spPr>
        </p:pic>
        <p:sp>
          <p:nvSpPr>
            <p:cNvPr id="55" name="Text"/>
            <p:cNvSpPr txBox="1"/>
            <p:nvPr/>
          </p:nvSpPr>
          <p:spPr>
            <a:xfrm>
              <a:off x="3498850" y="3022064"/>
              <a:ext cx="1385378" cy="1600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Extract and check</a:t>
              </a:r>
              <a:endParaRPr lang="en-US" sz="1050" dirty="0"/>
            </a:p>
          </p:txBody>
        </p:sp>
        <p:sp>
          <p:nvSpPr>
            <p:cNvPr id="56" name="Text"/>
            <p:cNvSpPr txBox="1"/>
            <p:nvPr/>
          </p:nvSpPr>
          <p:spPr>
            <a:xfrm>
              <a:off x="3498850" y="3188990"/>
              <a:ext cx="1184815" cy="3115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70"/>
                </a:lnSpc>
                <a:buNone/>
              </a:pPr>
              <a:r>
                <a:rPr lang="en-US" sz="900" dirty="0">
                  <a:solidFill>
                    <a:srgbClr val="D2F0C6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Documents and KYC data</a:t>
              </a:r>
              <a:endParaRPr lang="en-US" sz="900" dirty="0"/>
            </a:p>
          </p:txBody>
        </p:sp>
      </p:grpSp>
      <p:grpSp>
        <p:nvGrpSpPr>
          <p:cNvPr id="57" name="Step 3"/>
          <p:cNvGrpSpPr/>
          <p:nvPr/>
        </p:nvGrpSpPr>
        <p:grpSpPr>
          <a:xfrm>
            <a:off x="4845050" y="2936875"/>
            <a:ext cx="2513211" cy="628650"/>
            <a:chOff x="4845050" y="2936875"/>
            <a:chExt cx="2513211" cy="628650"/>
          </a:xfrm>
        </p:grpSpPr>
        <p:sp>
          <p:nvSpPr>
            <p:cNvPr id="58" name="Path"/>
            <p:cNvSpPr/>
            <p:nvPr/>
          </p:nvSpPr>
          <p:spPr>
            <a:xfrm>
              <a:off x="4889500" y="3248025"/>
              <a:ext cx="393700" cy="6350"/>
            </a:xfrm>
            <a:custGeom>
              <a:avLst/>
              <a:gdLst/>
              <a:ahLst/>
              <a:cxnLst/>
              <a:rect l="l" t="t" r="r" b="b"/>
              <a:pathLst>
                <a:path w="393700" h="6350">
                  <a:moveTo>
                    <a:pt x="0" y="3175"/>
                  </a:moveTo>
                  <a:lnTo>
                    <a:pt x="393700" y="3175"/>
                  </a:lnTo>
                </a:path>
              </a:pathLst>
            </a:custGeom>
            <a:ln w="15875">
              <a:solidFill>
                <a:srgbClr val="194247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Oval"/>
            <p:cNvSpPr/>
            <p:nvPr/>
          </p:nvSpPr>
          <p:spPr>
            <a:xfrm>
              <a:off x="4845050" y="3206750"/>
              <a:ext cx="88900" cy="889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337077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Shape"/>
            <p:cNvSpPr/>
            <p:nvPr/>
          </p:nvSpPr>
          <p:spPr>
            <a:xfrm>
              <a:off x="5337175" y="2936875"/>
              <a:ext cx="1898650" cy="62865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6350">
              <a:solidFill>
                <a:srgbClr val="337077"/>
              </a:solidFill>
              <a:prstDash val="dash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Shape"/>
            <p:cNvSpPr/>
            <p:nvPr/>
          </p:nvSpPr>
          <p:spPr>
            <a:xfrm>
              <a:off x="5441950" y="3092450"/>
              <a:ext cx="317500" cy="317500"/>
            </a:xfrm>
            <a:prstGeom prst="ellipse">
              <a:avLst/>
            </a:prstGeom>
            <a:solidFill>
              <a:srgbClr val="D2F0C6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62" name="svgicon-54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486400" y="3136900"/>
              <a:ext cx="228600" cy="228600"/>
            </a:xfrm>
            <a:prstGeom prst="rect">
              <a:avLst/>
            </a:prstGeom>
          </p:spPr>
        </p:pic>
        <p:sp>
          <p:nvSpPr>
            <p:cNvPr id="63" name="Text"/>
            <p:cNvSpPr txBox="1"/>
            <p:nvPr/>
          </p:nvSpPr>
          <p:spPr>
            <a:xfrm>
              <a:off x="5848350" y="3096280"/>
              <a:ext cx="1509911" cy="1600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19424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Complete, low risk?</a:t>
              </a:r>
              <a:endParaRPr lang="en-US" sz="1050" dirty="0"/>
            </a:p>
          </p:txBody>
        </p:sp>
        <p:sp>
          <p:nvSpPr>
            <p:cNvPr id="64" name="Text"/>
            <p:cNvSpPr txBox="1"/>
            <p:nvPr/>
          </p:nvSpPr>
          <p:spPr>
            <a:xfrm>
              <a:off x="5848350" y="3255585"/>
              <a:ext cx="1295116" cy="1485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707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Rules and risk score</a:t>
              </a:r>
              <a:endParaRPr lang="en-US" sz="900" dirty="0"/>
            </a:p>
          </p:txBody>
        </p:sp>
      </p:grpSp>
      <p:grpSp>
        <p:nvGrpSpPr>
          <p:cNvPr id="65" name="Step 4"/>
          <p:cNvGrpSpPr/>
          <p:nvPr/>
        </p:nvGrpSpPr>
        <p:grpSpPr>
          <a:xfrm>
            <a:off x="7083552" y="1666875"/>
            <a:ext cx="4533773" cy="1628775"/>
            <a:chOff x="7083552" y="1666875"/>
            <a:chExt cx="4533773" cy="1628775"/>
          </a:xfrm>
        </p:grpSpPr>
        <p:sp>
          <p:nvSpPr>
            <p:cNvPr id="66" name="Path"/>
            <p:cNvSpPr/>
            <p:nvPr/>
          </p:nvSpPr>
          <p:spPr>
            <a:xfrm>
              <a:off x="7239000" y="1981200"/>
              <a:ext cx="393700" cy="1270000"/>
            </a:xfrm>
            <a:custGeom>
              <a:avLst/>
              <a:gdLst/>
              <a:ahLst/>
              <a:cxnLst/>
              <a:rect l="l" t="t" r="r" b="b"/>
              <a:pathLst>
                <a:path w="393700" h="1270000">
                  <a:moveTo>
                    <a:pt x="0" y="1270000"/>
                  </a:moveTo>
                  <a:cubicBezTo>
                    <a:pt x="254000" y="1270000"/>
                    <a:pt x="190500" y="0"/>
                    <a:pt x="393700" y="0"/>
                  </a:cubicBezTo>
                </a:path>
              </a:pathLst>
            </a:custGeom>
            <a:ln w="15875">
              <a:solidFill>
                <a:srgbClr val="194247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7" name="Oval"/>
            <p:cNvSpPr/>
            <p:nvPr/>
          </p:nvSpPr>
          <p:spPr>
            <a:xfrm>
              <a:off x="7194550" y="3206750"/>
              <a:ext cx="88900" cy="8890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337077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8" name="Shape"/>
            <p:cNvSpPr/>
            <p:nvPr/>
          </p:nvSpPr>
          <p:spPr>
            <a:xfrm>
              <a:off x="7686675" y="1666875"/>
              <a:ext cx="1898650" cy="628650"/>
            </a:xfrm>
            <a:prstGeom prst="roundRect">
              <a:avLst>
                <a:gd name="adj" fmla="val 13636"/>
              </a:avLst>
            </a:prstGeom>
            <a:solidFill>
              <a:srgbClr val="FFFFFF"/>
            </a:solidFill>
            <a:ln w="6350">
              <a:solidFill>
                <a:srgbClr val="0C2226">
                  <a:alpha val="16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9" name="Shape"/>
            <p:cNvSpPr/>
            <p:nvPr/>
          </p:nvSpPr>
          <p:spPr>
            <a:xfrm>
              <a:off x="7791450" y="1822450"/>
              <a:ext cx="317500" cy="317500"/>
            </a:xfrm>
            <a:prstGeom prst="ellipse">
              <a:avLst/>
            </a:prstGeom>
            <a:solidFill>
              <a:srgbClr val="D2F0C6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70" name="svgicon-55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35900" y="1866900"/>
              <a:ext cx="228600" cy="228600"/>
            </a:xfrm>
            <a:prstGeom prst="rect">
              <a:avLst/>
            </a:prstGeom>
          </p:spPr>
        </p:pic>
        <p:sp>
          <p:nvSpPr>
            <p:cNvPr id="71" name="Text"/>
            <p:cNvSpPr txBox="1"/>
            <p:nvPr/>
          </p:nvSpPr>
          <p:spPr>
            <a:xfrm>
              <a:off x="8197850" y="1746945"/>
              <a:ext cx="703032" cy="3506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60"/>
                </a:lnSpc>
                <a:buNone/>
              </a:pPr>
              <a:r>
                <a:rPr lang="en-US" sz="1050" b="1" dirty="0">
                  <a:solidFill>
                    <a:srgbClr val="19424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Configure accounts</a:t>
              </a:r>
              <a:endParaRPr lang="en-US" sz="1050" dirty="0"/>
            </a:p>
          </p:txBody>
        </p:sp>
        <p:sp>
          <p:nvSpPr>
            <p:cNvPr id="72" name="Text"/>
            <p:cNvSpPr txBox="1"/>
            <p:nvPr/>
          </p:nvSpPr>
          <p:spPr>
            <a:xfrm>
              <a:off x="8197850" y="2065556"/>
              <a:ext cx="895388" cy="1485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707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Core platform</a:t>
              </a:r>
              <a:endParaRPr lang="en-US" sz="900" dirty="0"/>
            </a:p>
          </p:txBody>
        </p:sp>
        <p:sp>
          <p:nvSpPr>
            <p:cNvPr id="73" name="Text"/>
            <p:cNvSpPr txBox="1"/>
            <p:nvPr/>
          </p:nvSpPr>
          <p:spPr>
            <a:xfrm>
              <a:off x="7083552" y="2359025"/>
              <a:ext cx="282448" cy="114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09A78D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Yes</a:t>
              </a:r>
              <a:endParaRPr lang="en-US" sz="900" dirty="0"/>
            </a:p>
          </p:txBody>
        </p:sp>
        <p:sp>
          <p:nvSpPr>
            <p:cNvPr id="74" name="Path"/>
            <p:cNvSpPr/>
            <p:nvPr/>
          </p:nvSpPr>
          <p:spPr>
            <a:xfrm>
              <a:off x="9588500" y="1978025"/>
              <a:ext cx="139700" cy="6350"/>
            </a:xfrm>
            <a:custGeom>
              <a:avLst/>
              <a:gdLst/>
              <a:ahLst/>
              <a:cxnLst/>
              <a:rect l="l" t="t" r="r" b="b"/>
              <a:pathLst>
                <a:path w="139700" h="6350">
                  <a:moveTo>
                    <a:pt x="0" y="3175"/>
                  </a:moveTo>
                  <a:lnTo>
                    <a:pt x="139700" y="3175"/>
                  </a:lnTo>
                </a:path>
              </a:pathLst>
            </a:custGeom>
            <a:ln w="15875">
              <a:solidFill>
                <a:srgbClr val="194247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5" name="Shape"/>
            <p:cNvSpPr/>
            <p:nvPr/>
          </p:nvSpPr>
          <p:spPr>
            <a:xfrm>
              <a:off x="9782175" y="1666875"/>
              <a:ext cx="1835150" cy="628650"/>
            </a:xfrm>
            <a:prstGeom prst="roundRect">
              <a:avLst>
                <a:gd name="adj" fmla="val 13636"/>
              </a:avLst>
            </a:prstGeom>
            <a:solidFill>
              <a:srgbClr val="0C2226"/>
            </a:solidFill>
            <a:ln w="6350">
              <a:solidFill>
                <a:srgbClr val="0C2226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6" name="Shape"/>
            <p:cNvSpPr/>
            <p:nvPr/>
          </p:nvSpPr>
          <p:spPr>
            <a:xfrm>
              <a:off x="9886950" y="1822450"/>
              <a:ext cx="317500" cy="317500"/>
            </a:xfrm>
            <a:prstGeom prst="ellipse">
              <a:avLst/>
            </a:prstGeom>
            <a:solidFill>
              <a:srgbClr val="52E081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77" name="svgicon-56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931400" y="1866900"/>
              <a:ext cx="228600" cy="228600"/>
            </a:xfrm>
            <a:prstGeom prst="rect">
              <a:avLst/>
            </a:prstGeom>
          </p:spPr>
        </p:pic>
        <p:sp>
          <p:nvSpPr>
            <p:cNvPr id="78" name="Text"/>
            <p:cNvSpPr txBox="1"/>
            <p:nvPr/>
          </p:nvSpPr>
          <p:spPr>
            <a:xfrm>
              <a:off x="10293350" y="1746945"/>
              <a:ext cx="1151072" cy="3506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260"/>
                </a:lnSpc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Welcome and go live</a:t>
              </a:r>
              <a:endParaRPr lang="en-US" sz="1050" dirty="0"/>
            </a:p>
          </p:txBody>
        </p:sp>
        <p:sp>
          <p:nvSpPr>
            <p:cNvPr id="79" name="Text"/>
            <p:cNvSpPr txBox="1"/>
            <p:nvPr/>
          </p:nvSpPr>
          <p:spPr>
            <a:xfrm>
              <a:off x="10293350" y="2065556"/>
              <a:ext cx="1193770" cy="1485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D2F0C6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Emails and checks</a:t>
              </a:r>
              <a:endParaRPr lang="en-US" sz="900" dirty="0"/>
            </a:p>
          </p:txBody>
        </p:sp>
      </p:grpSp>
      <p:grpSp>
        <p:nvGrpSpPr>
          <p:cNvPr id="80" name="Step 5"/>
          <p:cNvGrpSpPr/>
          <p:nvPr/>
        </p:nvGrpSpPr>
        <p:grpSpPr>
          <a:xfrm>
            <a:off x="7135922" y="2349500"/>
            <a:ext cx="2453187" cy="2486025"/>
            <a:chOff x="7135922" y="2349500"/>
            <a:chExt cx="2453187" cy="2486025"/>
          </a:xfrm>
        </p:grpSpPr>
        <p:sp>
          <p:nvSpPr>
            <p:cNvPr id="81" name="Path"/>
            <p:cNvSpPr/>
            <p:nvPr/>
          </p:nvSpPr>
          <p:spPr>
            <a:xfrm>
              <a:off x="7239000" y="3251200"/>
              <a:ext cx="393700" cy="1270000"/>
            </a:xfrm>
            <a:custGeom>
              <a:avLst/>
              <a:gdLst/>
              <a:ahLst/>
              <a:cxnLst/>
              <a:rect l="l" t="t" r="r" b="b"/>
              <a:pathLst>
                <a:path w="393700" h="1270000">
                  <a:moveTo>
                    <a:pt x="0" y="0"/>
                  </a:moveTo>
                  <a:cubicBezTo>
                    <a:pt x="254000" y="0"/>
                    <a:pt x="190500" y="1270000"/>
                    <a:pt x="393700" y="1270000"/>
                  </a:cubicBezTo>
                </a:path>
              </a:pathLst>
            </a:custGeom>
            <a:ln w="15875">
              <a:solidFill>
                <a:srgbClr val="194247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2" name="Shape"/>
            <p:cNvSpPr/>
            <p:nvPr/>
          </p:nvSpPr>
          <p:spPr>
            <a:xfrm>
              <a:off x="7686675" y="4206875"/>
              <a:ext cx="1898650" cy="628650"/>
            </a:xfrm>
            <a:prstGeom prst="roundRect">
              <a:avLst>
                <a:gd name="adj" fmla="val 13636"/>
              </a:avLst>
            </a:prstGeom>
            <a:solidFill>
              <a:srgbClr val="D2F0C6"/>
            </a:solidFill>
            <a:ln w="6350">
              <a:solidFill>
                <a:srgbClr val="D2F0C6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3" name="Shape"/>
            <p:cNvSpPr/>
            <p:nvPr/>
          </p:nvSpPr>
          <p:spPr>
            <a:xfrm>
              <a:off x="7791450" y="4362450"/>
              <a:ext cx="317500" cy="317500"/>
            </a:xfrm>
            <a:prstGeom prst="ellipse">
              <a:avLst/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84" name="svgicon-57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835900" y="4406900"/>
              <a:ext cx="228600" cy="228600"/>
            </a:xfrm>
            <a:prstGeom prst="rect">
              <a:avLst/>
            </a:prstGeom>
          </p:spPr>
        </p:pic>
        <p:sp>
          <p:nvSpPr>
            <p:cNvPr id="85" name="Text"/>
            <p:cNvSpPr txBox="1"/>
            <p:nvPr/>
          </p:nvSpPr>
          <p:spPr>
            <a:xfrm>
              <a:off x="8197850" y="4366280"/>
              <a:ext cx="1154408" cy="1600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19424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Analyst review</a:t>
              </a:r>
              <a:endParaRPr lang="en-US" sz="1050" dirty="0"/>
            </a:p>
          </p:txBody>
        </p:sp>
        <p:sp>
          <p:nvSpPr>
            <p:cNvPr id="86" name="Text"/>
            <p:cNvSpPr txBox="1"/>
            <p:nvPr/>
          </p:nvSpPr>
          <p:spPr>
            <a:xfrm>
              <a:off x="8197850" y="4525585"/>
              <a:ext cx="1391259" cy="1485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33707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Missing or risky items</a:t>
              </a:r>
              <a:endParaRPr lang="en-US" sz="900" dirty="0"/>
            </a:p>
          </p:txBody>
        </p:sp>
        <p:sp>
          <p:nvSpPr>
            <p:cNvPr id="87" name="Text"/>
            <p:cNvSpPr txBox="1"/>
            <p:nvPr/>
          </p:nvSpPr>
          <p:spPr>
            <a:xfrm>
              <a:off x="7135922" y="4035425"/>
              <a:ext cx="230078" cy="114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r">
                <a:buNone/>
              </a:pPr>
              <a:r>
                <a:rPr lang="en-US" sz="900" b="1" dirty="0">
                  <a:solidFill>
                    <a:srgbClr val="33707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</a:t>
              </a:r>
              <a:endParaRPr lang="en-US" sz="900" dirty="0"/>
            </a:p>
          </p:txBody>
        </p:sp>
        <p:sp>
          <p:nvSpPr>
            <p:cNvPr id="88" name="Path"/>
            <p:cNvSpPr/>
            <p:nvPr/>
          </p:nvSpPr>
          <p:spPr>
            <a:xfrm>
              <a:off x="8632825" y="2349500"/>
              <a:ext cx="6350" cy="1854200"/>
            </a:xfrm>
            <a:custGeom>
              <a:avLst/>
              <a:gdLst/>
              <a:ahLst/>
              <a:cxnLst/>
              <a:rect l="l" t="t" r="r" b="b"/>
              <a:pathLst>
                <a:path w="6350" h="1854200">
                  <a:moveTo>
                    <a:pt x="3175" y="1854200"/>
                  </a:moveTo>
                  <a:lnTo>
                    <a:pt x="3175" y="0"/>
                  </a:lnTo>
                </a:path>
              </a:pathLst>
            </a:custGeom>
            <a:ln w="15875">
              <a:solidFill>
                <a:srgbClr val="194247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9" name="Text"/>
            <p:cNvSpPr txBox="1"/>
            <p:nvPr/>
          </p:nvSpPr>
          <p:spPr>
            <a:xfrm>
              <a:off x="8737600" y="3171825"/>
              <a:ext cx="675390" cy="114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dirty="0">
                  <a:solidFill>
                    <a:srgbClr val="33707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Approved</a:t>
              </a:r>
              <a:endParaRPr lang="en-US" sz="900" dirty="0"/>
            </a:p>
          </p:txBody>
        </p:sp>
      </p:grpSp>
      <p:sp>
        <p:nvSpPr>
          <p:cNvPr id="90" name="Shape 76"/>
          <p:cNvSpPr/>
          <p:nvPr/>
        </p:nvSpPr>
        <p:spPr>
          <a:xfrm>
            <a:off x="374650" y="5537200"/>
            <a:ext cx="11436350" cy="508000"/>
          </a:xfrm>
          <a:prstGeom prst="roundRect">
            <a:avLst>
              <a:gd name="adj" fmla="val 17500"/>
            </a:avLst>
          </a:prstGeom>
          <a:solidFill>
            <a:srgbClr val="F6F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Shape 77"/>
          <p:cNvSpPr/>
          <p:nvPr/>
        </p:nvSpPr>
        <p:spPr>
          <a:xfrm>
            <a:off x="527050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2" name="svgicon-58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5150" y="5689501"/>
            <a:ext cx="203200" cy="203200"/>
          </a:xfrm>
          <a:prstGeom prst="rect">
            <a:avLst/>
          </a:prstGeom>
        </p:spPr>
      </p:pic>
      <p:sp>
        <p:nvSpPr>
          <p:cNvPr id="93" name="Text 78"/>
          <p:cNvSpPr txBox="1"/>
          <p:nvPr/>
        </p:nvSpPr>
        <p:spPr>
          <a:xfrm>
            <a:off x="882650" y="5640070"/>
            <a:ext cx="86269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IT FOR</a:t>
            </a:r>
            <a:endParaRPr lang="en-US" sz="900" dirty="0"/>
          </a:p>
        </p:txBody>
      </p:sp>
      <p:sp>
        <p:nvSpPr>
          <p:cNvPr id="94" name="Text 79"/>
          <p:cNvSpPr txBox="1"/>
          <p:nvPr/>
        </p:nvSpPr>
        <p:spPr>
          <a:xfrm>
            <a:off x="882650" y="5790525"/>
            <a:ext cx="2418066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Branching processes and routing logic</a:t>
            </a:r>
            <a:endParaRPr lang="en-US" sz="900" dirty="0"/>
          </a:p>
        </p:txBody>
      </p:sp>
      <p:sp>
        <p:nvSpPr>
          <p:cNvPr id="95" name="Shape 80"/>
          <p:cNvSpPr/>
          <p:nvPr/>
        </p:nvSpPr>
        <p:spPr>
          <a:xfrm>
            <a:off x="4288334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6" name="svgicon-59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26434" y="5689501"/>
            <a:ext cx="203200" cy="203200"/>
          </a:xfrm>
          <a:prstGeom prst="rect">
            <a:avLst/>
          </a:prstGeom>
        </p:spPr>
      </p:pic>
      <p:sp>
        <p:nvSpPr>
          <p:cNvPr id="97" name="Text 81"/>
          <p:cNvSpPr txBox="1"/>
          <p:nvPr/>
        </p:nvSpPr>
        <p:spPr>
          <a:xfrm>
            <a:off x="4643934" y="5640070"/>
            <a:ext cx="65435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MOTION</a:t>
            </a:r>
            <a:endParaRPr lang="en-US" sz="900" dirty="0"/>
          </a:p>
        </p:txBody>
      </p:sp>
      <p:sp>
        <p:nvSpPr>
          <p:cNvPr id="98" name="Text 82"/>
          <p:cNvSpPr txBox="1"/>
          <p:nvPr/>
        </p:nvSpPr>
        <p:spPr>
          <a:xfrm>
            <a:off x="4643934" y="5790525"/>
            <a:ext cx="2289348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left to right, branch by branch</a:t>
            </a:r>
            <a:endParaRPr lang="en-US" sz="900" dirty="0"/>
          </a:p>
        </p:txBody>
      </p:sp>
      <p:sp>
        <p:nvSpPr>
          <p:cNvPr id="99" name="Shape 83"/>
          <p:cNvSpPr/>
          <p:nvPr/>
        </p:nvSpPr>
        <p:spPr>
          <a:xfrm>
            <a:off x="8049617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0" name="svgicon-60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87717" y="5689501"/>
            <a:ext cx="203200" cy="203200"/>
          </a:xfrm>
          <a:prstGeom prst="rect">
            <a:avLst/>
          </a:prstGeom>
        </p:spPr>
      </p:pic>
      <p:sp>
        <p:nvSpPr>
          <p:cNvPr id="101" name="Text 84"/>
          <p:cNvSpPr txBox="1"/>
          <p:nvPr/>
        </p:nvSpPr>
        <p:spPr>
          <a:xfrm>
            <a:off x="8405217" y="5640070"/>
            <a:ext cx="63354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SEEN IN</a:t>
            </a:r>
            <a:endParaRPr lang="en-US" sz="900" dirty="0"/>
          </a:p>
        </p:txBody>
      </p:sp>
      <p:sp>
        <p:nvSpPr>
          <p:cNvPr id="102" name="Text 85"/>
          <p:cNvSpPr txBox="1"/>
          <p:nvPr/>
        </p:nvSpPr>
        <p:spPr>
          <a:xfrm>
            <a:off x="8405217" y="5790525"/>
            <a:ext cx="2437521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builders and agent canvases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7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4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1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8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00050" y="203200"/>
            <a:ext cx="3540903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10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 5/12 | SWIMLANE HANDOFFS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374650" y="328930"/>
            <a:ext cx="10818473" cy="4089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28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travels with the customer </a:t>
            </a:r>
            <a:r>
              <a:rPr lang="en-US" sz="2800" b="1" kern="0" spc="-28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across every handoff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4650" y="1066800"/>
            <a:ext cx="11436350" cy="850900"/>
          </a:xfrm>
          <a:prstGeom prst="roundRect">
            <a:avLst>
              <a:gd name="adj" fmla="val 10448"/>
            </a:avLst>
          </a:prstGeom>
          <a:solidFill>
            <a:srgbClr val="0C2226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527050" y="1333500"/>
            <a:ext cx="317500" cy="317500"/>
          </a:xfrm>
          <a:prstGeom prst="ellipse">
            <a:avLst/>
          </a:prstGeom>
          <a:solidFill>
            <a:srgbClr val="D2F0C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svgicon-61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1377950"/>
            <a:ext cx="228600" cy="228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33450" y="1411645"/>
            <a:ext cx="781713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74650" y="1981200"/>
            <a:ext cx="11436350" cy="850900"/>
          </a:xfrm>
          <a:prstGeom prst="roundRect">
            <a:avLst>
              <a:gd name="adj" fmla="val 10448"/>
            </a:avLst>
          </a:prstGeom>
          <a:solidFill>
            <a:srgbClr val="F6F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527050" y="2247900"/>
            <a:ext cx="317500" cy="317500"/>
          </a:xfrm>
          <a:prstGeom prst="ellipse">
            <a:avLst/>
          </a:prstGeom>
          <a:solidFill>
            <a:srgbClr val="0C222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svgicon-62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00" y="229235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33450" y="2326045"/>
            <a:ext cx="668264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374650" y="2895600"/>
            <a:ext cx="11436350" cy="850900"/>
          </a:xfrm>
          <a:prstGeom prst="roundRect">
            <a:avLst>
              <a:gd name="adj" fmla="val 10448"/>
            </a:avLst>
          </a:prstGeom>
          <a:solidFill>
            <a:srgbClr val="0C2226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9"/>
          <p:cNvSpPr/>
          <p:nvPr/>
        </p:nvSpPr>
        <p:spPr>
          <a:xfrm>
            <a:off x="527050" y="3162300"/>
            <a:ext cx="317500" cy="317500"/>
          </a:xfrm>
          <a:prstGeom prst="ellipse">
            <a:avLst/>
          </a:prstGeom>
          <a:solidFill>
            <a:srgbClr val="D2F0C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svgicon-63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" y="320675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33450" y="3240445"/>
            <a:ext cx="1026821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team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374650" y="3810000"/>
            <a:ext cx="11436350" cy="850900"/>
          </a:xfrm>
          <a:prstGeom prst="roundRect">
            <a:avLst>
              <a:gd name="adj" fmla="val 10448"/>
            </a:avLst>
          </a:prstGeom>
          <a:solidFill>
            <a:srgbClr val="F6F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2"/>
          <p:cNvSpPr/>
          <p:nvPr/>
        </p:nvSpPr>
        <p:spPr>
          <a:xfrm>
            <a:off x="527050" y="4076700"/>
            <a:ext cx="317500" cy="317500"/>
          </a:xfrm>
          <a:prstGeom prst="ellipse">
            <a:avLst/>
          </a:prstGeom>
          <a:solidFill>
            <a:srgbClr val="D2F0C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svgicon-64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500" y="4121150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33450" y="4154845"/>
            <a:ext cx="88373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 office</a:t>
            </a:r>
            <a:endParaRPr lang="en-US" sz="1050" dirty="0"/>
          </a:p>
        </p:txBody>
      </p:sp>
      <p:grpSp>
        <p:nvGrpSpPr>
          <p:cNvPr id="21" name="Step 1"/>
          <p:cNvGrpSpPr/>
          <p:nvPr/>
        </p:nvGrpSpPr>
        <p:grpSpPr>
          <a:xfrm>
            <a:off x="2098675" y="1222375"/>
            <a:ext cx="1657350" cy="539750"/>
            <a:chOff x="2098675" y="1222375"/>
            <a:chExt cx="1657350" cy="539750"/>
          </a:xfrm>
        </p:grpSpPr>
        <p:sp>
          <p:nvSpPr>
            <p:cNvPr id="22" name="Shape"/>
            <p:cNvSpPr/>
            <p:nvPr/>
          </p:nvSpPr>
          <p:spPr>
            <a:xfrm>
              <a:off x="2098675" y="1222375"/>
              <a:ext cx="1657350" cy="539750"/>
            </a:xfrm>
            <a:prstGeom prst="roundRect">
              <a:avLst>
                <a:gd name="adj" fmla="val 15882"/>
              </a:avLst>
            </a:prstGeom>
            <a:solidFill>
              <a:srgbClr val="FFFFFF"/>
            </a:solidFill>
            <a:ln w="6350">
              <a:solidFill>
                <a:srgbClr val="0C2226">
                  <a:alpha val="16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"/>
            <p:cNvSpPr txBox="1"/>
            <p:nvPr/>
          </p:nvSpPr>
          <p:spPr>
            <a:xfrm>
              <a:off x="2203450" y="1341140"/>
              <a:ext cx="1528326" cy="3197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40"/>
                </a:lnSpc>
                <a:buNone/>
              </a:pPr>
              <a:r>
                <a:rPr lang="en-US" sz="950" dirty="0">
                  <a:solidFill>
                    <a:srgbClr val="194247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Reports a lost card in the app</a:t>
              </a:r>
              <a:endParaRPr lang="en-US" sz="950" dirty="0"/>
            </a:p>
          </p:txBody>
        </p:sp>
      </p:grpSp>
      <p:grpSp>
        <p:nvGrpSpPr>
          <p:cNvPr id="24" name="Step 2"/>
          <p:cNvGrpSpPr/>
          <p:nvPr/>
        </p:nvGrpSpPr>
        <p:grpSpPr>
          <a:xfrm>
            <a:off x="3759200" y="1492250"/>
            <a:ext cx="1965325" cy="1184275"/>
            <a:chOff x="3759200" y="1492250"/>
            <a:chExt cx="1965325" cy="1184275"/>
          </a:xfrm>
        </p:grpSpPr>
        <p:sp>
          <p:nvSpPr>
            <p:cNvPr id="25" name="Path"/>
            <p:cNvSpPr/>
            <p:nvPr/>
          </p:nvSpPr>
          <p:spPr>
            <a:xfrm>
              <a:off x="3759200" y="1492250"/>
              <a:ext cx="622300" cy="603250"/>
            </a:xfrm>
            <a:custGeom>
              <a:avLst/>
              <a:gdLst/>
              <a:ahLst/>
              <a:cxnLst/>
              <a:rect l="l" t="t" r="r" b="b"/>
              <a:pathLst>
                <a:path w="622300" h="603250">
                  <a:moveTo>
                    <a:pt x="0" y="0"/>
                  </a:moveTo>
                  <a:lnTo>
                    <a:pt x="622300" y="0"/>
                  </a:lnTo>
                  <a:lnTo>
                    <a:pt x="622300" y="603250"/>
                  </a:lnTo>
                </a:path>
              </a:pathLst>
            </a:custGeom>
            <a:ln w="15875">
              <a:solidFill>
                <a:srgbClr val="09A78D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Oval"/>
            <p:cNvSpPr/>
            <p:nvPr/>
          </p:nvSpPr>
          <p:spPr>
            <a:xfrm>
              <a:off x="4254500" y="1822450"/>
              <a:ext cx="254000" cy="254000"/>
            </a:xfrm>
            <a:prstGeom prst="ellipse">
              <a:avLst/>
            </a:prstGeom>
            <a:solidFill>
              <a:srgbClr val="D2F0C6"/>
            </a:solidFill>
            <a:ln w="190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27" name="svgicon-65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298950" y="1866900"/>
              <a:ext cx="165095" cy="165095"/>
            </a:xfrm>
            <a:prstGeom prst="rect">
              <a:avLst/>
            </a:prstGeom>
          </p:spPr>
        </p:pic>
        <p:sp>
          <p:nvSpPr>
            <p:cNvPr id="28" name="Shape"/>
            <p:cNvSpPr/>
            <p:nvPr/>
          </p:nvSpPr>
          <p:spPr>
            <a:xfrm>
              <a:off x="4067175" y="2136775"/>
              <a:ext cx="1657350" cy="539750"/>
            </a:xfrm>
            <a:prstGeom prst="roundRect">
              <a:avLst>
                <a:gd name="adj" fmla="val 15882"/>
              </a:avLst>
            </a:prstGeom>
            <a:solidFill>
              <a:srgbClr val="0C2226"/>
            </a:solidFill>
            <a:ln w="6350">
              <a:solidFill>
                <a:srgbClr val="0C2226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"/>
            <p:cNvSpPr txBox="1"/>
            <p:nvPr/>
          </p:nvSpPr>
          <p:spPr>
            <a:xfrm>
              <a:off x="4171950" y="2255540"/>
              <a:ext cx="1506244" cy="3197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40"/>
                </a:lnSpc>
                <a:buNone/>
              </a:pPr>
              <a:r>
                <a:rPr lang="en-US" sz="950" dirty="0">
                  <a:solidFill>
                    <a:srgbClr val="FFFFFF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Blocks the card; reviews recent spend</a:t>
              </a:r>
              <a:endParaRPr lang="en-US" sz="950" dirty="0"/>
            </a:p>
          </p:txBody>
        </p:sp>
      </p:grpSp>
      <p:grpSp>
        <p:nvGrpSpPr>
          <p:cNvPr id="30" name="Step 3"/>
          <p:cNvGrpSpPr/>
          <p:nvPr/>
        </p:nvGrpSpPr>
        <p:grpSpPr>
          <a:xfrm>
            <a:off x="5727700" y="2406650"/>
            <a:ext cx="1965325" cy="1184275"/>
            <a:chOff x="5727700" y="2406650"/>
            <a:chExt cx="1965325" cy="1184275"/>
          </a:xfrm>
        </p:grpSpPr>
        <p:sp>
          <p:nvSpPr>
            <p:cNvPr id="31" name="Path"/>
            <p:cNvSpPr/>
            <p:nvPr/>
          </p:nvSpPr>
          <p:spPr>
            <a:xfrm>
              <a:off x="5727700" y="2406650"/>
              <a:ext cx="622300" cy="603250"/>
            </a:xfrm>
            <a:custGeom>
              <a:avLst/>
              <a:gdLst/>
              <a:ahLst/>
              <a:cxnLst/>
              <a:rect l="l" t="t" r="r" b="b"/>
              <a:pathLst>
                <a:path w="622300" h="603250">
                  <a:moveTo>
                    <a:pt x="0" y="0"/>
                  </a:moveTo>
                  <a:lnTo>
                    <a:pt x="622300" y="0"/>
                  </a:lnTo>
                  <a:lnTo>
                    <a:pt x="622300" y="603250"/>
                  </a:lnTo>
                </a:path>
              </a:pathLst>
            </a:custGeom>
            <a:ln w="15875">
              <a:solidFill>
                <a:srgbClr val="09A78D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Oval"/>
            <p:cNvSpPr/>
            <p:nvPr/>
          </p:nvSpPr>
          <p:spPr>
            <a:xfrm>
              <a:off x="6223000" y="2736850"/>
              <a:ext cx="254000" cy="254000"/>
            </a:xfrm>
            <a:prstGeom prst="ellipse">
              <a:avLst/>
            </a:prstGeom>
            <a:solidFill>
              <a:srgbClr val="D2F0C6"/>
            </a:solidFill>
            <a:ln w="190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33" name="svgicon-66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267450" y="2781300"/>
              <a:ext cx="165095" cy="165095"/>
            </a:xfrm>
            <a:prstGeom prst="rect">
              <a:avLst/>
            </a:prstGeom>
          </p:spPr>
        </p:pic>
        <p:sp>
          <p:nvSpPr>
            <p:cNvPr id="34" name="Shape"/>
            <p:cNvSpPr/>
            <p:nvPr/>
          </p:nvSpPr>
          <p:spPr>
            <a:xfrm>
              <a:off x="6035675" y="3051175"/>
              <a:ext cx="1657350" cy="539750"/>
            </a:xfrm>
            <a:prstGeom prst="roundRect">
              <a:avLst>
                <a:gd name="adj" fmla="val 15882"/>
              </a:avLst>
            </a:prstGeom>
            <a:solidFill>
              <a:srgbClr val="FFFFFF"/>
            </a:solidFill>
            <a:ln w="6350">
              <a:solidFill>
                <a:srgbClr val="0C2226">
                  <a:alpha val="16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"/>
            <p:cNvSpPr txBox="1"/>
            <p:nvPr/>
          </p:nvSpPr>
          <p:spPr>
            <a:xfrm>
              <a:off x="6140450" y="3169940"/>
              <a:ext cx="1517698" cy="3197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40"/>
                </a:lnSpc>
                <a:buNone/>
              </a:pPr>
              <a:r>
                <a:rPr lang="en-US" sz="950" dirty="0">
                  <a:solidFill>
                    <a:srgbClr val="194247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Confirms two charges to dispute</a:t>
              </a:r>
              <a:endParaRPr lang="en-US" sz="950" dirty="0"/>
            </a:p>
          </p:txBody>
        </p:sp>
      </p:grpSp>
      <p:grpSp>
        <p:nvGrpSpPr>
          <p:cNvPr id="36" name="Step 4"/>
          <p:cNvGrpSpPr/>
          <p:nvPr/>
        </p:nvGrpSpPr>
        <p:grpSpPr>
          <a:xfrm>
            <a:off x="7696200" y="3321050"/>
            <a:ext cx="1965325" cy="1184275"/>
            <a:chOff x="7696200" y="3321050"/>
            <a:chExt cx="1965325" cy="1184275"/>
          </a:xfrm>
        </p:grpSpPr>
        <p:sp>
          <p:nvSpPr>
            <p:cNvPr id="37" name="Path"/>
            <p:cNvSpPr/>
            <p:nvPr/>
          </p:nvSpPr>
          <p:spPr>
            <a:xfrm>
              <a:off x="7696200" y="3321050"/>
              <a:ext cx="622300" cy="603250"/>
            </a:xfrm>
            <a:custGeom>
              <a:avLst/>
              <a:gdLst/>
              <a:ahLst/>
              <a:cxnLst/>
              <a:rect l="l" t="t" r="r" b="b"/>
              <a:pathLst>
                <a:path w="622300" h="603250">
                  <a:moveTo>
                    <a:pt x="0" y="0"/>
                  </a:moveTo>
                  <a:lnTo>
                    <a:pt x="622300" y="0"/>
                  </a:lnTo>
                  <a:lnTo>
                    <a:pt x="622300" y="603250"/>
                  </a:lnTo>
                </a:path>
              </a:pathLst>
            </a:custGeom>
            <a:ln w="15875">
              <a:solidFill>
                <a:srgbClr val="09A78D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Oval"/>
            <p:cNvSpPr/>
            <p:nvPr/>
          </p:nvSpPr>
          <p:spPr>
            <a:xfrm>
              <a:off x="8191500" y="3651250"/>
              <a:ext cx="254000" cy="254000"/>
            </a:xfrm>
            <a:prstGeom prst="ellipse">
              <a:avLst/>
            </a:prstGeom>
            <a:solidFill>
              <a:srgbClr val="D2F0C6"/>
            </a:solidFill>
            <a:ln w="190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39" name="svgicon-67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235950" y="3695700"/>
              <a:ext cx="165095" cy="165095"/>
            </a:xfrm>
            <a:prstGeom prst="rect">
              <a:avLst/>
            </a:prstGeom>
          </p:spPr>
        </p:pic>
        <p:sp>
          <p:nvSpPr>
            <p:cNvPr id="40" name="Shape"/>
            <p:cNvSpPr/>
            <p:nvPr/>
          </p:nvSpPr>
          <p:spPr>
            <a:xfrm>
              <a:off x="8004175" y="3965575"/>
              <a:ext cx="1657350" cy="539750"/>
            </a:xfrm>
            <a:prstGeom prst="roundRect">
              <a:avLst>
                <a:gd name="adj" fmla="val 15882"/>
              </a:avLst>
            </a:prstGeom>
            <a:solidFill>
              <a:srgbClr val="FFFFFF"/>
            </a:solidFill>
            <a:ln w="6350">
              <a:solidFill>
                <a:srgbClr val="0C2226">
                  <a:alpha val="16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"/>
            <p:cNvSpPr txBox="1"/>
            <p:nvPr/>
          </p:nvSpPr>
          <p:spPr>
            <a:xfrm>
              <a:off x="8108950" y="4084340"/>
              <a:ext cx="1440720" cy="3197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40"/>
                </a:lnSpc>
                <a:buNone/>
              </a:pPr>
              <a:r>
                <a:rPr lang="en-US" sz="950" dirty="0">
                  <a:solidFill>
                    <a:srgbClr val="194247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Opens disputes; orders a new card</a:t>
              </a:r>
              <a:endParaRPr lang="en-US" sz="950" dirty="0"/>
            </a:p>
          </p:txBody>
        </p:sp>
      </p:grpSp>
      <p:grpSp>
        <p:nvGrpSpPr>
          <p:cNvPr id="42" name="Step 5"/>
          <p:cNvGrpSpPr/>
          <p:nvPr/>
        </p:nvGrpSpPr>
        <p:grpSpPr>
          <a:xfrm>
            <a:off x="8258175" y="2136775"/>
            <a:ext cx="1657350" cy="1825625"/>
            <a:chOff x="8258175" y="2136775"/>
            <a:chExt cx="1657350" cy="1825625"/>
          </a:xfrm>
        </p:grpSpPr>
        <p:sp>
          <p:nvSpPr>
            <p:cNvPr id="43" name="Path"/>
            <p:cNvSpPr/>
            <p:nvPr/>
          </p:nvSpPr>
          <p:spPr>
            <a:xfrm>
              <a:off x="9394825" y="2717800"/>
              <a:ext cx="6350" cy="1244600"/>
            </a:xfrm>
            <a:custGeom>
              <a:avLst/>
              <a:gdLst/>
              <a:ahLst/>
              <a:cxnLst/>
              <a:rect l="l" t="t" r="r" b="b"/>
              <a:pathLst>
                <a:path w="6350" h="1244600">
                  <a:moveTo>
                    <a:pt x="3175" y="1244600"/>
                  </a:moveTo>
                  <a:lnTo>
                    <a:pt x="3175" y="0"/>
                  </a:lnTo>
                </a:path>
              </a:pathLst>
            </a:custGeom>
            <a:ln w="15875">
              <a:solidFill>
                <a:srgbClr val="09A78D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Oval"/>
            <p:cNvSpPr/>
            <p:nvPr/>
          </p:nvSpPr>
          <p:spPr>
            <a:xfrm>
              <a:off x="9271000" y="3651250"/>
              <a:ext cx="254000" cy="254000"/>
            </a:xfrm>
            <a:prstGeom prst="ellipse">
              <a:avLst/>
            </a:prstGeom>
            <a:solidFill>
              <a:srgbClr val="D2F0C6"/>
            </a:solidFill>
            <a:ln w="190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45" name="svgicon-68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315450" y="3695700"/>
              <a:ext cx="165095" cy="165095"/>
            </a:xfrm>
            <a:prstGeom prst="rect">
              <a:avLst/>
            </a:prstGeom>
          </p:spPr>
        </p:pic>
        <p:sp>
          <p:nvSpPr>
            <p:cNvPr id="46" name="Shape"/>
            <p:cNvSpPr/>
            <p:nvPr/>
          </p:nvSpPr>
          <p:spPr>
            <a:xfrm>
              <a:off x="8258175" y="2136775"/>
              <a:ext cx="1657350" cy="539750"/>
            </a:xfrm>
            <a:prstGeom prst="roundRect">
              <a:avLst>
                <a:gd name="adj" fmla="val 15882"/>
              </a:avLst>
            </a:prstGeom>
            <a:solidFill>
              <a:srgbClr val="0C2226"/>
            </a:solidFill>
            <a:ln w="6350">
              <a:solidFill>
                <a:srgbClr val="0C2226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Text"/>
            <p:cNvSpPr txBox="1"/>
            <p:nvPr/>
          </p:nvSpPr>
          <p:spPr>
            <a:xfrm>
              <a:off x="8362950" y="2255540"/>
              <a:ext cx="1238472" cy="3197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40"/>
                </a:lnSpc>
                <a:buNone/>
              </a:pPr>
              <a:r>
                <a:rPr lang="en-US" sz="950" dirty="0">
                  <a:solidFill>
                    <a:srgbClr val="FFFFFF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Keeps the customer updated</a:t>
              </a:r>
              <a:endParaRPr lang="en-US" sz="950" dirty="0"/>
            </a:p>
          </p:txBody>
        </p:sp>
      </p:grpSp>
      <p:grpSp>
        <p:nvGrpSpPr>
          <p:cNvPr id="48" name="Step 6"/>
          <p:cNvGrpSpPr/>
          <p:nvPr/>
        </p:nvGrpSpPr>
        <p:grpSpPr>
          <a:xfrm>
            <a:off x="9918700" y="1222375"/>
            <a:ext cx="1838325" cy="1184275"/>
            <a:chOff x="9918700" y="1222375"/>
            <a:chExt cx="1838325" cy="1184275"/>
          </a:xfrm>
        </p:grpSpPr>
        <p:sp>
          <p:nvSpPr>
            <p:cNvPr id="49" name="Path"/>
            <p:cNvSpPr/>
            <p:nvPr/>
          </p:nvSpPr>
          <p:spPr>
            <a:xfrm>
              <a:off x="9918700" y="1803400"/>
              <a:ext cx="495300" cy="603250"/>
            </a:xfrm>
            <a:custGeom>
              <a:avLst/>
              <a:gdLst/>
              <a:ahLst/>
              <a:cxnLst/>
              <a:rect l="l" t="t" r="r" b="b"/>
              <a:pathLst>
                <a:path w="495300" h="603250">
                  <a:moveTo>
                    <a:pt x="0" y="603250"/>
                  </a:moveTo>
                  <a:lnTo>
                    <a:pt x="495300" y="603250"/>
                  </a:lnTo>
                  <a:lnTo>
                    <a:pt x="495300" y="0"/>
                  </a:lnTo>
                </a:path>
              </a:pathLst>
            </a:custGeom>
            <a:ln w="15875">
              <a:solidFill>
                <a:srgbClr val="09A78D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Oval"/>
            <p:cNvSpPr/>
            <p:nvPr/>
          </p:nvSpPr>
          <p:spPr>
            <a:xfrm>
              <a:off x="10287000" y="1822450"/>
              <a:ext cx="254000" cy="254000"/>
            </a:xfrm>
            <a:prstGeom prst="ellipse">
              <a:avLst/>
            </a:prstGeom>
            <a:solidFill>
              <a:srgbClr val="D2F0C6"/>
            </a:solidFill>
            <a:ln w="1905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51" name="svgicon-69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331450" y="1866900"/>
              <a:ext cx="165095" cy="165095"/>
            </a:xfrm>
            <a:prstGeom prst="rect">
              <a:avLst/>
            </a:prstGeom>
          </p:spPr>
        </p:pic>
        <p:sp>
          <p:nvSpPr>
            <p:cNvPr id="52" name="Shape"/>
            <p:cNvSpPr/>
            <p:nvPr/>
          </p:nvSpPr>
          <p:spPr>
            <a:xfrm>
              <a:off x="10099675" y="1222375"/>
              <a:ext cx="1657350" cy="539750"/>
            </a:xfrm>
            <a:prstGeom prst="roundRect">
              <a:avLst>
                <a:gd name="adj" fmla="val 15882"/>
              </a:avLst>
            </a:prstGeom>
            <a:solidFill>
              <a:srgbClr val="FFFFFF"/>
            </a:solidFill>
            <a:ln w="6350">
              <a:solidFill>
                <a:srgbClr val="0C2226">
                  <a:alpha val="16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Text"/>
            <p:cNvSpPr txBox="1"/>
            <p:nvPr/>
          </p:nvSpPr>
          <p:spPr>
            <a:xfrm>
              <a:off x="10204450" y="1341140"/>
              <a:ext cx="1042416" cy="3197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40"/>
                </a:lnSpc>
                <a:buNone/>
              </a:pPr>
              <a:r>
                <a:rPr lang="en-US" sz="950" dirty="0">
                  <a:solidFill>
                    <a:srgbClr val="194247"/>
                  </a:solidFill>
                  <a:latin typeface="Segoe UI Semibold" pitchFamily="34" charset="0"/>
                  <a:ea typeface="Segoe UI Semibold" pitchFamily="34" charset="-122"/>
                  <a:cs typeface="Segoe UI Semibold" pitchFamily="34" charset="-120"/>
                </a:rPr>
                <a:t>New card active; disputes closed</a:t>
              </a:r>
              <a:endParaRPr lang="en-US" sz="950" dirty="0"/>
            </a:p>
          </p:txBody>
        </p:sp>
      </p:grpSp>
      <p:grpSp>
        <p:nvGrpSpPr>
          <p:cNvPr id="54" name="Step 7"/>
          <p:cNvGrpSpPr/>
          <p:nvPr/>
        </p:nvGrpSpPr>
        <p:grpSpPr>
          <a:xfrm>
            <a:off x="374650" y="4800600"/>
            <a:ext cx="11436350" cy="533400"/>
            <a:chOff x="374650" y="4800600"/>
            <a:chExt cx="11436350" cy="533400"/>
          </a:xfrm>
        </p:grpSpPr>
        <p:sp>
          <p:nvSpPr>
            <p:cNvPr id="55" name="Shape"/>
            <p:cNvSpPr/>
            <p:nvPr/>
          </p:nvSpPr>
          <p:spPr>
            <a:xfrm>
              <a:off x="374650" y="4800600"/>
              <a:ext cx="11436350" cy="533400"/>
            </a:xfrm>
            <a:prstGeom prst="roundRect">
              <a:avLst>
                <a:gd name="adj" fmla="val 16667"/>
              </a:avLst>
            </a:prstGeom>
            <a:solidFill>
              <a:srgbClr val="194247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56" name="svgicon-70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65150" y="4972050"/>
              <a:ext cx="190500" cy="190500"/>
            </a:xfrm>
            <a:prstGeom prst="rect">
              <a:avLst/>
            </a:prstGeom>
          </p:spPr>
        </p:pic>
        <p:sp>
          <p:nvSpPr>
            <p:cNvPr id="57" name="Text"/>
            <p:cNvSpPr txBox="1"/>
            <p:nvPr/>
          </p:nvSpPr>
          <p:spPr>
            <a:xfrm>
              <a:off x="857250" y="5006975"/>
              <a:ext cx="2322489" cy="1143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b="1" kern="0" spc="126" dirty="0">
                  <a:solidFill>
                    <a:srgbClr val="52E081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PASSED AT EVERY HANDOFF</a:t>
              </a:r>
              <a:endParaRPr lang="en-US" sz="900" dirty="0"/>
            </a:p>
          </p:txBody>
        </p:sp>
        <p:pic>
          <p:nvPicPr>
            <p:cNvPr id="58" name="svgicon-71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065859" y="4984750"/>
              <a:ext cx="165100" cy="165100"/>
            </a:xfrm>
            <a:prstGeom prst="rect">
              <a:avLst/>
            </a:prstGeom>
          </p:spPr>
        </p:pic>
        <p:sp>
          <p:nvSpPr>
            <p:cNvPr id="59" name="Text"/>
            <p:cNvSpPr txBox="1"/>
            <p:nvPr/>
          </p:nvSpPr>
          <p:spPr>
            <a:xfrm>
              <a:off x="3294459" y="4978400"/>
              <a:ext cx="1129750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Verified identity</a:t>
              </a:r>
              <a:endParaRPr lang="en-US" sz="1000" dirty="0"/>
            </a:p>
          </p:txBody>
        </p:sp>
        <p:sp>
          <p:nvSpPr>
            <p:cNvPr id="60" name="Shape"/>
            <p:cNvSpPr/>
            <p:nvPr/>
          </p:nvSpPr>
          <p:spPr>
            <a:xfrm>
              <a:off x="4380607" y="4959350"/>
              <a:ext cx="9525" cy="215900"/>
            </a:xfrm>
            <a:prstGeom prst="rect">
              <a:avLst/>
            </a:prstGeom>
            <a:solidFill>
              <a:srgbClr val="D2F0C6">
                <a:alpha val="35000"/>
              </a:srgbClr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61" name="svgicon-72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567932" y="4984750"/>
              <a:ext cx="165100" cy="165100"/>
            </a:xfrm>
            <a:prstGeom prst="rect">
              <a:avLst/>
            </a:prstGeom>
          </p:spPr>
        </p:pic>
        <p:sp>
          <p:nvSpPr>
            <p:cNvPr id="62" name="Text"/>
            <p:cNvSpPr txBox="1"/>
            <p:nvPr/>
          </p:nvSpPr>
          <p:spPr>
            <a:xfrm>
              <a:off x="4796532" y="4978400"/>
              <a:ext cx="1388545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Conversation so far</a:t>
              </a:r>
              <a:endParaRPr lang="en-US" sz="1000" dirty="0"/>
            </a:p>
          </p:txBody>
        </p:sp>
        <p:sp>
          <p:nvSpPr>
            <p:cNvPr id="63" name="Shape"/>
            <p:cNvSpPr/>
            <p:nvPr/>
          </p:nvSpPr>
          <p:spPr>
            <a:xfrm>
              <a:off x="6109692" y="4959350"/>
              <a:ext cx="9525" cy="215900"/>
            </a:xfrm>
            <a:prstGeom prst="rect">
              <a:avLst/>
            </a:prstGeom>
            <a:solidFill>
              <a:srgbClr val="D2F0C6">
                <a:alpha val="35000"/>
              </a:srgbClr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64" name="svgicon-73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297017" y="4984750"/>
              <a:ext cx="165100" cy="165100"/>
            </a:xfrm>
            <a:prstGeom prst="rect">
              <a:avLst/>
            </a:prstGeom>
          </p:spPr>
        </p:pic>
        <p:sp>
          <p:nvSpPr>
            <p:cNvPr id="65" name="Text"/>
            <p:cNvSpPr txBox="1"/>
            <p:nvPr/>
          </p:nvSpPr>
          <p:spPr>
            <a:xfrm>
              <a:off x="6525617" y="4978400"/>
              <a:ext cx="1779224" cy="1714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Case notes and evidence</a:t>
              </a:r>
              <a:endParaRPr lang="en-US" sz="1000" dirty="0"/>
            </a:p>
          </p:txBody>
        </p:sp>
      </p:grpSp>
      <p:sp>
        <p:nvSpPr>
          <p:cNvPr id="66" name="Shape 43"/>
          <p:cNvSpPr/>
          <p:nvPr/>
        </p:nvSpPr>
        <p:spPr>
          <a:xfrm>
            <a:off x="374650" y="5537200"/>
            <a:ext cx="11436350" cy="508000"/>
          </a:xfrm>
          <a:prstGeom prst="roundRect">
            <a:avLst>
              <a:gd name="adj" fmla="val 17500"/>
            </a:avLst>
          </a:prstGeom>
          <a:solidFill>
            <a:srgbClr val="F6F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Shape 44"/>
          <p:cNvSpPr/>
          <p:nvPr/>
        </p:nvSpPr>
        <p:spPr>
          <a:xfrm>
            <a:off x="527050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8" name="svgicon-74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5150" y="5689501"/>
            <a:ext cx="203200" cy="203200"/>
          </a:xfrm>
          <a:prstGeom prst="rect">
            <a:avLst/>
          </a:prstGeom>
        </p:spPr>
      </p:pic>
      <p:sp>
        <p:nvSpPr>
          <p:cNvPr id="69" name="Text 45"/>
          <p:cNvSpPr txBox="1"/>
          <p:nvPr/>
        </p:nvSpPr>
        <p:spPr>
          <a:xfrm>
            <a:off x="882650" y="5640070"/>
            <a:ext cx="86269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IT FOR</a:t>
            </a:r>
            <a:endParaRPr lang="en-US" sz="900" dirty="0"/>
          </a:p>
        </p:txBody>
      </p:sp>
      <p:sp>
        <p:nvSpPr>
          <p:cNvPr id="70" name="Text 46"/>
          <p:cNvSpPr txBox="1"/>
          <p:nvPr/>
        </p:nvSpPr>
        <p:spPr>
          <a:xfrm>
            <a:off x="882650" y="5790525"/>
            <a:ext cx="1892447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moving between parties</a:t>
            </a:r>
            <a:endParaRPr lang="en-US" sz="900" dirty="0"/>
          </a:p>
        </p:txBody>
      </p:sp>
      <p:sp>
        <p:nvSpPr>
          <p:cNvPr id="71" name="Shape 47"/>
          <p:cNvSpPr/>
          <p:nvPr/>
        </p:nvSpPr>
        <p:spPr>
          <a:xfrm>
            <a:off x="4288334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2" name="svgicon-75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26434" y="5689501"/>
            <a:ext cx="203200" cy="203200"/>
          </a:xfrm>
          <a:prstGeom prst="rect">
            <a:avLst/>
          </a:prstGeom>
        </p:spPr>
      </p:pic>
      <p:sp>
        <p:nvSpPr>
          <p:cNvPr id="73" name="Text 48"/>
          <p:cNvSpPr txBox="1"/>
          <p:nvPr/>
        </p:nvSpPr>
        <p:spPr>
          <a:xfrm>
            <a:off x="4643934" y="5640070"/>
            <a:ext cx="65435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MOTION</a:t>
            </a:r>
            <a:endParaRPr lang="en-US" sz="900" dirty="0"/>
          </a:p>
        </p:txBody>
      </p:sp>
      <p:sp>
        <p:nvSpPr>
          <p:cNvPr id="74" name="Text 49"/>
          <p:cNvSpPr txBox="1"/>
          <p:nvPr/>
        </p:nvSpPr>
        <p:spPr>
          <a:xfrm>
            <a:off x="4643934" y="5790525"/>
            <a:ext cx="2136311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step by step along the path</a:t>
            </a:r>
            <a:endParaRPr lang="en-US" sz="900" dirty="0"/>
          </a:p>
        </p:txBody>
      </p:sp>
      <p:sp>
        <p:nvSpPr>
          <p:cNvPr id="75" name="Shape 50"/>
          <p:cNvSpPr/>
          <p:nvPr/>
        </p:nvSpPr>
        <p:spPr>
          <a:xfrm>
            <a:off x="8049617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6" name="svgicon-76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087717" y="5689501"/>
            <a:ext cx="203200" cy="203200"/>
          </a:xfrm>
          <a:prstGeom prst="rect">
            <a:avLst/>
          </a:prstGeom>
        </p:spPr>
      </p:pic>
      <p:sp>
        <p:nvSpPr>
          <p:cNvPr id="77" name="Text 51"/>
          <p:cNvSpPr txBox="1"/>
          <p:nvPr/>
        </p:nvSpPr>
        <p:spPr>
          <a:xfrm>
            <a:off x="8405217" y="5640070"/>
            <a:ext cx="63354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SEEN IN</a:t>
            </a:r>
            <a:endParaRPr lang="en-US" sz="900" dirty="0"/>
          </a:p>
        </p:txBody>
      </p:sp>
      <p:sp>
        <p:nvSpPr>
          <p:cNvPr id="78" name="Text 52"/>
          <p:cNvSpPr txBox="1"/>
          <p:nvPr/>
        </p:nvSpPr>
        <p:spPr>
          <a:xfrm>
            <a:off x="8405217" y="5790525"/>
            <a:ext cx="230450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blueprints and journey maps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7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4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1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8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8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42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00050" y="203200"/>
            <a:ext cx="3289008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10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 6/12 | BEFORE AND AFTER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374650" y="328930"/>
            <a:ext cx="11395783" cy="4089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28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After-contact work shrinks </a:t>
            </a:r>
            <a:r>
              <a:rPr lang="en-US" sz="2800" b="1" kern="0" spc="-28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seven tasks to one review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7825" y="1069975"/>
            <a:ext cx="5073650" cy="4286250"/>
          </a:xfrm>
          <a:prstGeom prst="roundRect">
            <a:avLst>
              <a:gd name="adj" fmla="val 2296"/>
            </a:avLst>
          </a:prstGeom>
          <a:solidFill>
            <a:srgbClr val="0C2226">
              <a:alpha val="4000"/>
            </a:srgbClr>
          </a:solidFill>
          <a:ln w="6350">
            <a:solidFill>
              <a:srgbClr val="0C222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svgicon-77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250" y="1270000"/>
            <a:ext cx="177800" cy="1778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57250" y="1298575"/>
            <a:ext cx="612727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14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603250" y="1548765"/>
            <a:ext cx="3667812" cy="198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 does every task after the call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06425" y="2098675"/>
            <a:ext cx="4616450" cy="336550"/>
          </a:xfrm>
          <a:prstGeom prst="roundRect">
            <a:avLst>
              <a:gd name="adj" fmla="val 21698"/>
            </a:avLst>
          </a:prstGeom>
          <a:solidFill>
            <a:srgbClr val="FFFFFF"/>
          </a:solidFill>
          <a:ln w="6350">
            <a:solidFill>
              <a:srgbClr val="0C222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svgicon-78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200" y="2190750"/>
            <a:ext cx="152400" cy="1524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39800" y="2203450"/>
            <a:ext cx="1106902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call notes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4315023" y="2206625"/>
            <a:ext cx="96630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Typed by hand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606425" y="2517775"/>
            <a:ext cx="4616450" cy="336550"/>
          </a:xfrm>
          <a:prstGeom prst="roundRect">
            <a:avLst>
              <a:gd name="adj" fmla="val 21698"/>
            </a:avLst>
          </a:prstGeom>
          <a:solidFill>
            <a:srgbClr val="FFFFFF"/>
          </a:solidFill>
          <a:ln w="6350">
            <a:solidFill>
              <a:srgbClr val="0C222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svgicon-79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200" y="2609850"/>
            <a:ext cx="152400" cy="1524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39800" y="2622550"/>
            <a:ext cx="1628450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a disposition code</a:t>
            </a:r>
            <a:endParaRPr lang="en-US" sz="1000" dirty="0"/>
          </a:p>
        </p:txBody>
      </p:sp>
      <p:sp>
        <p:nvSpPr>
          <p:cNvPr id="16" name="Text 10"/>
          <p:cNvSpPr txBox="1"/>
          <p:nvPr/>
        </p:nvSpPr>
        <p:spPr>
          <a:xfrm>
            <a:off x="4315023" y="2625725"/>
            <a:ext cx="96630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Typed by hand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606425" y="2936875"/>
            <a:ext cx="4616450" cy="336550"/>
          </a:xfrm>
          <a:prstGeom prst="roundRect">
            <a:avLst>
              <a:gd name="adj" fmla="val 21698"/>
            </a:avLst>
          </a:prstGeom>
          <a:solidFill>
            <a:srgbClr val="FFFFFF"/>
          </a:solidFill>
          <a:ln w="6350">
            <a:solidFill>
              <a:srgbClr val="0C222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svgicon-80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200" y="3028950"/>
            <a:ext cx="152400" cy="1524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39800" y="3041650"/>
            <a:ext cx="1331877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 CRM fields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4315023" y="3044825"/>
            <a:ext cx="96630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Typed by hand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606425" y="3355975"/>
            <a:ext cx="4616450" cy="336550"/>
          </a:xfrm>
          <a:prstGeom prst="roundRect">
            <a:avLst>
              <a:gd name="adj" fmla="val 21698"/>
            </a:avLst>
          </a:prstGeom>
          <a:solidFill>
            <a:srgbClr val="FFFFFF"/>
          </a:solidFill>
          <a:ln w="6350">
            <a:solidFill>
              <a:srgbClr val="0C222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svgicon-81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200" y="3448050"/>
            <a:ext cx="152400" cy="1524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939800" y="3460750"/>
            <a:ext cx="1754340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the follow-up email</a:t>
            </a:r>
            <a:endParaRPr lang="en-US" sz="1000" dirty="0"/>
          </a:p>
        </p:txBody>
      </p:sp>
      <p:sp>
        <p:nvSpPr>
          <p:cNvPr id="24" name="Text 16"/>
          <p:cNvSpPr txBox="1"/>
          <p:nvPr/>
        </p:nvSpPr>
        <p:spPr>
          <a:xfrm>
            <a:off x="4315023" y="3463925"/>
            <a:ext cx="96630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Typed by hand</a:t>
            </a:r>
            <a:endParaRPr lang="en-US" sz="900" dirty="0"/>
          </a:p>
        </p:txBody>
      </p:sp>
      <p:sp>
        <p:nvSpPr>
          <p:cNvPr id="25" name="Shape 17"/>
          <p:cNvSpPr/>
          <p:nvPr/>
        </p:nvSpPr>
        <p:spPr>
          <a:xfrm>
            <a:off x="606425" y="3775075"/>
            <a:ext cx="4616450" cy="336550"/>
          </a:xfrm>
          <a:prstGeom prst="roundRect">
            <a:avLst>
              <a:gd name="adj" fmla="val 21698"/>
            </a:avLst>
          </a:prstGeom>
          <a:solidFill>
            <a:srgbClr val="FFFFFF"/>
          </a:solidFill>
          <a:ln w="6350">
            <a:solidFill>
              <a:srgbClr val="0C222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svgicon-82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200" y="3867150"/>
            <a:ext cx="152400" cy="15240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939800" y="3879850"/>
            <a:ext cx="1598249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a complaint, if any</a:t>
            </a:r>
            <a:endParaRPr lang="en-US" sz="1000" dirty="0"/>
          </a:p>
        </p:txBody>
      </p:sp>
      <p:sp>
        <p:nvSpPr>
          <p:cNvPr id="28" name="Text 19"/>
          <p:cNvSpPr txBox="1"/>
          <p:nvPr/>
        </p:nvSpPr>
        <p:spPr>
          <a:xfrm>
            <a:off x="4315023" y="3883025"/>
            <a:ext cx="96630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Typed by hand</a:t>
            </a:r>
            <a:endParaRPr lang="en-US" sz="900" dirty="0"/>
          </a:p>
        </p:txBody>
      </p:sp>
      <p:sp>
        <p:nvSpPr>
          <p:cNvPr id="29" name="Shape 20"/>
          <p:cNvSpPr/>
          <p:nvPr/>
        </p:nvSpPr>
        <p:spPr>
          <a:xfrm>
            <a:off x="606425" y="4194175"/>
            <a:ext cx="4616450" cy="336550"/>
          </a:xfrm>
          <a:prstGeom prst="roundRect">
            <a:avLst>
              <a:gd name="adj" fmla="val 21698"/>
            </a:avLst>
          </a:prstGeom>
          <a:solidFill>
            <a:srgbClr val="FFFFFF"/>
          </a:solidFill>
          <a:ln w="6350">
            <a:solidFill>
              <a:srgbClr val="0C222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svgicon-83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200" y="4286250"/>
            <a:ext cx="152400" cy="1524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939800" y="4298950"/>
            <a:ext cx="1926945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Raise a back-office request</a:t>
            </a:r>
            <a:endParaRPr lang="en-US" sz="1000" dirty="0"/>
          </a:p>
        </p:txBody>
      </p:sp>
      <p:sp>
        <p:nvSpPr>
          <p:cNvPr id="32" name="Text 22"/>
          <p:cNvSpPr txBox="1"/>
          <p:nvPr/>
        </p:nvSpPr>
        <p:spPr>
          <a:xfrm>
            <a:off x="4315023" y="4302125"/>
            <a:ext cx="96630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Typed by hand</a:t>
            </a:r>
            <a:endParaRPr lang="en-US" sz="900" dirty="0"/>
          </a:p>
        </p:txBody>
      </p:sp>
      <p:sp>
        <p:nvSpPr>
          <p:cNvPr id="33" name="Shape 23"/>
          <p:cNvSpPr/>
          <p:nvPr/>
        </p:nvSpPr>
        <p:spPr>
          <a:xfrm>
            <a:off x="606425" y="4613275"/>
            <a:ext cx="4616450" cy="336550"/>
          </a:xfrm>
          <a:prstGeom prst="roundRect">
            <a:avLst>
              <a:gd name="adj" fmla="val 21698"/>
            </a:avLst>
          </a:prstGeom>
          <a:solidFill>
            <a:srgbClr val="FFFFFF"/>
          </a:solidFill>
          <a:ln w="6350">
            <a:solidFill>
              <a:srgbClr val="0C222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svgicon-84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200" y="4705350"/>
            <a:ext cx="152400" cy="152400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939800" y="4718050"/>
            <a:ext cx="1130429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a callback</a:t>
            </a:r>
            <a:endParaRPr lang="en-US" sz="1000" dirty="0"/>
          </a:p>
        </p:txBody>
      </p:sp>
      <p:sp>
        <p:nvSpPr>
          <p:cNvPr id="36" name="Text 25"/>
          <p:cNvSpPr txBox="1"/>
          <p:nvPr/>
        </p:nvSpPr>
        <p:spPr>
          <a:xfrm>
            <a:off x="4315023" y="4721225"/>
            <a:ext cx="966307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Typed by hand</a:t>
            </a:r>
            <a:endParaRPr lang="en-US" sz="900" dirty="0"/>
          </a:p>
        </p:txBody>
      </p:sp>
      <p:grpSp>
        <p:nvGrpSpPr>
          <p:cNvPr id="37" name="Step 1w"/>
          <p:cNvGrpSpPr/>
          <p:nvPr/>
        </p:nvGrpSpPr>
        <p:grpSpPr>
          <a:xfrm>
            <a:off x="5613400" y="1073150"/>
            <a:ext cx="6191250" cy="4279900"/>
            <a:chOff x="5613400" y="1073150"/>
            <a:chExt cx="6191250" cy="4279900"/>
          </a:xfrm>
        </p:grpSpPr>
        <p:sp>
          <p:nvSpPr>
            <p:cNvPr id="38" name="Path"/>
            <p:cNvSpPr/>
            <p:nvPr/>
          </p:nvSpPr>
          <p:spPr>
            <a:xfrm>
              <a:off x="5613400" y="2832100"/>
              <a:ext cx="685800" cy="762000"/>
            </a:xfrm>
            <a:custGeom>
              <a:avLst/>
              <a:gdLst/>
              <a:ahLst/>
              <a:cxnLst/>
              <a:rect l="l" t="t" r="r" b="b"/>
              <a:pathLst>
                <a:path w="685800" h="762000">
                  <a:moveTo>
                    <a:pt x="0" y="152400"/>
                  </a:moveTo>
                  <a:lnTo>
                    <a:pt x="381000" y="152400"/>
                  </a:lnTo>
                  <a:lnTo>
                    <a:pt x="381000" y="0"/>
                  </a:lnTo>
                  <a:lnTo>
                    <a:pt x="685800" y="381000"/>
                  </a:lnTo>
                  <a:lnTo>
                    <a:pt x="381000" y="762000"/>
                  </a:lnTo>
                  <a:lnTo>
                    <a:pt x="3810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09A78D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Shape"/>
            <p:cNvSpPr/>
            <p:nvPr/>
          </p:nvSpPr>
          <p:spPr>
            <a:xfrm>
              <a:off x="6457950" y="1073150"/>
              <a:ext cx="5346700" cy="4279900"/>
            </a:xfrm>
            <a:prstGeom prst="roundRect">
              <a:avLst>
                <a:gd name="adj" fmla="val 2226"/>
              </a:avLst>
            </a:prstGeom>
            <a:solidFill>
              <a:srgbClr val="FFFFFF"/>
            </a:solidFill>
            <a:ln w="12700">
              <a:solidFill>
                <a:srgbClr val="09A78D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40" name="svgicon-85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80200" y="1270000"/>
              <a:ext cx="177800" cy="177800"/>
            </a:xfrm>
            <a:prstGeom prst="rect">
              <a:avLst/>
            </a:prstGeom>
          </p:spPr>
        </p:pic>
        <p:sp>
          <p:nvSpPr>
            <p:cNvPr id="41" name="Text"/>
            <p:cNvSpPr txBox="1"/>
            <p:nvPr/>
          </p:nvSpPr>
          <p:spPr>
            <a:xfrm>
              <a:off x="6934200" y="1298575"/>
              <a:ext cx="1991644" cy="1206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50" b="1" kern="0" spc="114" dirty="0">
                  <a:solidFill>
                    <a:srgbClr val="09A78D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WITH AN AI ASSISTANT</a:t>
              </a:r>
              <a:endParaRPr lang="en-US" sz="950" dirty="0"/>
            </a:p>
          </p:txBody>
        </p:sp>
        <p:sp>
          <p:nvSpPr>
            <p:cNvPr id="42" name="Text"/>
            <p:cNvSpPr txBox="1"/>
            <p:nvPr/>
          </p:nvSpPr>
          <p:spPr>
            <a:xfrm>
              <a:off x="6680200" y="1548765"/>
              <a:ext cx="3043109" cy="1981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9424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The agent reviews one summary</a:t>
              </a:r>
              <a:endParaRPr lang="en-US" sz="1300" dirty="0"/>
            </a:p>
          </p:txBody>
        </p:sp>
        <p:sp>
          <p:nvSpPr>
            <p:cNvPr id="43" name="Shape"/>
            <p:cNvSpPr/>
            <p:nvPr/>
          </p:nvSpPr>
          <p:spPr>
            <a:xfrm>
              <a:off x="6680200" y="2095500"/>
              <a:ext cx="4902200" cy="2260600"/>
            </a:xfrm>
            <a:prstGeom prst="roundRect">
              <a:avLst>
                <a:gd name="adj" fmla="val 4494"/>
              </a:avLst>
            </a:prstGeom>
            <a:solidFill>
              <a:srgbClr val="F6F3F0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Text"/>
            <p:cNvSpPr txBox="1"/>
            <p:nvPr/>
          </p:nvSpPr>
          <p:spPr>
            <a:xfrm>
              <a:off x="6845300" y="2221865"/>
              <a:ext cx="2708870" cy="1600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050" b="1" dirty="0">
                  <a:solidFill>
                    <a:srgbClr val="19424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Contact summary, ready to approve</a:t>
              </a:r>
              <a:endParaRPr lang="en-US" sz="1050" dirty="0"/>
            </a:p>
          </p:txBody>
        </p:sp>
        <p:sp>
          <p:nvSpPr>
            <p:cNvPr id="45" name="Shape"/>
            <p:cNvSpPr/>
            <p:nvPr/>
          </p:nvSpPr>
          <p:spPr>
            <a:xfrm>
              <a:off x="6845300" y="2565400"/>
              <a:ext cx="2197100" cy="33020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46" name="svgicon-86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934200" y="2654300"/>
              <a:ext cx="152400" cy="152400"/>
            </a:xfrm>
            <a:prstGeom prst="rect">
              <a:avLst/>
            </a:prstGeom>
          </p:spPr>
        </p:pic>
        <p:sp>
          <p:nvSpPr>
            <p:cNvPr id="47" name="Text"/>
            <p:cNvSpPr txBox="1"/>
            <p:nvPr/>
          </p:nvSpPr>
          <p:spPr>
            <a:xfrm>
              <a:off x="7150100" y="2670175"/>
              <a:ext cx="918575" cy="1206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19424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Notes written</a:t>
              </a:r>
              <a:endParaRPr lang="en-US" sz="950" dirty="0"/>
            </a:p>
          </p:txBody>
        </p:sp>
        <p:sp>
          <p:nvSpPr>
            <p:cNvPr id="48" name="Shape"/>
            <p:cNvSpPr/>
            <p:nvPr/>
          </p:nvSpPr>
          <p:spPr>
            <a:xfrm>
              <a:off x="9169400" y="2565400"/>
              <a:ext cx="2197100" cy="33020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49" name="svgicon-87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58300" y="2654300"/>
              <a:ext cx="152400" cy="152400"/>
            </a:xfrm>
            <a:prstGeom prst="rect">
              <a:avLst/>
            </a:prstGeom>
          </p:spPr>
        </p:pic>
        <p:sp>
          <p:nvSpPr>
            <p:cNvPr id="50" name="Text"/>
            <p:cNvSpPr txBox="1"/>
            <p:nvPr/>
          </p:nvSpPr>
          <p:spPr>
            <a:xfrm>
              <a:off x="9474200" y="2670175"/>
              <a:ext cx="1218994" cy="1206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19424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Disposition coded</a:t>
              </a:r>
              <a:endParaRPr lang="en-US" sz="950" dirty="0"/>
            </a:p>
          </p:txBody>
        </p:sp>
        <p:sp>
          <p:nvSpPr>
            <p:cNvPr id="51" name="Shape"/>
            <p:cNvSpPr/>
            <p:nvPr/>
          </p:nvSpPr>
          <p:spPr>
            <a:xfrm>
              <a:off x="6845300" y="2984500"/>
              <a:ext cx="2197100" cy="33020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52" name="svgicon-88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934200" y="3073400"/>
              <a:ext cx="152400" cy="152400"/>
            </a:xfrm>
            <a:prstGeom prst="rect">
              <a:avLst/>
            </a:prstGeom>
          </p:spPr>
        </p:pic>
        <p:sp>
          <p:nvSpPr>
            <p:cNvPr id="53" name="Text"/>
            <p:cNvSpPr txBox="1"/>
            <p:nvPr/>
          </p:nvSpPr>
          <p:spPr>
            <a:xfrm>
              <a:off x="7150100" y="3089275"/>
              <a:ext cx="937804" cy="1206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19424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CRM updated</a:t>
              </a:r>
              <a:endParaRPr lang="en-US" sz="950" dirty="0"/>
            </a:p>
          </p:txBody>
        </p:sp>
        <p:sp>
          <p:nvSpPr>
            <p:cNvPr id="54" name="Shape"/>
            <p:cNvSpPr/>
            <p:nvPr/>
          </p:nvSpPr>
          <p:spPr>
            <a:xfrm>
              <a:off x="9169400" y="2984500"/>
              <a:ext cx="2197100" cy="33020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55" name="svgicon-89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58300" y="3073400"/>
              <a:ext cx="152400" cy="152400"/>
            </a:xfrm>
            <a:prstGeom prst="rect">
              <a:avLst/>
            </a:prstGeom>
          </p:spPr>
        </p:pic>
        <p:sp>
          <p:nvSpPr>
            <p:cNvPr id="56" name="Text"/>
            <p:cNvSpPr txBox="1"/>
            <p:nvPr/>
          </p:nvSpPr>
          <p:spPr>
            <a:xfrm>
              <a:off x="9474200" y="3089275"/>
              <a:ext cx="1203271" cy="1206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19424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Follow-up drafted</a:t>
              </a:r>
              <a:endParaRPr lang="en-US" sz="950" dirty="0"/>
            </a:p>
          </p:txBody>
        </p:sp>
        <p:sp>
          <p:nvSpPr>
            <p:cNvPr id="57" name="Shape"/>
            <p:cNvSpPr/>
            <p:nvPr/>
          </p:nvSpPr>
          <p:spPr>
            <a:xfrm>
              <a:off x="6845300" y="3403600"/>
              <a:ext cx="2197100" cy="33020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58" name="svgicon-90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934200" y="3492500"/>
              <a:ext cx="152400" cy="152400"/>
            </a:xfrm>
            <a:prstGeom prst="rect">
              <a:avLst/>
            </a:prstGeom>
          </p:spPr>
        </p:pic>
        <p:sp>
          <p:nvSpPr>
            <p:cNvPr id="59" name="Text"/>
            <p:cNvSpPr txBox="1"/>
            <p:nvPr/>
          </p:nvSpPr>
          <p:spPr>
            <a:xfrm>
              <a:off x="7150100" y="3508375"/>
              <a:ext cx="1444760" cy="1206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19424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No complaint flagged</a:t>
              </a:r>
              <a:endParaRPr lang="en-US" sz="950" dirty="0"/>
            </a:p>
          </p:txBody>
        </p:sp>
        <p:sp>
          <p:nvSpPr>
            <p:cNvPr id="60" name="Shape"/>
            <p:cNvSpPr/>
            <p:nvPr/>
          </p:nvSpPr>
          <p:spPr>
            <a:xfrm>
              <a:off x="9169400" y="3403600"/>
              <a:ext cx="2197100" cy="33020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61" name="svgicon-91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258300" y="3492500"/>
              <a:ext cx="152400" cy="152400"/>
            </a:xfrm>
            <a:prstGeom prst="rect">
              <a:avLst/>
            </a:prstGeom>
          </p:spPr>
        </p:pic>
        <p:sp>
          <p:nvSpPr>
            <p:cNvPr id="62" name="Text"/>
            <p:cNvSpPr txBox="1"/>
            <p:nvPr/>
          </p:nvSpPr>
          <p:spPr>
            <a:xfrm>
              <a:off x="9474200" y="3508375"/>
              <a:ext cx="1018903" cy="1206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19424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Request raised</a:t>
              </a:r>
              <a:endParaRPr lang="en-US" sz="950" dirty="0"/>
            </a:p>
          </p:txBody>
        </p:sp>
        <p:sp>
          <p:nvSpPr>
            <p:cNvPr id="63" name="Shape"/>
            <p:cNvSpPr/>
            <p:nvPr/>
          </p:nvSpPr>
          <p:spPr>
            <a:xfrm>
              <a:off x="6845300" y="3822700"/>
              <a:ext cx="2197100" cy="33020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64" name="svgicon-92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934200" y="3911600"/>
              <a:ext cx="152400" cy="152400"/>
            </a:xfrm>
            <a:prstGeom prst="rect">
              <a:avLst/>
            </a:prstGeom>
          </p:spPr>
        </p:pic>
        <p:sp>
          <p:nvSpPr>
            <p:cNvPr id="65" name="Text"/>
            <p:cNvSpPr txBox="1"/>
            <p:nvPr/>
          </p:nvSpPr>
          <p:spPr>
            <a:xfrm>
              <a:off x="7150100" y="3927475"/>
              <a:ext cx="1136650" cy="1206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19424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Callback booked</a:t>
              </a:r>
              <a:endParaRPr lang="en-US" sz="950" dirty="0"/>
            </a:p>
          </p:txBody>
        </p:sp>
        <p:sp>
          <p:nvSpPr>
            <p:cNvPr id="66" name="Shape"/>
            <p:cNvSpPr/>
            <p:nvPr/>
          </p:nvSpPr>
          <p:spPr>
            <a:xfrm>
              <a:off x="6680200" y="4521200"/>
              <a:ext cx="4902200" cy="609600"/>
            </a:xfrm>
            <a:prstGeom prst="roundRect">
              <a:avLst>
                <a:gd name="adj" fmla="val 16667"/>
              </a:avLst>
            </a:prstGeom>
            <a:solidFill>
              <a:srgbClr val="0C2226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67" name="Shape"/>
            <p:cNvSpPr/>
            <p:nvPr/>
          </p:nvSpPr>
          <p:spPr>
            <a:xfrm>
              <a:off x="6832600" y="4648200"/>
              <a:ext cx="355600" cy="355600"/>
            </a:xfrm>
            <a:prstGeom prst="ellipse">
              <a:avLst/>
            </a:prstGeom>
            <a:solidFill>
              <a:srgbClr val="52E081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68" name="svgicon-93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883400" y="4699000"/>
              <a:ext cx="254000" cy="254000"/>
            </a:xfrm>
            <a:prstGeom prst="rect">
              <a:avLst/>
            </a:prstGeom>
          </p:spPr>
        </p:pic>
        <p:sp>
          <p:nvSpPr>
            <p:cNvPr id="69" name="Text"/>
            <p:cNvSpPr txBox="1"/>
            <p:nvPr/>
          </p:nvSpPr>
          <p:spPr>
            <a:xfrm>
              <a:off x="7289800" y="4666675"/>
              <a:ext cx="2212886" cy="1676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Agent checks and approves</a:t>
              </a:r>
              <a:endParaRPr lang="en-US" sz="1100" dirty="0"/>
            </a:p>
          </p:txBody>
        </p:sp>
        <p:sp>
          <p:nvSpPr>
            <p:cNvPr id="70" name="Text"/>
            <p:cNvSpPr txBox="1"/>
            <p:nvPr/>
          </p:nvSpPr>
          <p:spPr>
            <a:xfrm>
              <a:off x="7289800" y="4834255"/>
              <a:ext cx="1766330" cy="14859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D2F0C6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Then takes the next contact</a:t>
              </a:r>
              <a:endParaRPr lang="en-US" sz="900" dirty="0"/>
            </a:p>
          </p:txBody>
        </p:sp>
      </p:grpSp>
      <p:sp>
        <p:nvSpPr>
          <p:cNvPr id="71" name="Shape 50"/>
          <p:cNvSpPr/>
          <p:nvPr/>
        </p:nvSpPr>
        <p:spPr>
          <a:xfrm>
            <a:off x="374650" y="5537200"/>
            <a:ext cx="11436350" cy="508000"/>
          </a:xfrm>
          <a:prstGeom prst="roundRect">
            <a:avLst>
              <a:gd name="adj" fmla="val 17500"/>
            </a:avLst>
          </a:prstGeom>
          <a:solidFill>
            <a:srgbClr val="F6F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Shape 51"/>
          <p:cNvSpPr/>
          <p:nvPr/>
        </p:nvSpPr>
        <p:spPr>
          <a:xfrm>
            <a:off x="527050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3" name="svgicon-94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150" y="5689501"/>
            <a:ext cx="203200" cy="203200"/>
          </a:xfrm>
          <a:prstGeom prst="rect">
            <a:avLst/>
          </a:prstGeom>
        </p:spPr>
      </p:pic>
      <p:sp>
        <p:nvSpPr>
          <p:cNvPr id="74" name="Text 52"/>
          <p:cNvSpPr txBox="1"/>
          <p:nvPr/>
        </p:nvSpPr>
        <p:spPr>
          <a:xfrm>
            <a:off x="882650" y="5640070"/>
            <a:ext cx="86269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IT FOR</a:t>
            </a:r>
            <a:endParaRPr lang="en-US" sz="900" dirty="0"/>
          </a:p>
        </p:txBody>
      </p:sp>
      <p:sp>
        <p:nvSpPr>
          <p:cNvPr id="75" name="Text 53"/>
          <p:cNvSpPr txBox="1"/>
          <p:nvPr/>
        </p:nvSpPr>
        <p:spPr>
          <a:xfrm>
            <a:off x="882650" y="5790525"/>
            <a:ext cx="2410035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change a solution makes to a task</a:t>
            </a:r>
            <a:endParaRPr lang="en-US" sz="900" dirty="0"/>
          </a:p>
        </p:txBody>
      </p:sp>
      <p:sp>
        <p:nvSpPr>
          <p:cNvPr id="76" name="Shape 54"/>
          <p:cNvSpPr/>
          <p:nvPr/>
        </p:nvSpPr>
        <p:spPr>
          <a:xfrm>
            <a:off x="4288334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7" name="svgicon-95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26434" y="5689501"/>
            <a:ext cx="203200" cy="203200"/>
          </a:xfrm>
          <a:prstGeom prst="rect">
            <a:avLst/>
          </a:prstGeom>
        </p:spPr>
      </p:pic>
      <p:sp>
        <p:nvSpPr>
          <p:cNvPr id="78" name="Text 55"/>
          <p:cNvSpPr txBox="1"/>
          <p:nvPr/>
        </p:nvSpPr>
        <p:spPr>
          <a:xfrm>
            <a:off x="4643934" y="5640070"/>
            <a:ext cx="65435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MOTION</a:t>
            </a:r>
            <a:endParaRPr lang="en-US" sz="900" dirty="0"/>
          </a:p>
        </p:txBody>
      </p:sp>
      <p:sp>
        <p:nvSpPr>
          <p:cNvPr id="79" name="Text 56"/>
          <p:cNvSpPr txBox="1"/>
          <p:nvPr/>
        </p:nvSpPr>
        <p:spPr>
          <a:xfrm>
            <a:off x="4643934" y="5790525"/>
            <a:ext cx="1445212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after side wipes in</a:t>
            </a:r>
            <a:endParaRPr lang="en-US" sz="900" dirty="0"/>
          </a:p>
        </p:txBody>
      </p:sp>
      <p:sp>
        <p:nvSpPr>
          <p:cNvPr id="80" name="Shape 57"/>
          <p:cNvSpPr/>
          <p:nvPr/>
        </p:nvSpPr>
        <p:spPr>
          <a:xfrm>
            <a:off x="8049617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1" name="svgicon-96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87717" y="5689501"/>
            <a:ext cx="203200" cy="203200"/>
          </a:xfrm>
          <a:prstGeom prst="rect">
            <a:avLst/>
          </a:prstGeom>
        </p:spPr>
      </p:pic>
      <p:sp>
        <p:nvSpPr>
          <p:cNvPr id="82" name="Text 58"/>
          <p:cNvSpPr txBox="1"/>
          <p:nvPr/>
        </p:nvSpPr>
        <p:spPr>
          <a:xfrm>
            <a:off x="8405217" y="5640070"/>
            <a:ext cx="63354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SEEN IN</a:t>
            </a:r>
            <a:endParaRPr lang="en-US" sz="900" dirty="0"/>
          </a:p>
        </p:txBody>
      </p:sp>
      <p:sp>
        <p:nvSpPr>
          <p:cNvPr id="83" name="Text 59"/>
          <p:cNvSpPr txBox="1"/>
          <p:nvPr/>
        </p:nvSpPr>
        <p:spPr>
          <a:xfrm>
            <a:off x="8405217" y="5790525"/>
            <a:ext cx="247349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launch pages and case studies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00050" y="203200"/>
            <a:ext cx="2946400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10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 7/12 | LAYERED STACK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374650" y="328930"/>
            <a:ext cx="10026594" cy="4089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28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layers turn AI agents into </a:t>
            </a:r>
            <a:r>
              <a:rPr lang="en-US" sz="2800" b="1" kern="0" spc="-28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service you can run</a:t>
            </a:r>
            <a:endParaRPr lang="en-US" sz="2800" dirty="0"/>
          </a:p>
        </p:txBody>
      </p:sp>
      <p:grpSp>
        <p:nvGrpSpPr>
          <p:cNvPr id="5" name="Step 1"/>
          <p:cNvGrpSpPr/>
          <p:nvPr/>
        </p:nvGrpSpPr>
        <p:grpSpPr>
          <a:xfrm>
            <a:off x="1143000" y="4330700"/>
            <a:ext cx="8308211" cy="1003300"/>
            <a:chOff x="1143000" y="4330700"/>
            <a:chExt cx="8308211" cy="1003300"/>
          </a:xfrm>
        </p:grpSpPr>
        <p:sp>
          <p:nvSpPr>
            <p:cNvPr id="6" name="Path"/>
            <p:cNvSpPr/>
            <p:nvPr/>
          </p:nvSpPr>
          <p:spPr>
            <a:xfrm>
              <a:off x="1143000" y="4775200"/>
              <a:ext cx="2159000" cy="558800"/>
            </a:xfrm>
            <a:custGeom>
              <a:avLst/>
              <a:gdLst/>
              <a:ahLst/>
              <a:cxnLst/>
              <a:rect l="l" t="t" r="r" b="b"/>
              <a:pathLst>
                <a:path w="2159000" h="558800">
                  <a:moveTo>
                    <a:pt x="0" y="0"/>
                  </a:moveTo>
                  <a:lnTo>
                    <a:pt x="2159000" y="444500"/>
                  </a:lnTo>
                  <a:lnTo>
                    <a:pt x="2159000" y="5588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337077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Path"/>
            <p:cNvSpPr/>
            <p:nvPr/>
          </p:nvSpPr>
          <p:spPr>
            <a:xfrm>
              <a:off x="3302000" y="4775200"/>
              <a:ext cx="2159000" cy="558800"/>
            </a:xfrm>
            <a:custGeom>
              <a:avLst/>
              <a:gdLst/>
              <a:ahLst/>
              <a:cxnLst/>
              <a:rect l="l" t="t" r="r" b="b"/>
              <a:pathLst>
                <a:path w="2159000" h="558800">
                  <a:moveTo>
                    <a:pt x="0" y="444500"/>
                  </a:moveTo>
                  <a:lnTo>
                    <a:pt x="2159000" y="0"/>
                  </a:lnTo>
                  <a:lnTo>
                    <a:pt x="2159000" y="1143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0C2226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Path"/>
            <p:cNvSpPr/>
            <p:nvPr/>
          </p:nvSpPr>
          <p:spPr>
            <a:xfrm>
              <a:off x="1143000" y="4330700"/>
              <a:ext cx="4318000" cy="889000"/>
            </a:xfrm>
            <a:custGeom>
              <a:avLst/>
              <a:gdLst/>
              <a:ahLst/>
              <a:cxnLst/>
              <a:rect l="l" t="t" r="r" b="b"/>
              <a:pathLst>
                <a:path w="4318000" h="889000">
                  <a:moveTo>
                    <a:pt x="0" y="444500"/>
                  </a:moveTo>
                  <a:lnTo>
                    <a:pt x="2159000" y="0"/>
                  </a:lnTo>
                  <a:lnTo>
                    <a:pt x="4318000" y="444500"/>
                  </a:lnTo>
                  <a:lnTo>
                    <a:pt x="2159000" y="889000"/>
                  </a:lnTo>
                  <a:close/>
                </a:path>
              </a:pathLst>
            </a:custGeom>
            <a:solidFill>
              <a:srgbClr val="194247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9" name="svgicon-97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143250" y="4705350"/>
              <a:ext cx="317495" cy="317495"/>
            </a:xfrm>
            <a:prstGeom prst="rect">
              <a:avLst/>
            </a:prstGeom>
          </p:spPr>
        </p:pic>
        <p:sp>
          <p:nvSpPr>
            <p:cNvPr id="10" name="Path"/>
            <p:cNvSpPr/>
            <p:nvPr/>
          </p:nvSpPr>
          <p:spPr>
            <a:xfrm>
              <a:off x="5549900" y="4772025"/>
              <a:ext cx="704850" cy="6350"/>
            </a:xfrm>
            <a:custGeom>
              <a:avLst/>
              <a:gdLst/>
              <a:ahLst/>
              <a:cxnLst/>
              <a:rect l="l" t="t" r="r" b="b"/>
              <a:pathLst>
                <a:path w="704850" h="6350">
                  <a:moveTo>
                    <a:pt x="0" y="3175"/>
                  </a:moveTo>
                  <a:lnTo>
                    <a:pt x="704850" y="3175"/>
                  </a:lnTo>
                </a:path>
              </a:pathLst>
            </a:custGeom>
            <a:solidFill>
              <a:srgbClr val="000000"/>
            </a:solidFill>
            <a:ln w="12700">
              <a:solidFill>
                <a:srgbClr val="09A78D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Oval"/>
            <p:cNvSpPr/>
            <p:nvPr/>
          </p:nvSpPr>
          <p:spPr>
            <a:xfrm>
              <a:off x="6248400" y="4737100"/>
              <a:ext cx="76200" cy="76200"/>
            </a:xfrm>
            <a:prstGeom prst="ellipse">
              <a:avLst/>
            </a:prstGeom>
            <a:solidFill>
              <a:srgbClr val="09A78D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"/>
            <p:cNvSpPr txBox="1"/>
            <p:nvPr/>
          </p:nvSpPr>
          <p:spPr>
            <a:xfrm>
              <a:off x="6426200" y="4566920"/>
              <a:ext cx="2075458" cy="1752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50" b="1" dirty="0">
                  <a:solidFill>
                    <a:srgbClr val="19424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Run, govern and improve</a:t>
              </a:r>
              <a:endParaRPr lang="en-US" sz="1150" dirty="0"/>
            </a:p>
          </p:txBody>
        </p:sp>
        <p:sp>
          <p:nvSpPr>
            <p:cNvPr id="13" name="Text"/>
            <p:cNvSpPr txBox="1"/>
            <p:nvPr/>
          </p:nvSpPr>
          <p:spPr>
            <a:xfrm>
              <a:off x="6426200" y="4767223"/>
              <a:ext cx="3025011" cy="1568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33707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Monitoring, evaluations, changes and support</a:t>
              </a:r>
              <a:endParaRPr lang="en-US" sz="950" dirty="0"/>
            </a:p>
          </p:txBody>
        </p:sp>
      </p:grpSp>
      <p:grpSp>
        <p:nvGrpSpPr>
          <p:cNvPr id="14" name="Step 2"/>
          <p:cNvGrpSpPr/>
          <p:nvPr/>
        </p:nvGrpSpPr>
        <p:grpSpPr>
          <a:xfrm>
            <a:off x="1143000" y="3543300"/>
            <a:ext cx="8150763" cy="1003300"/>
            <a:chOff x="1143000" y="3543300"/>
            <a:chExt cx="8150763" cy="1003300"/>
          </a:xfrm>
        </p:grpSpPr>
        <p:sp>
          <p:nvSpPr>
            <p:cNvPr id="15" name="Path"/>
            <p:cNvSpPr/>
            <p:nvPr/>
          </p:nvSpPr>
          <p:spPr>
            <a:xfrm>
              <a:off x="1143000" y="3987800"/>
              <a:ext cx="2159000" cy="558800"/>
            </a:xfrm>
            <a:custGeom>
              <a:avLst/>
              <a:gdLst/>
              <a:ahLst/>
              <a:cxnLst/>
              <a:rect l="l" t="t" r="r" b="b"/>
              <a:pathLst>
                <a:path w="2159000" h="558800">
                  <a:moveTo>
                    <a:pt x="0" y="0"/>
                  </a:moveTo>
                  <a:lnTo>
                    <a:pt x="2159000" y="444500"/>
                  </a:lnTo>
                  <a:lnTo>
                    <a:pt x="2159000" y="5588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E7E9E9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Path"/>
            <p:cNvSpPr/>
            <p:nvPr/>
          </p:nvSpPr>
          <p:spPr>
            <a:xfrm>
              <a:off x="3302000" y="3987800"/>
              <a:ext cx="2159000" cy="558800"/>
            </a:xfrm>
            <a:custGeom>
              <a:avLst/>
              <a:gdLst/>
              <a:ahLst/>
              <a:cxnLst/>
              <a:rect l="l" t="t" r="r" b="b"/>
              <a:pathLst>
                <a:path w="2159000" h="558800">
                  <a:moveTo>
                    <a:pt x="0" y="444500"/>
                  </a:moveTo>
                  <a:lnTo>
                    <a:pt x="2159000" y="0"/>
                  </a:lnTo>
                  <a:lnTo>
                    <a:pt x="2159000" y="1143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D3D7D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Path"/>
            <p:cNvSpPr/>
            <p:nvPr/>
          </p:nvSpPr>
          <p:spPr>
            <a:xfrm>
              <a:off x="1143000" y="3543300"/>
              <a:ext cx="4318000" cy="889000"/>
            </a:xfrm>
            <a:custGeom>
              <a:avLst/>
              <a:gdLst/>
              <a:ahLst/>
              <a:cxnLst/>
              <a:rect l="l" t="t" r="r" b="b"/>
              <a:pathLst>
                <a:path w="4318000" h="889000">
                  <a:moveTo>
                    <a:pt x="0" y="444500"/>
                  </a:moveTo>
                  <a:lnTo>
                    <a:pt x="2159000" y="0"/>
                  </a:lnTo>
                  <a:lnTo>
                    <a:pt x="4318000" y="444500"/>
                  </a:lnTo>
                  <a:lnTo>
                    <a:pt x="2159000" y="889000"/>
                  </a:lnTo>
                  <a:close/>
                </a:path>
              </a:pathLst>
            </a:custGeom>
            <a:solidFill>
              <a:srgbClr val="E9F8E3"/>
            </a:solidFill>
            <a:ln w="9525">
              <a:solidFill>
                <a:srgbClr val="09A78D">
                  <a:alpha val="3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18" name="svgicon-98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43250" y="3917950"/>
              <a:ext cx="317495" cy="317495"/>
            </a:xfrm>
            <a:prstGeom prst="rect">
              <a:avLst/>
            </a:prstGeom>
          </p:spPr>
        </p:pic>
        <p:sp>
          <p:nvSpPr>
            <p:cNvPr id="19" name="Path"/>
            <p:cNvSpPr/>
            <p:nvPr/>
          </p:nvSpPr>
          <p:spPr>
            <a:xfrm>
              <a:off x="5549900" y="3984625"/>
              <a:ext cx="704850" cy="6350"/>
            </a:xfrm>
            <a:custGeom>
              <a:avLst/>
              <a:gdLst/>
              <a:ahLst/>
              <a:cxnLst/>
              <a:rect l="l" t="t" r="r" b="b"/>
              <a:pathLst>
                <a:path w="704850" h="6350">
                  <a:moveTo>
                    <a:pt x="0" y="3175"/>
                  </a:moveTo>
                  <a:lnTo>
                    <a:pt x="704850" y="3175"/>
                  </a:lnTo>
                </a:path>
              </a:pathLst>
            </a:custGeom>
            <a:solidFill>
              <a:srgbClr val="000000"/>
            </a:solidFill>
            <a:ln w="12700">
              <a:solidFill>
                <a:srgbClr val="09A78D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Oval"/>
            <p:cNvSpPr/>
            <p:nvPr/>
          </p:nvSpPr>
          <p:spPr>
            <a:xfrm>
              <a:off x="6248400" y="3949700"/>
              <a:ext cx="76200" cy="76200"/>
            </a:xfrm>
            <a:prstGeom prst="ellipse">
              <a:avLst/>
            </a:prstGeom>
            <a:solidFill>
              <a:srgbClr val="09A78D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"/>
            <p:cNvSpPr txBox="1"/>
            <p:nvPr/>
          </p:nvSpPr>
          <p:spPr>
            <a:xfrm>
              <a:off x="6426200" y="3779520"/>
              <a:ext cx="2690660" cy="1752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50" b="1" dirty="0">
                  <a:solidFill>
                    <a:srgbClr val="19424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Workflow and systems of record</a:t>
              </a:r>
              <a:endParaRPr lang="en-US" sz="1150" dirty="0"/>
            </a:p>
          </p:txBody>
        </p:sp>
        <p:sp>
          <p:nvSpPr>
            <p:cNvPr id="22" name="Text"/>
            <p:cNvSpPr txBox="1"/>
            <p:nvPr/>
          </p:nvSpPr>
          <p:spPr>
            <a:xfrm>
              <a:off x="6426200" y="3979823"/>
              <a:ext cx="2867563" cy="1568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33707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CRM, core banking, card and case systems</a:t>
              </a:r>
              <a:endParaRPr lang="en-US" sz="950" dirty="0"/>
            </a:p>
          </p:txBody>
        </p:sp>
      </p:grpSp>
      <p:grpSp>
        <p:nvGrpSpPr>
          <p:cNvPr id="23" name="Step 3"/>
          <p:cNvGrpSpPr/>
          <p:nvPr/>
        </p:nvGrpSpPr>
        <p:grpSpPr>
          <a:xfrm>
            <a:off x="1143000" y="2755900"/>
            <a:ext cx="8540764" cy="1003300"/>
            <a:chOff x="1143000" y="2755900"/>
            <a:chExt cx="8540764" cy="1003300"/>
          </a:xfrm>
        </p:grpSpPr>
        <p:sp>
          <p:nvSpPr>
            <p:cNvPr id="24" name="Path"/>
            <p:cNvSpPr/>
            <p:nvPr/>
          </p:nvSpPr>
          <p:spPr>
            <a:xfrm>
              <a:off x="1143000" y="3200400"/>
              <a:ext cx="2159000" cy="558800"/>
            </a:xfrm>
            <a:custGeom>
              <a:avLst/>
              <a:gdLst/>
              <a:ahLst/>
              <a:cxnLst/>
              <a:rect l="l" t="t" r="r" b="b"/>
              <a:pathLst>
                <a:path w="2159000" h="558800">
                  <a:moveTo>
                    <a:pt x="0" y="0"/>
                  </a:moveTo>
                  <a:lnTo>
                    <a:pt x="2159000" y="444500"/>
                  </a:lnTo>
                  <a:lnTo>
                    <a:pt x="2159000" y="5588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E7E9E9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Path"/>
            <p:cNvSpPr/>
            <p:nvPr/>
          </p:nvSpPr>
          <p:spPr>
            <a:xfrm>
              <a:off x="3302000" y="3200400"/>
              <a:ext cx="2159000" cy="558800"/>
            </a:xfrm>
            <a:custGeom>
              <a:avLst/>
              <a:gdLst/>
              <a:ahLst/>
              <a:cxnLst/>
              <a:rect l="l" t="t" r="r" b="b"/>
              <a:pathLst>
                <a:path w="2159000" h="558800">
                  <a:moveTo>
                    <a:pt x="0" y="444500"/>
                  </a:moveTo>
                  <a:lnTo>
                    <a:pt x="2159000" y="0"/>
                  </a:lnTo>
                  <a:lnTo>
                    <a:pt x="2159000" y="1143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D3D7D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Path"/>
            <p:cNvSpPr/>
            <p:nvPr/>
          </p:nvSpPr>
          <p:spPr>
            <a:xfrm>
              <a:off x="1143000" y="2755900"/>
              <a:ext cx="4318000" cy="889000"/>
            </a:xfrm>
            <a:custGeom>
              <a:avLst/>
              <a:gdLst/>
              <a:ahLst/>
              <a:cxnLst/>
              <a:rect l="l" t="t" r="r" b="b"/>
              <a:pathLst>
                <a:path w="4318000" h="889000">
                  <a:moveTo>
                    <a:pt x="0" y="444500"/>
                  </a:moveTo>
                  <a:lnTo>
                    <a:pt x="2159000" y="0"/>
                  </a:lnTo>
                  <a:lnTo>
                    <a:pt x="4318000" y="444500"/>
                  </a:lnTo>
                  <a:lnTo>
                    <a:pt x="2159000" y="889000"/>
                  </a:lnTo>
                  <a:close/>
                </a:path>
              </a:pathLst>
            </a:custGeom>
            <a:solidFill>
              <a:srgbClr val="E9F8E3"/>
            </a:solidFill>
            <a:ln w="9525">
              <a:solidFill>
                <a:srgbClr val="09A78D">
                  <a:alpha val="3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27" name="svgicon-99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143250" y="3130550"/>
              <a:ext cx="317495" cy="317495"/>
            </a:xfrm>
            <a:prstGeom prst="rect">
              <a:avLst/>
            </a:prstGeom>
          </p:spPr>
        </p:pic>
        <p:sp>
          <p:nvSpPr>
            <p:cNvPr id="28" name="Path"/>
            <p:cNvSpPr/>
            <p:nvPr/>
          </p:nvSpPr>
          <p:spPr>
            <a:xfrm>
              <a:off x="5549900" y="3197225"/>
              <a:ext cx="704850" cy="6350"/>
            </a:xfrm>
            <a:custGeom>
              <a:avLst/>
              <a:gdLst/>
              <a:ahLst/>
              <a:cxnLst/>
              <a:rect l="l" t="t" r="r" b="b"/>
              <a:pathLst>
                <a:path w="704850" h="6350">
                  <a:moveTo>
                    <a:pt x="0" y="3175"/>
                  </a:moveTo>
                  <a:lnTo>
                    <a:pt x="704850" y="3175"/>
                  </a:lnTo>
                </a:path>
              </a:pathLst>
            </a:custGeom>
            <a:solidFill>
              <a:srgbClr val="000000"/>
            </a:solidFill>
            <a:ln w="12700">
              <a:solidFill>
                <a:srgbClr val="09A78D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Oval"/>
            <p:cNvSpPr/>
            <p:nvPr/>
          </p:nvSpPr>
          <p:spPr>
            <a:xfrm>
              <a:off x="6248400" y="3162300"/>
              <a:ext cx="76200" cy="76200"/>
            </a:xfrm>
            <a:prstGeom prst="ellipse">
              <a:avLst/>
            </a:prstGeom>
            <a:solidFill>
              <a:srgbClr val="09A78D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"/>
            <p:cNvSpPr txBox="1"/>
            <p:nvPr/>
          </p:nvSpPr>
          <p:spPr>
            <a:xfrm>
              <a:off x="6426200" y="2992120"/>
              <a:ext cx="1972189" cy="1752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50" b="1" dirty="0">
                  <a:solidFill>
                    <a:srgbClr val="19424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Knowledge and context</a:t>
              </a:r>
              <a:endParaRPr lang="en-US" sz="1150" dirty="0"/>
            </a:p>
          </p:txBody>
        </p:sp>
        <p:sp>
          <p:nvSpPr>
            <p:cNvPr id="31" name="Text"/>
            <p:cNvSpPr txBox="1"/>
            <p:nvPr/>
          </p:nvSpPr>
          <p:spPr>
            <a:xfrm>
              <a:off x="6426200" y="3192423"/>
              <a:ext cx="3257564" cy="1568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33707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Approved answers, customer history and policies</a:t>
              </a:r>
              <a:endParaRPr lang="en-US" sz="950" dirty="0"/>
            </a:p>
          </p:txBody>
        </p:sp>
      </p:grpSp>
      <p:grpSp>
        <p:nvGrpSpPr>
          <p:cNvPr id="32" name="Step 4"/>
          <p:cNvGrpSpPr/>
          <p:nvPr/>
        </p:nvGrpSpPr>
        <p:grpSpPr>
          <a:xfrm>
            <a:off x="1143000" y="1968500"/>
            <a:ext cx="8006435" cy="1003300"/>
            <a:chOff x="1143000" y="1968500"/>
            <a:chExt cx="8006435" cy="1003300"/>
          </a:xfrm>
        </p:grpSpPr>
        <p:sp>
          <p:nvSpPr>
            <p:cNvPr id="33" name="Path"/>
            <p:cNvSpPr/>
            <p:nvPr/>
          </p:nvSpPr>
          <p:spPr>
            <a:xfrm>
              <a:off x="1143000" y="2413000"/>
              <a:ext cx="2159000" cy="558800"/>
            </a:xfrm>
            <a:custGeom>
              <a:avLst/>
              <a:gdLst/>
              <a:ahLst/>
              <a:cxnLst/>
              <a:rect l="l" t="t" r="r" b="b"/>
              <a:pathLst>
                <a:path w="2159000" h="558800">
                  <a:moveTo>
                    <a:pt x="0" y="0"/>
                  </a:moveTo>
                  <a:lnTo>
                    <a:pt x="2159000" y="444500"/>
                  </a:lnTo>
                  <a:lnTo>
                    <a:pt x="2159000" y="5588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E7E9E9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Path"/>
            <p:cNvSpPr/>
            <p:nvPr/>
          </p:nvSpPr>
          <p:spPr>
            <a:xfrm>
              <a:off x="3302000" y="2413000"/>
              <a:ext cx="2159000" cy="558800"/>
            </a:xfrm>
            <a:custGeom>
              <a:avLst/>
              <a:gdLst/>
              <a:ahLst/>
              <a:cxnLst/>
              <a:rect l="l" t="t" r="r" b="b"/>
              <a:pathLst>
                <a:path w="2159000" h="558800">
                  <a:moveTo>
                    <a:pt x="0" y="444500"/>
                  </a:moveTo>
                  <a:lnTo>
                    <a:pt x="2159000" y="0"/>
                  </a:lnTo>
                  <a:lnTo>
                    <a:pt x="2159000" y="1143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D3D7D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Path"/>
            <p:cNvSpPr/>
            <p:nvPr/>
          </p:nvSpPr>
          <p:spPr>
            <a:xfrm>
              <a:off x="1143000" y="1968500"/>
              <a:ext cx="4318000" cy="889000"/>
            </a:xfrm>
            <a:custGeom>
              <a:avLst/>
              <a:gdLst/>
              <a:ahLst/>
              <a:cxnLst/>
              <a:rect l="l" t="t" r="r" b="b"/>
              <a:pathLst>
                <a:path w="4318000" h="889000">
                  <a:moveTo>
                    <a:pt x="0" y="444500"/>
                  </a:moveTo>
                  <a:lnTo>
                    <a:pt x="2159000" y="0"/>
                  </a:lnTo>
                  <a:lnTo>
                    <a:pt x="4318000" y="444500"/>
                  </a:lnTo>
                  <a:lnTo>
                    <a:pt x="2159000" y="889000"/>
                  </a:lnTo>
                  <a:close/>
                </a:path>
              </a:pathLst>
            </a:custGeom>
            <a:solidFill>
              <a:srgbClr val="E9F8E3"/>
            </a:solidFill>
            <a:ln w="9525">
              <a:solidFill>
                <a:srgbClr val="09A78D">
                  <a:alpha val="3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36" name="svgicon-100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143250" y="2343150"/>
              <a:ext cx="317495" cy="317495"/>
            </a:xfrm>
            <a:prstGeom prst="rect">
              <a:avLst/>
            </a:prstGeom>
          </p:spPr>
        </p:pic>
        <p:sp>
          <p:nvSpPr>
            <p:cNvPr id="37" name="Path"/>
            <p:cNvSpPr/>
            <p:nvPr/>
          </p:nvSpPr>
          <p:spPr>
            <a:xfrm>
              <a:off x="5549900" y="2409825"/>
              <a:ext cx="704850" cy="6350"/>
            </a:xfrm>
            <a:custGeom>
              <a:avLst/>
              <a:gdLst/>
              <a:ahLst/>
              <a:cxnLst/>
              <a:rect l="l" t="t" r="r" b="b"/>
              <a:pathLst>
                <a:path w="704850" h="6350">
                  <a:moveTo>
                    <a:pt x="0" y="3175"/>
                  </a:moveTo>
                  <a:lnTo>
                    <a:pt x="704850" y="3175"/>
                  </a:lnTo>
                </a:path>
              </a:pathLst>
            </a:custGeom>
            <a:solidFill>
              <a:srgbClr val="000000"/>
            </a:solidFill>
            <a:ln w="12700">
              <a:solidFill>
                <a:srgbClr val="09A78D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Oval"/>
            <p:cNvSpPr/>
            <p:nvPr/>
          </p:nvSpPr>
          <p:spPr>
            <a:xfrm>
              <a:off x="6248400" y="2374900"/>
              <a:ext cx="76200" cy="76200"/>
            </a:xfrm>
            <a:prstGeom prst="ellipse">
              <a:avLst/>
            </a:prstGeom>
            <a:solidFill>
              <a:srgbClr val="09A78D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"/>
            <p:cNvSpPr txBox="1"/>
            <p:nvPr/>
          </p:nvSpPr>
          <p:spPr>
            <a:xfrm>
              <a:off x="6426200" y="2204720"/>
              <a:ext cx="2039828" cy="1752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50" b="1" dirty="0">
                  <a:solidFill>
                    <a:srgbClr val="19424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AI agents and assistants</a:t>
              </a:r>
              <a:endParaRPr lang="en-US" sz="1150" dirty="0"/>
            </a:p>
          </p:txBody>
        </p:sp>
        <p:sp>
          <p:nvSpPr>
            <p:cNvPr id="40" name="Text"/>
            <p:cNvSpPr txBox="1"/>
            <p:nvPr/>
          </p:nvSpPr>
          <p:spPr>
            <a:xfrm>
              <a:off x="6426200" y="2405023"/>
              <a:ext cx="2723235" cy="1568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33707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Customer-facing agents and agent assist</a:t>
              </a:r>
              <a:endParaRPr lang="en-US" sz="950" dirty="0"/>
            </a:p>
          </p:txBody>
        </p:sp>
      </p:grpSp>
      <p:grpSp>
        <p:nvGrpSpPr>
          <p:cNvPr id="41" name="Step 5"/>
          <p:cNvGrpSpPr/>
          <p:nvPr/>
        </p:nvGrpSpPr>
        <p:grpSpPr>
          <a:xfrm>
            <a:off x="1143000" y="1181100"/>
            <a:ext cx="7516785" cy="1003300"/>
            <a:chOff x="1143000" y="1181100"/>
            <a:chExt cx="7516785" cy="1003300"/>
          </a:xfrm>
        </p:grpSpPr>
        <p:sp>
          <p:nvSpPr>
            <p:cNvPr id="42" name="Path"/>
            <p:cNvSpPr/>
            <p:nvPr/>
          </p:nvSpPr>
          <p:spPr>
            <a:xfrm>
              <a:off x="1143000" y="1625600"/>
              <a:ext cx="2159000" cy="558800"/>
            </a:xfrm>
            <a:custGeom>
              <a:avLst/>
              <a:gdLst/>
              <a:ahLst/>
              <a:cxnLst/>
              <a:rect l="l" t="t" r="r" b="b"/>
              <a:pathLst>
                <a:path w="2159000" h="558800">
                  <a:moveTo>
                    <a:pt x="0" y="0"/>
                  </a:moveTo>
                  <a:lnTo>
                    <a:pt x="2159000" y="444500"/>
                  </a:lnTo>
                  <a:lnTo>
                    <a:pt x="2159000" y="5588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E7E9E9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Path"/>
            <p:cNvSpPr/>
            <p:nvPr/>
          </p:nvSpPr>
          <p:spPr>
            <a:xfrm>
              <a:off x="3302000" y="1625600"/>
              <a:ext cx="2159000" cy="558800"/>
            </a:xfrm>
            <a:custGeom>
              <a:avLst/>
              <a:gdLst/>
              <a:ahLst/>
              <a:cxnLst/>
              <a:rect l="l" t="t" r="r" b="b"/>
              <a:pathLst>
                <a:path w="2159000" h="558800">
                  <a:moveTo>
                    <a:pt x="0" y="444500"/>
                  </a:moveTo>
                  <a:lnTo>
                    <a:pt x="2159000" y="0"/>
                  </a:lnTo>
                  <a:lnTo>
                    <a:pt x="2159000" y="1143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D3D7D8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Path"/>
            <p:cNvSpPr/>
            <p:nvPr/>
          </p:nvSpPr>
          <p:spPr>
            <a:xfrm>
              <a:off x="1143000" y="1181100"/>
              <a:ext cx="4318000" cy="889000"/>
            </a:xfrm>
            <a:custGeom>
              <a:avLst/>
              <a:gdLst/>
              <a:ahLst/>
              <a:cxnLst/>
              <a:rect l="l" t="t" r="r" b="b"/>
              <a:pathLst>
                <a:path w="4318000" h="889000">
                  <a:moveTo>
                    <a:pt x="0" y="444500"/>
                  </a:moveTo>
                  <a:lnTo>
                    <a:pt x="2159000" y="0"/>
                  </a:lnTo>
                  <a:lnTo>
                    <a:pt x="4318000" y="444500"/>
                  </a:lnTo>
                  <a:lnTo>
                    <a:pt x="2159000" y="889000"/>
                  </a:lnTo>
                  <a:close/>
                </a:path>
              </a:pathLst>
            </a:custGeom>
            <a:solidFill>
              <a:srgbClr val="E9F8E3"/>
            </a:solidFill>
            <a:ln w="9525">
              <a:solidFill>
                <a:srgbClr val="09A78D">
                  <a:alpha val="35000"/>
                </a:srgbClr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pic>
          <p:nvPicPr>
            <p:cNvPr id="45" name="svgicon-101" descr="icon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143250" y="1555750"/>
              <a:ext cx="317495" cy="317495"/>
            </a:xfrm>
            <a:prstGeom prst="rect">
              <a:avLst/>
            </a:prstGeom>
          </p:spPr>
        </p:pic>
        <p:sp>
          <p:nvSpPr>
            <p:cNvPr id="46" name="Path"/>
            <p:cNvSpPr/>
            <p:nvPr/>
          </p:nvSpPr>
          <p:spPr>
            <a:xfrm>
              <a:off x="5549900" y="1622425"/>
              <a:ext cx="704850" cy="6350"/>
            </a:xfrm>
            <a:custGeom>
              <a:avLst/>
              <a:gdLst/>
              <a:ahLst/>
              <a:cxnLst/>
              <a:rect l="l" t="t" r="r" b="b"/>
              <a:pathLst>
                <a:path w="704850" h="6350">
                  <a:moveTo>
                    <a:pt x="0" y="3175"/>
                  </a:moveTo>
                  <a:lnTo>
                    <a:pt x="704850" y="3175"/>
                  </a:lnTo>
                </a:path>
              </a:pathLst>
            </a:custGeom>
            <a:solidFill>
              <a:srgbClr val="000000"/>
            </a:solidFill>
            <a:ln w="12700">
              <a:solidFill>
                <a:srgbClr val="09A78D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Oval"/>
            <p:cNvSpPr/>
            <p:nvPr/>
          </p:nvSpPr>
          <p:spPr>
            <a:xfrm>
              <a:off x="6248400" y="1587500"/>
              <a:ext cx="76200" cy="76200"/>
            </a:xfrm>
            <a:prstGeom prst="ellipse">
              <a:avLst/>
            </a:prstGeom>
            <a:solidFill>
              <a:srgbClr val="09A78D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Text"/>
            <p:cNvSpPr txBox="1"/>
            <p:nvPr/>
          </p:nvSpPr>
          <p:spPr>
            <a:xfrm>
              <a:off x="6426200" y="1417320"/>
              <a:ext cx="819152" cy="1752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1150" b="1" dirty="0">
                  <a:solidFill>
                    <a:srgbClr val="19424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Channels</a:t>
              </a:r>
              <a:endParaRPr lang="en-US" sz="1150" dirty="0"/>
            </a:p>
          </p:txBody>
        </p:sp>
        <p:sp>
          <p:nvSpPr>
            <p:cNvPr id="49" name="Text"/>
            <p:cNvSpPr txBox="1"/>
            <p:nvPr/>
          </p:nvSpPr>
          <p:spPr>
            <a:xfrm>
              <a:off x="6426200" y="1617623"/>
              <a:ext cx="2233585" cy="1568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337077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Chat, voice, app, web and branch</a:t>
              </a:r>
              <a:endParaRPr lang="en-US" sz="950" dirty="0"/>
            </a:p>
          </p:txBody>
        </p:sp>
      </p:grpSp>
      <p:sp>
        <p:nvSpPr>
          <p:cNvPr id="50" name="Shape 37"/>
          <p:cNvSpPr/>
          <p:nvPr/>
        </p:nvSpPr>
        <p:spPr>
          <a:xfrm>
            <a:off x="6426200" y="5156200"/>
            <a:ext cx="139700" cy="139700"/>
          </a:xfrm>
          <a:prstGeom prst="roundRect">
            <a:avLst>
              <a:gd name="adj" fmla="val 22727"/>
            </a:avLst>
          </a:prstGeom>
          <a:solidFill>
            <a:srgbClr val="1942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38"/>
          <p:cNvSpPr txBox="1"/>
          <p:nvPr/>
        </p:nvSpPr>
        <p:spPr>
          <a:xfrm>
            <a:off x="6629400" y="5165725"/>
            <a:ext cx="10439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by Myridius</a:t>
            </a:r>
            <a:endParaRPr lang="en-US" sz="900" dirty="0"/>
          </a:p>
        </p:txBody>
      </p:sp>
      <p:sp>
        <p:nvSpPr>
          <p:cNvPr id="52" name="Shape 39"/>
          <p:cNvSpPr/>
          <p:nvPr/>
        </p:nvSpPr>
        <p:spPr>
          <a:xfrm>
            <a:off x="7877175" y="5159375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E9F8E3"/>
          </a:solidFill>
          <a:ln w="6350">
            <a:solidFill>
              <a:srgbClr val="09A7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40"/>
          <p:cNvSpPr txBox="1"/>
          <p:nvPr/>
        </p:nvSpPr>
        <p:spPr>
          <a:xfrm>
            <a:off x="8077200" y="5165725"/>
            <a:ext cx="177266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platforms and partners</a:t>
            </a:r>
            <a:endParaRPr lang="en-US" sz="900" dirty="0"/>
          </a:p>
        </p:txBody>
      </p:sp>
      <p:sp>
        <p:nvSpPr>
          <p:cNvPr id="54" name="Shape 41"/>
          <p:cNvSpPr/>
          <p:nvPr/>
        </p:nvSpPr>
        <p:spPr>
          <a:xfrm>
            <a:off x="374650" y="5537200"/>
            <a:ext cx="11436350" cy="508000"/>
          </a:xfrm>
          <a:prstGeom prst="roundRect">
            <a:avLst>
              <a:gd name="adj" fmla="val 17500"/>
            </a:avLst>
          </a:prstGeom>
          <a:solidFill>
            <a:srgbClr val="F6F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42"/>
          <p:cNvSpPr/>
          <p:nvPr/>
        </p:nvSpPr>
        <p:spPr>
          <a:xfrm>
            <a:off x="527050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6" name="svgicon-102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150" y="5689501"/>
            <a:ext cx="203200" cy="203200"/>
          </a:xfrm>
          <a:prstGeom prst="rect">
            <a:avLst/>
          </a:prstGeom>
        </p:spPr>
      </p:pic>
      <p:sp>
        <p:nvSpPr>
          <p:cNvPr id="57" name="Text 43"/>
          <p:cNvSpPr txBox="1"/>
          <p:nvPr/>
        </p:nvSpPr>
        <p:spPr>
          <a:xfrm>
            <a:off x="882650" y="5640070"/>
            <a:ext cx="86269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IT FOR</a:t>
            </a:r>
            <a:endParaRPr lang="en-US" sz="900" dirty="0"/>
          </a:p>
        </p:txBody>
      </p:sp>
      <p:sp>
        <p:nvSpPr>
          <p:cNvPr id="58" name="Text 44"/>
          <p:cNvSpPr txBox="1"/>
          <p:nvPr/>
        </p:nvSpPr>
        <p:spPr>
          <a:xfrm>
            <a:off x="882650" y="5790525"/>
            <a:ext cx="2673015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Architecture; what sits on what; ownership</a:t>
            </a:r>
            <a:endParaRPr lang="en-US" sz="900" dirty="0"/>
          </a:p>
        </p:txBody>
      </p:sp>
      <p:sp>
        <p:nvSpPr>
          <p:cNvPr id="59" name="Shape 45"/>
          <p:cNvSpPr/>
          <p:nvPr/>
        </p:nvSpPr>
        <p:spPr>
          <a:xfrm>
            <a:off x="4288334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0" name="svgicon-103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26434" y="5689501"/>
            <a:ext cx="203200" cy="203200"/>
          </a:xfrm>
          <a:prstGeom prst="rect">
            <a:avLst/>
          </a:prstGeom>
        </p:spPr>
      </p:pic>
      <p:sp>
        <p:nvSpPr>
          <p:cNvPr id="61" name="Text 46"/>
          <p:cNvSpPr txBox="1"/>
          <p:nvPr/>
        </p:nvSpPr>
        <p:spPr>
          <a:xfrm>
            <a:off x="4643934" y="5640070"/>
            <a:ext cx="65435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MOTION</a:t>
            </a:r>
            <a:endParaRPr lang="en-US" sz="900" dirty="0"/>
          </a:p>
        </p:txBody>
      </p:sp>
      <p:sp>
        <p:nvSpPr>
          <p:cNvPr id="62" name="Text 47"/>
          <p:cNvSpPr txBox="1"/>
          <p:nvPr/>
        </p:nvSpPr>
        <p:spPr>
          <a:xfrm>
            <a:off x="4643934" y="5790525"/>
            <a:ext cx="226446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from the bottom up (optional)</a:t>
            </a:r>
            <a:endParaRPr lang="en-US" sz="900" dirty="0"/>
          </a:p>
        </p:txBody>
      </p:sp>
      <p:sp>
        <p:nvSpPr>
          <p:cNvPr id="63" name="Shape 48"/>
          <p:cNvSpPr/>
          <p:nvPr/>
        </p:nvSpPr>
        <p:spPr>
          <a:xfrm>
            <a:off x="8049617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4" name="svgicon-104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87717" y="5689501"/>
            <a:ext cx="203200" cy="203200"/>
          </a:xfrm>
          <a:prstGeom prst="rect">
            <a:avLst/>
          </a:prstGeom>
        </p:spPr>
      </p:pic>
      <p:sp>
        <p:nvSpPr>
          <p:cNvPr id="65" name="Text 49"/>
          <p:cNvSpPr txBox="1"/>
          <p:nvPr/>
        </p:nvSpPr>
        <p:spPr>
          <a:xfrm>
            <a:off x="8405217" y="5640070"/>
            <a:ext cx="63354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SEEN IN</a:t>
            </a:r>
            <a:endParaRPr lang="en-US" sz="900" dirty="0"/>
          </a:p>
        </p:txBody>
      </p:sp>
      <p:sp>
        <p:nvSpPr>
          <p:cNvPr id="66" name="Text 50"/>
          <p:cNvSpPr txBox="1"/>
          <p:nvPr/>
        </p:nvSpPr>
        <p:spPr>
          <a:xfrm>
            <a:off x="8405217" y="5790525"/>
            <a:ext cx="2445212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pages of cloud and data firms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7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4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1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8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00050" y="203200"/>
            <a:ext cx="1966873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10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 8/12 | ORBIT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374650" y="328930"/>
            <a:ext cx="11072517" cy="4089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28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channel and platform connects to </a:t>
            </a:r>
            <a:r>
              <a:rPr lang="en-US" sz="2800" b="1" kern="0" spc="-28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service core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968500" y="1270000"/>
            <a:ext cx="3937000" cy="3937000"/>
          </a:xfrm>
          <a:prstGeom prst="ellipse">
            <a:avLst/>
          </a:prstGeom>
          <a:ln w="12700">
            <a:solidFill>
              <a:srgbClr val="0C2226">
                <a:alpha val="18000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2755900" y="2057400"/>
            <a:ext cx="2362200" cy="2362200"/>
          </a:xfrm>
          <a:prstGeom prst="ellipse">
            <a:avLst/>
          </a:prstGeom>
          <a:ln w="12700">
            <a:solidFill>
              <a:srgbClr val="09A78D">
                <a:alpha val="50000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3225800" y="2527300"/>
            <a:ext cx="1422400" cy="1422400"/>
          </a:xfrm>
          <a:prstGeom prst="ellipse">
            <a:avLst/>
          </a:prstGeom>
          <a:solidFill>
            <a:srgbClr val="D2F0C6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3340100" y="2641600"/>
            <a:ext cx="1193800" cy="1193800"/>
          </a:xfrm>
          <a:prstGeom prst="ellipse">
            <a:avLst/>
          </a:prstGeom>
          <a:solidFill>
            <a:srgbClr val="0C222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svgicon-105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78250" y="2914650"/>
            <a:ext cx="317495" cy="31749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444465" y="3326765"/>
            <a:ext cx="98497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core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565525" y="1908175"/>
            <a:ext cx="749300" cy="298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0C22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svgicon-106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94807" y="1981200"/>
            <a:ext cx="152400" cy="1524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910707" y="1997075"/>
            <a:ext cx="364000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9424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Chat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4486275" y="2727325"/>
            <a:ext cx="1149350" cy="298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0C22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svgicon-107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0539" y="2800350"/>
            <a:ext cx="152400" cy="1524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4846439" y="2816225"/>
            <a:ext cx="785898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9424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Mobile app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4219575" y="4041775"/>
            <a:ext cx="819150" cy="298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0C22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svgicon-108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57390" y="4114800"/>
            <a:ext cx="152400" cy="1524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573290" y="4130675"/>
            <a:ext cx="424174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9424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Voice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2803525" y="4041775"/>
            <a:ext cx="882650" cy="298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0C22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svgicon-109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30029" y="4114800"/>
            <a:ext cx="152400" cy="1524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3145929" y="4130675"/>
            <a:ext cx="522353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9424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Branch</a:t>
            </a:r>
            <a:endParaRPr lang="en-US" sz="950" dirty="0"/>
          </a:p>
        </p:txBody>
      </p:sp>
      <p:sp>
        <p:nvSpPr>
          <p:cNvPr id="23" name="Shape 15"/>
          <p:cNvSpPr/>
          <p:nvPr/>
        </p:nvSpPr>
        <p:spPr>
          <a:xfrm>
            <a:off x="2473325" y="2727325"/>
            <a:ext cx="685800" cy="298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0C22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svgicon-110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76413" y="2800350"/>
            <a:ext cx="152400" cy="15240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2792313" y="2816225"/>
            <a:ext cx="351445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9424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Web</a:t>
            </a:r>
            <a:endParaRPr lang="en-US" sz="950" dirty="0"/>
          </a:p>
        </p:txBody>
      </p:sp>
      <p:sp>
        <p:nvSpPr>
          <p:cNvPr id="26" name="Shape 17"/>
          <p:cNvSpPr/>
          <p:nvPr/>
        </p:nvSpPr>
        <p:spPr>
          <a:xfrm>
            <a:off x="4581525" y="1387475"/>
            <a:ext cx="685800" cy="298450"/>
          </a:xfrm>
          <a:prstGeom prst="roundRect">
            <a:avLst>
              <a:gd name="adj" fmla="val 50000"/>
            </a:avLst>
          </a:prstGeom>
          <a:solidFill>
            <a:srgbClr val="D2F0C6"/>
          </a:solidFill>
          <a:ln w="6350">
            <a:solidFill>
              <a:srgbClr val="D2F0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svgicon-111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76973" y="1460500"/>
            <a:ext cx="152400" cy="15240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4892873" y="1476375"/>
            <a:ext cx="368750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9424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CRM</a:t>
            </a:r>
            <a:endParaRPr lang="en-US" sz="950" dirty="0"/>
          </a:p>
        </p:txBody>
      </p:sp>
      <p:sp>
        <p:nvSpPr>
          <p:cNvPr id="29" name="Shape 19"/>
          <p:cNvSpPr/>
          <p:nvPr/>
        </p:nvSpPr>
        <p:spPr>
          <a:xfrm>
            <a:off x="5267325" y="3089275"/>
            <a:ext cx="1282700" cy="298450"/>
          </a:xfrm>
          <a:prstGeom prst="roundRect">
            <a:avLst>
              <a:gd name="adj" fmla="val 50000"/>
            </a:avLst>
          </a:prstGeom>
          <a:solidFill>
            <a:srgbClr val="D2F0C6"/>
          </a:solidFill>
          <a:ln w="6350">
            <a:solidFill>
              <a:srgbClr val="D2F0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svgicon-112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11490" y="3162300"/>
            <a:ext cx="152400" cy="15240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5627390" y="3178175"/>
            <a:ext cx="938256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9424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Core banking</a:t>
            </a:r>
            <a:endParaRPr lang="en-US" sz="950" dirty="0"/>
          </a:p>
        </p:txBody>
      </p:sp>
      <p:sp>
        <p:nvSpPr>
          <p:cNvPr id="32" name="Shape 21"/>
          <p:cNvSpPr/>
          <p:nvPr/>
        </p:nvSpPr>
        <p:spPr>
          <a:xfrm>
            <a:off x="4251325" y="4791075"/>
            <a:ext cx="1346200" cy="298450"/>
          </a:xfrm>
          <a:prstGeom prst="roundRect">
            <a:avLst>
              <a:gd name="adj" fmla="val 50000"/>
            </a:avLst>
          </a:prstGeom>
          <a:solidFill>
            <a:srgbClr val="D2F0C6"/>
          </a:solidFill>
          <a:ln w="6350">
            <a:solidFill>
              <a:srgbClr val="D2F0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svgicon-113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16723" y="4864100"/>
            <a:ext cx="152400" cy="152400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4632623" y="4879975"/>
            <a:ext cx="962235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9424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Card platform</a:t>
            </a:r>
            <a:endParaRPr lang="en-US" sz="950" dirty="0"/>
          </a:p>
        </p:txBody>
      </p:sp>
      <p:sp>
        <p:nvSpPr>
          <p:cNvPr id="35" name="Shape 23"/>
          <p:cNvSpPr/>
          <p:nvPr/>
        </p:nvSpPr>
        <p:spPr>
          <a:xfrm>
            <a:off x="2244725" y="4791075"/>
            <a:ext cx="1416050" cy="298450"/>
          </a:xfrm>
          <a:prstGeom prst="roundRect">
            <a:avLst>
              <a:gd name="adj" fmla="val 50000"/>
            </a:avLst>
          </a:prstGeom>
          <a:solidFill>
            <a:srgbClr val="D2F0C6"/>
          </a:solidFill>
          <a:ln w="6350">
            <a:solidFill>
              <a:srgbClr val="D2F0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6" name="svgicon-114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59620" y="4864100"/>
            <a:ext cx="152400" cy="152400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2575520" y="4879975"/>
            <a:ext cx="1157010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9424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Knowledge base</a:t>
            </a:r>
            <a:endParaRPr lang="en-US" sz="950" dirty="0"/>
          </a:p>
        </p:txBody>
      </p:sp>
      <p:sp>
        <p:nvSpPr>
          <p:cNvPr id="38" name="Shape 25"/>
          <p:cNvSpPr/>
          <p:nvPr/>
        </p:nvSpPr>
        <p:spPr>
          <a:xfrm>
            <a:off x="1127125" y="3089275"/>
            <a:ext cx="1682750" cy="298450"/>
          </a:xfrm>
          <a:prstGeom prst="roundRect">
            <a:avLst>
              <a:gd name="adj" fmla="val 50000"/>
            </a:avLst>
          </a:prstGeom>
          <a:solidFill>
            <a:srgbClr val="D2F0C6"/>
          </a:solidFill>
          <a:ln w="6350">
            <a:solidFill>
              <a:srgbClr val="D2F0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9" name="svgicon-115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86371" y="3162300"/>
            <a:ext cx="152400" cy="152400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1502271" y="3178175"/>
            <a:ext cx="1359928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9424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Workforce planning</a:t>
            </a:r>
            <a:endParaRPr lang="en-US" sz="950" dirty="0"/>
          </a:p>
        </p:txBody>
      </p:sp>
      <p:sp>
        <p:nvSpPr>
          <p:cNvPr id="41" name="Shape 27"/>
          <p:cNvSpPr/>
          <p:nvPr/>
        </p:nvSpPr>
        <p:spPr>
          <a:xfrm>
            <a:off x="2409825" y="1387475"/>
            <a:ext cx="1085850" cy="298450"/>
          </a:xfrm>
          <a:prstGeom prst="roundRect">
            <a:avLst>
              <a:gd name="adj" fmla="val 50000"/>
            </a:avLst>
          </a:prstGeom>
          <a:solidFill>
            <a:srgbClr val="D2F0C6"/>
          </a:solidFill>
          <a:ln w="6350">
            <a:solidFill>
              <a:srgbClr val="D2F0C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2" name="svgicon-116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71155" y="1460500"/>
            <a:ext cx="152400" cy="152400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2787055" y="1476375"/>
            <a:ext cx="674598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9424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Analytics</a:t>
            </a:r>
            <a:endParaRPr lang="en-US" sz="950" dirty="0"/>
          </a:p>
        </p:txBody>
      </p:sp>
      <p:sp>
        <p:nvSpPr>
          <p:cNvPr id="44" name="Shape 29"/>
          <p:cNvSpPr/>
          <p:nvPr/>
        </p:nvSpPr>
        <p:spPr>
          <a:xfrm>
            <a:off x="7493000" y="1498600"/>
            <a:ext cx="381000" cy="381000"/>
          </a:xfrm>
          <a:prstGeom prst="ellipse">
            <a:avLst/>
          </a:prstGeom>
          <a:solidFill>
            <a:srgbClr val="0C222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5" name="svgicon-117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546975" y="1552575"/>
            <a:ext cx="273050" cy="273050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8001000" y="1493520"/>
            <a:ext cx="767235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core</a:t>
            </a:r>
            <a:endParaRPr lang="en-US" sz="1150" dirty="0"/>
          </a:p>
        </p:txBody>
      </p:sp>
      <p:sp>
        <p:nvSpPr>
          <p:cNvPr id="47" name="Text 31"/>
          <p:cNvSpPr txBox="1"/>
          <p:nvPr/>
        </p:nvSpPr>
        <p:spPr>
          <a:xfrm>
            <a:off x="8001000" y="1711920"/>
            <a:ext cx="394232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set of rules, knowledge and controls for every agent</a:t>
            </a:r>
            <a:endParaRPr lang="en-US" sz="1000" dirty="0"/>
          </a:p>
        </p:txBody>
      </p:sp>
      <p:sp>
        <p:nvSpPr>
          <p:cNvPr id="48" name="Shape 32"/>
          <p:cNvSpPr/>
          <p:nvPr/>
        </p:nvSpPr>
        <p:spPr>
          <a:xfrm>
            <a:off x="7496175" y="2746375"/>
            <a:ext cx="374650" cy="37465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C22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9" name="svgicon-118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546975" y="2797175"/>
            <a:ext cx="273050" cy="273050"/>
          </a:xfrm>
          <a:prstGeom prst="rect">
            <a:avLst/>
          </a:prstGeom>
        </p:spPr>
      </p:pic>
      <p:sp>
        <p:nvSpPr>
          <p:cNvPr id="50" name="Text 33"/>
          <p:cNvSpPr txBox="1"/>
          <p:nvPr/>
        </p:nvSpPr>
        <p:spPr>
          <a:xfrm>
            <a:off x="8001000" y="2738120"/>
            <a:ext cx="1672449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Inner ring: channels</a:t>
            </a:r>
            <a:endParaRPr lang="en-US" sz="1150" dirty="0"/>
          </a:p>
        </p:txBody>
      </p:sp>
      <p:sp>
        <p:nvSpPr>
          <p:cNvPr id="51" name="Text 34"/>
          <p:cNvSpPr txBox="1"/>
          <p:nvPr/>
        </p:nvSpPr>
        <p:spPr>
          <a:xfrm>
            <a:off x="8001000" y="2956520"/>
            <a:ext cx="407896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customers reach you; the same answer everywhere</a:t>
            </a:r>
            <a:endParaRPr lang="en-US" sz="1000" dirty="0"/>
          </a:p>
        </p:txBody>
      </p:sp>
      <p:sp>
        <p:nvSpPr>
          <p:cNvPr id="52" name="Shape 35"/>
          <p:cNvSpPr/>
          <p:nvPr/>
        </p:nvSpPr>
        <p:spPr>
          <a:xfrm>
            <a:off x="7493000" y="3987800"/>
            <a:ext cx="381000" cy="381000"/>
          </a:xfrm>
          <a:prstGeom prst="ellipse">
            <a:avLst/>
          </a:prstGeom>
          <a:solidFill>
            <a:srgbClr val="D2F0C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3" name="svgicon-119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546975" y="4041775"/>
            <a:ext cx="273050" cy="273050"/>
          </a:xfrm>
          <a:prstGeom prst="rect">
            <a:avLst/>
          </a:prstGeom>
        </p:spPr>
      </p:pic>
      <p:sp>
        <p:nvSpPr>
          <p:cNvPr id="54" name="Text 36"/>
          <p:cNvSpPr txBox="1"/>
          <p:nvPr/>
        </p:nvSpPr>
        <p:spPr>
          <a:xfrm>
            <a:off x="8001000" y="3982720"/>
            <a:ext cx="1747893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Outer ring: platforms</a:t>
            </a:r>
            <a:endParaRPr lang="en-US" sz="1150" dirty="0"/>
          </a:p>
        </p:txBody>
      </p:sp>
      <p:sp>
        <p:nvSpPr>
          <p:cNvPr id="55" name="Text 37"/>
          <p:cNvSpPr txBox="1"/>
          <p:nvPr/>
        </p:nvSpPr>
        <p:spPr>
          <a:xfrm>
            <a:off x="8001000" y="4201120"/>
            <a:ext cx="407625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agents act; connected once, used by every channel</a:t>
            </a:r>
            <a:endParaRPr lang="en-US" sz="1000" dirty="0"/>
          </a:p>
        </p:txBody>
      </p:sp>
      <p:sp>
        <p:nvSpPr>
          <p:cNvPr id="56" name="Shape 38"/>
          <p:cNvSpPr/>
          <p:nvPr/>
        </p:nvSpPr>
        <p:spPr>
          <a:xfrm>
            <a:off x="374650" y="5537200"/>
            <a:ext cx="11436350" cy="508000"/>
          </a:xfrm>
          <a:prstGeom prst="roundRect">
            <a:avLst>
              <a:gd name="adj" fmla="val 17500"/>
            </a:avLst>
          </a:prstGeom>
          <a:solidFill>
            <a:srgbClr val="F6F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39"/>
          <p:cNvSpPr/>
          <p:nvPr/>
        </p:nvSpPr>
        <p:spPr>
          <a:xfrm>
            <a:off x="527050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8" name="svgicon-120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65150" y="5689501"/>
            <a:ext cx="203200" cy="203200"/>
          </a:xfrm>
          <a:prstGeom prst="rect">
            <a:avLst/>
          </a:prstGeom>
        </p:spPr>
      </p:pic>
      <p:sp>
        <p:nvSpPr>
          <p:cNvPr id="59" name="Text 40"/>
          <p:cNvSpPr txBox="1"/>
          <p:nvPr/>
        </p:nvSpPr>
        <p:spPr>
          <a:xfrm>
            <a:off x="882650" y="5640070"/>
            <a:ext cx="86269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IT FOR</a:t>
            </a:r>
            <a:endParaRPr lang="en-US" sz="900" dirty="0"/>
          </a:p>
        </p:txBody>
      </p:sp>
      <p:sp>
        <p:nvSpPr>
          <p:cNvPr id="60" name="Text 41"/>
          <p:cNvSpPr txBox="1"/>
          <p:nvPr/>
        </p:nvSpPr>
        <p:spPr>
          <a:xfrm>
            <a:off x="882650" y="5790525"/>
            <a:ext cx="2186757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core connected to many parts</a:t>
            </a:r>
            <a:endParaRPr lang="en-US" sz="900" dirty="0"/>
          </a:p>
        </p:txBody>
      </p:sp>
      <p:sp>
        <p:nvSpPr>
          <p:cNvPr id="61" name="Shape 42"/>
          <p:cNvSpPr/>
          <p:nvPr/>
        </p:nvSpPr>
        <p:spPr>
          <a:xfrm>
            <a:off x="4288334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2" name="svgicon-121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326434" y="5689501"/>
            <a:ext cx="203200" cy="203200"/>
          </a:xfrm>
          <a:prstGeom prst="rect">
            <a:avLst/>
          </a:prstGeom>
        </p:spPr>
      </p:pic>
      <p:sp>
        <p:nvSpPr>
          <p:cNvPr id="63" name="Text 43"/>
          <p:cNvSpPr txBox="1"/>
          <p:nvPr/>
        </p:nvSpPr>
        <p:spPr>
          <a:xfrm>
            <a:off x="4643934" y="5640070"/>
            <a:ext cx="65435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MOTION</a:t>
            </a:r>
            <a:endParaRPr lang="en-US" sz="900" dirty="0"/>
          </a:p>
        </p:txBody>
      </p:sp>
      <p:sp>
        <p:nvSpPr>
          <p:cNvPr id="64" name="Text 44"/>
          <p:cNvSpPr txBox="1"/>
          <p:nvPr/>
        </p:nvSpPr>
        <p:spPr>
          <a:xfrm>
            <a:off x="4643934" y="5790525"/>
            <a:ext cx="399516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</a:t>
            </a:r>
            <a:endParaRPr lang="en-US" sz="900" dirty="0"/>
          </a:p>
        </p:txBody>
      </p:sp>
      <p:sp>
        <p:nvSpPr>
          <p:cNvPr id="65" name="Shape 45"/>
          <p:cNvSpPr/>
          <p:nvPr/>
        </p:nvSpPr>
        <p:spPr>
          <a:xfrm>
            <a:off x="8049617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6" name="svgicon-122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087717" y="5689501"/>
            <a:ext cx="203200" cy="203200"/>
          </a:xfrm>
          <a:prstGeom prst="rect">
            <a:avLst/>
          </a:prstGeom>
        </p:spPr>
      </p:pic>
      <p:sp>
        <p:nvSpPr>
          <p:cNvPr id="67" name="Text 46"/>
          <p:cNvSpPr txBox="1"/>
          <p:nvPr/>
        </p:nvSpPr>
        <p:spPr>
          <a:xfrm>
            <a:off x="8405217" y="5640070"/>
            <a:ext cx="63354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SEEN IN</a:t>
            </a:r>
            <a:endParaRPr lang="en-US" sz="900" dirty="0"/>
          </a:p>
        </p:txBody>
      </p:sp>
      <p:sp>
        <p:nvSpPr>
          <p:cNvPr id="68" name="Text 47"/>
          <p:cNvSpPr txBox="1"/>
          <p:nvPr/>
        </p:nvSpPr>
        <p:spPr>
          <a:xfrm>
            <a:off x="8405217" y="5790525"/>
            <a:ext cx="2287651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 pages; orbit components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00050" y="203200"/>
            <a:ext cx="3408904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10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 9/12 | HORIZON STAIRCASE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374650" y="328930"/>
            <a:ext cx="11194109" cy="4089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28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horizons take service </a:t>
            </a:r>
            <a:r>
              <a:rPr lang="en-US" sz="2800" b="1" kern="0" spc="-28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assisted to autonomous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7825" y="2987675"/>
            <a:ext cx="3721100" cy="2368550"/>
          </a:xfrm>
          <a:prstGeom prst="roundRect">
            <a:avLst>
              <a:gd name="adj" fmla="val 4155"/>
            </a:avLst>
          </a:prstGeom>
          <a:solidFill>
            <a:srgbClr val="FFFFFF"/>
          </a:solidFill>
          <a:ln w="6350">
            <a:solidFill>
              <a:srgbClr val="0C2226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565150" y="3149600"/>
            <a:ext cx="458786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3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565150" y="3346450"/>
            <a:ext cx="9779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Assisted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65150" y="3613150"/>
            <a:ext cx="1963140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helps people do the work</a:t>
            </a:r>
            <a:endParaRPr lang="en-US" sz="1000" dirty="0"/>
          </a:p>
        </p:txBody>
      </p:sp>
      <p:pic>
        <p:nvPicPr>
          <p:cNvPr id="9" name="svgicon-123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5150" y="3883025"/>
            <a:ext cx="152400" cy="1524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81050" y="3876675"/>
            <a:ext cx="181123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assist and wrap-up</a:t>
            </a:r>
            <a:endParaRPr lang="en-US" sz="1000" dirty="0"/>
          </a:p>
        </p:txBody>
      </p:sp>
      <p:pic>
        <p:nvPicPr>
          <p:cNvPr id="11" name="svgicon-124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5150" y="4143375"/>
            <a:ext cx="152400" cy="1524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81050" y="4137025"/>
            <a:ext cx="2316946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approved knowledge source</a:t>
            </a:r>
            <a:endParaRPr lang="en-US" sz="1000" dirty="0"/>
          </a:p>
        </p:txBody>
      </p:sp>
      <p:pic>
        <p:nvPicPr>
          <p:cNvPr id="13" name="svgicon-125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5150" y="4403725"/>
            <a:ext cx="152400" cy="1524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81050" y="4397375"/>
            <a:ext cx="2137668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contact quality-checked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565150" y="4864100"/>
            <a:ext cx="3346450" cy="9525"/>
          </a:xfrm>
          <a:prstGeom prst="rect">
            <a:avLst/>
          </a:prstGeom>
          <a:solidFill>
            <a:srgbClr val="0C22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svgicon-126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5150" y="4979988"/>
            <a:ext cx="139700" cy="1397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68350" y="4973638"/>
            <a:ext cx="362483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Move on when:</a:t>
            </a: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Answers proven accurate on live contacts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4232275" y="2225675"/>
            <a:ext cx="3721100" cy="3130550"/>
          </a:xfrm>
          <a:prstGeom prst="roundRect">
            <a:avLst>
              <a:gd name="adj" fmla="val 3144"/>
            </a:avLst>
          </a:prstGeom>
          <a:solidFill>
            <a:srgbClr val="FFFFFF"/>
          </a:solidFill>
          <a:ln w="6350">
            <a:solidFill>
              <a:srgbClr val="0C2226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2"/>
          <p:cNvSpPr txBox="1"/>
          <p:nvPr/>
        </p:nvSpPr>
        <p:spPr>
          <a:xfrm>
            <a:off x="4419600" y="2387600"/>
            <a:ext cx="504142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3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</a:t>
            </a:r>
            <a:endParaRPr lang="en-US" sz="950" dirty="0"/>
          </a:p>
        </p:txBody>
      </p:sp>
      <p:sp>
        <p:nvSpPr>
          <p:cNvPr id="20" name="Text 13"/>
          <p:cNvSpPr txBox="1"/>
          <p:nvPr/>
        </p:nvSpPr>
        <p:spPr>
          <a:xfrm>
            <a:off x="4419600" y="2584450"/>
            <a:ext cx="122668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4419600" y="2851150"/>
            <a:ext cx="2093895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completes routine requests</a:t>
            </a:r>
            <a:endParaRPr lang="en-US" sz="1000" dirty="0"/>
          </a:p>
        </p:txBody>
      </p:sp>
      <p:pic>
        <p:nvPicPr>
          <p:cNvPr id="22" name="svgicon-127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19600" y="3121025"/>
            <a:ext cx="152400" cy="1524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4635500" y="3114675"/>
            <a:ext cx="2339681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Self-service that finishes the task</a:t>
            </a:r>
            <a:endParaRPr lang="en-US" sz="1000" dirty="0"/>
          </a:p>
        </p:txBody>
      </p:sp>
      <p:pic>
        <p:nvPicPr>
          <p:cNvPr id="24" name="svgicon-128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19600" y="3381375"/>
            <a:ext cx="152400" cy="15240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4635500" y="3375025"/>
            <a:ext cx="2869146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Dispute and onboarding steps automated</a:t>
            </a:r>
            <a:endParaRPr lang="en-US" sz="1000" dirty="0"/>
          </a:p>
        </p:txBody>
      </p:sp>
      <p:pic>
        <p:nvPicPr>
          <p:cNvPr id="26" name="svgicon-129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19600" y="3641725"/>
            <a:ext cx="152400" cy="15240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4635500" y="3635375"/>
            <a:ext cx="2065844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handle the exceptions</a:t>
            </a:r>
            <a:endParaRPr lang="en-US" sz="1000" dirty="0"/>
          </a:p>
        </p:txBody>
      </p:sp>
      <p:pic>
        <p:nvPicPr>
          <p:cNvPr id="28" name="svgicon-130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7050" y="3898900"/>
            <a:ext cx="825505" cy="825505"/>
          </a:xfrm>
          <a:prstGeom prst="rect">
            <a:avLst/>
          </a:prstGeom>
        </p:spPr>
      </p:pic>
      <p:sp>
        <p:nvSpPr>
          <p:cNvPr id="29" name="Shape 18"/>
          <p:cNvSpPr/>
          <p:nvPr/>
        </p:nvSpPr>
        <p:spPr>
          <a:xfrm>
            <a:off x="4419600" y="4864100"/>
            <a:ext cx="3346450" cy="9525"/>
          </a:xfrm>
          <a:prstGeom prst="rect">
            <a:avLst/>
          </a:prstGeom>
          <a:solidFill>
            <a:srgbClr val="0C22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svgicon-131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9600" y="4979988"/>
            <a:ext cx="139700" cy="139700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4622800" y="4973638"/>
            <a:ext cx="346500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Move on when:</a:t>
            </a: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Automation runs within agreed controls</a:t>
            </a:r>
            <a:endParaRPr lang="en-US" sz="900" dirty="0"/>
          </a:p>
        </p:txBody>
      </p:sp>
      <p:sp>
        <p:nvSpPr>
          <p:cNvPr id="32" name="Shape 20"/>
          <p:cNvSpPr/>
          <p:nvPr/>
        </p:nvSpPr>
        <p:spPr>
          <a:xfrm>
            <a:off x="8086725" y="1463675"/>
            <a:ext cx="3721100" cy="3892550"/>
          </a:xfrm>
          <a:prstGeom prst="roundRect">
            <a:avLst>
              <a:gd name="adj" fmla="val 2645"/>
            </a:avLst>
          </a:prstGeom>
          <a:solidFill>
            <a:srgbClr val="0C2226"/>
          </a:solidFill>
          <a:ln w="6350">
            <a:solidFill>
              <a:srgbClr val="0C22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1"/>
          <p:cNvSpPr txBox="1"/>
          <p:nvPr/>
        </p:nvSpPr>
        <p:spPr>
          <a:xfrm>
            <a:off x="8274050" y="1625600"/>
            <a:ext cx="581057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33" dirty="0">
                <a:solidFill>
                  <a:srgbClr val="52E0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LATER</a:t>
            </a:r>
            <a:endParaRPr lang="en-US" sz="950" dirty="0"/>
          </a:p>
        </p:txBody>
      </p:sp>
      <p:sp>
        <p:nvSpPr>
          <p:cNvPr id="34" name="Text 22"/>
          <p:cNvSpPr txBox="1"/>
          <p:nvPr/>
        </p:nvSpPr>
        <p:spPr>
          <a:xfrm>
            <a:off x="8274050" y="1822450"/>
            <a:ext cx="141535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</a:t>
            </a:r>
            <a:endParaRPr lang="en-US" sz="1500" dirty="0"/>
          </a:p>
        </p:txBody>
      </p:sp>
      <p:sp>
        <p:nvSpPr>
          <p:cNvPr id="35" name="Text 23"/>
          <p:cNvSpPr txBox="1"/>
          <p:nvPr/>
        </p:nvSpPr>
        <p:spPr>
          <a:xfrm>
            <a:off x="8274050" y="2089150"/>
            <a:ext cx="2739297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2F0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 run most journeys end to end</a:t>
            </a:r>
            <a:endParaRPr lang="en-US" sz="1000" dirty="0"/>
          </a:p>
        </p:txBody>
      </p:sp>
      <p:pic>
        <p:nvPicPr>
          <p:cNvPr id="36" name="svgicon-132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74050" y="2359025"/>
            <a:ext cx="152400" cy="152400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8489950" y="2352675"/>
            <a:ext cx="188894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act across systems</a:t>
            </a:r>
            <a:endParaRPr lang="en-US" sz="1000" dirty="0"/>
          </a:p>
        </p:txBody>
      </p:sp>
      <p:pic>
        <p:nvPicPr>
          <p:cNvPr id="38" name="svgicon-133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74050" y="2619375"/>
            <a:ext cx="152400" cy="152400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8489950" y="2613025"/>
            <a:ext cx="2118213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supervise and improve</a:t>
            </a:r>
            <a:endParaRPr lang="en-US" sz="1000" dirty="0"/>
          </a:p>
        </p:txBody>
      </p:sp>
      <p:pic>
        <p:nvPicPr>
          <p:cNvPr id="40" name="svgicon-134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74050" y="2879725"/>
            <a:ext cx="152400" cy="152400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8489950" y="2873375"/>
            <a:ext cx="2165493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and governed as a service</a:t>
            </a:r>
            <a:endParaRPr lang="en-US" sz="1000" dirty="0"/>
          </a:p>
        </p:txBody>
      </p:sp>
      <p:pic>
        <p:nvPicPr>
          <p:cNvPr id="42" name="svgicon-135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96500" y="3263900"/>
            <a:ext cx="1460495" cy="1460495"/>
          </a:xfrm>
          <a:prstGeom prst="rect">
            <a:avLst/>
          </a:prstGeom>
        </p:spPr>
      </p:pic>
      <p:sp>
        <p:nvSpPr>
          <p:cNvPr id="43" name="Shape 27"/>
          <p:cNvSpPr/>
          <p:nvPr/>
        </p:nvSpPr>
        <p:spPr>
          <a:xfrm>
            <a:off x="8274050" y="4864100"/>
            <a:ext cx="3346450" cy="9525"/>
          </a:xfrm>
          <a:prstGeom prst="rect">
            <a:avLst/>
          </a:prstGeom>
          <a:solidFill>
            <a:srgbClr val="D2F0C6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4" name="svgicon-136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74050" y="4979988"/>
            <a:ext cx="139700" cy="139700"/>
          </a:xfrm>
          <a:prstGeom prst="rect">
            <a:avLst/>
          </a:prstGeom>
        </p:spPr>
      </p:pic>
      <p:sp>
        <p:nvSpPr>
          <p:cNvPr id="45" name="Text 28"/>
          <p:cNvSpPr txBox="1"/>
          <p:nvPr/>
        </p:nvSpPr>
        <p:spPr>
          <a:xfrm>
            <a:off x="8477250" y="4973638"/>
            <a:ext cx="274529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Judged by:</a:t>
            </a:r>
            <a:r>
              <a:rPr lang="en-US" sz="900" dirty="0">
                <a:solidFill>
                  <a:srgbClr val="D2F0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Business outcomes, not activity</a:t>
            </a:r>
            <a:endParaRPr lang="en-US" sz="900" dirty="0"/>
          </a:p>
        </p:txBody>
      </p:sp>
      <p:sp>
        <p:nvSpPr>
          <p:cNvPr id="46" name="Shape 29"/>
          <p:cNvSpPr/>
          <p:nvPr/>
        </p:nvSpPr>
        <p:spPr>
          <a:xfrm>
            <a:off x="565150" y="2590800"/>
            <a:ext cx="1811734" cy="279400"/>
          </a:xfrm>
          <a:prstGeom prst="roundRect">
            <a:avLst>
              <a:gd name="adj" fmla="val 50000"/>
            </a:avLst>
          </a:prstGeom>
          <a:solidFill>
            <a:srgbClr val="0C222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7" name="svgicon-137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450" y="2660650"/>
            <a:ext cx="139700" cy="139700"/>
          </a:xfrm>
          <a:prstGeom prst="rect">
            <a:avLst/>
          </a:prstGeom>
        </p:spPr>
      </p:pic>
      <p:sp>
        <p:nvSpPr>
          <p:cNvPr id="48" name="Text 30"/>
          <p:cNvSpPr txBox="1"/>
          <p:nvPr/>
        </p:nvSpPr>
        <p:spPr>
          <a:xfrm>
            <a:off x="882650" y="2670175"/>
            <a:ext cx="16239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2E08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are here (illustrative)</a:t>
            </a:r>
            <a:endParaRPr lang="en-US" sz="900" dirty="0"/>
          </a:p>
        </p:txBody>
      </p:sp>
      <p:sp>
        <p:nvSpPr>
          <p:cNvPr id="49" name="Shape 31"/>
          <p:cNvSpPr/>
          <p:nvPr/>
        </p:nvSpPr>
        <p:spPr>
          <a:xfrm>
            <a:off x="374650" y="5537200"/>
            <a:ext cx="11436350" cy="508000"/>
          </a:xfrm>
          <a:prstGeom prst="roundRect">
            <a:avLst>
              <a:gd name="adj" fmla="val 17500"/>
            </a:avLst>
          </a:prstGeom>
          <a:solidFill>
            <a:srgbClr val="F6F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32"/>
          <p:cNvSpPr/>
          <p:nvPr/>
        </p:nvSpPr>
        <p:spPr>
          <a:xfrm>
            <a:off x="527050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1" name="svgicon-138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5150" y="5689501"/>
            <a:ext cx="203200" cy="20320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882650" y="5640070"/>
            <a:ext cx="86269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IT FOR</a:t>
            </a:r>
            <a:endParaRPr lang="en-US" sz="900" dirty="0"/>
          </a:p>
        </p:txBody>
      </p:sp>
      <p:sp>
        <p:nvSpPr>
          <p:cNvPr id="53" name="Text 34"/>
          <p:cNvSpPr txBox="1"/>
          <p:nvPr/>
        </p:nvSpPr>
        <p:spPr>
          <a:xfrm>
            <a:off x="882650" y="5790525"/>
            <a:ext cx="2514548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Maturity, phases and ambition over time</a:t>
            </a:r>
            <a:endParaRPr lang="en-US" sz="900" dirty="0"/>
          </a:p>
        </p:txBody>
      </p:sp>
      <p:sp>
        <p:nvSpPr>
          <p:cNvPr id="54" name="Shape 35"/>
          <p:cNvSpPr/>
          <p:nvPr/>
        </p:nvSpPr>
        <p:spPr>
          <a:xfrm>
            <a:off x="4288334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5" name="svgicon-139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26434" y="5689501"/>
            <a:ext cx="203200" cy="203200"/>
          </a:xfrm>
          <a:prstGeom prst="rect">
            <a:avLst/>
          </a:prstGeom>
        </p:spPr>
      </p:pic>
      <p:sp>
        <p:nvSpPr>
          <p:cNvPr id="56" name="Text 36"/>
          <p:cNvSpPr txBox="1"/>
          <p:nvPr/>
        </p:nvSpPr>
        <p:spPr>
          <a:xfrm>
            <a:off x="4643934" y="5640070"/>
            <a:ext cx="65435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MOTION</a:t>
            </a:r>
            <a:endParaRPr lang="en-US" sz="900" dirty="0"/>
          </a:p>
        </p:txBody>
      </p:sp>
      <p:sp>
        <p:nvSpPr>
          <p:cNvPr id="57" name="Text 37"/>
          <p:cNvSpPr txBox="1"/>
          <p:nvPr/>
        </p:nvSpPr>
        <p:spPr>
          <a:xfrm>
            <a:off x="4643934" y="5790525"/>
            <a:ext cx="399516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</a:t>
            </a:r>
            <a:endParaRPr lang="en-US" sz="900" dirty="0"/>
          </a:p>
        </p:txBody>
      </p:sp>
      <p:sp>
        <p:nvSpPr>
          <p:cNvPr id="58" name="Shape 38"/>
          <p:cNvSpPr/>
          <p:nvPr/>
        </p:nvSpPr>
        <p:spPr>
          <a:xfrm>
            <a:off x="8049617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9" name="svgicon-140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87717" y="5689501"/>
            <a:ext cx="203200" cy="203200"/>
          </a:xfrm>
          <a:prstGeom prst="rect">
            <a:avLst/>
          </a:prstGeom>
        </p:spPr>
      </p:pic>
      <p:sp>
        <p:nvSpPr>
          <p:cNvPr id="60" name="Text 39"/>
          <p:cNvSpPr txBox="1"/>
          <p:nvPr/>
        </p:nvSpPr>
        <p:spPr>
          <a:xfrm>
            <a:off x="8405217" y="5640070"/>
            <a:ext cx="63354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SEEN IN</a:t>
            </a:r>
            <a:endParaRPr lang="en-US" sz="900" dirty="0"/>
          </a:p>
        </p:txBody>
      </p:sp>
      <p:sp>
        <p:nvSpPr>
          <p:cNvPr id="61" name="Text 40"/>
          <p:cNvSpPr txBox="1"/>
          <p:nvPr/>
        </p:nvSpPr>
        <p:spPr>
          <a:xfrm>
            <a:off x="8405217" y="5790525"/>
            <a:ext cx="227317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 decks and maturity models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00050" y="203200"/>
            <a:ext cx="3033381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10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 10/12 | BUBBLE MATRIX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374650" y="328930"/>
            <a:ext cx="9610804" cy="4089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28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where the </a:t>
            </a:r>
            <a:r>
              <a:rPr lang="en-US" sz="2800" b="1" kern="0" spc="-28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is high and the path is short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381500" y="1143000"/>
            <a:ext cx="3111500" cy="1936750"/>
          </a:xfrm>
          <a:prstGeom prst="rect">
            <a:avLst/>
          </a:prstGeom>
          <a:solidFill>
            <a:srgbClr val="D2F0C6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4378325" y="1143000"/>
            <a:ext cx="6350" cy="3873500"/>
          </a:xfrm>
          <a:custGeom>
            <a:avLst/>
            <a:gdLst/>
            <a:ahLst/>
            <a:cxnLst/>
            <a:rect l="l" t="t" r="r" b="b"/>
            <a:pathLst>
              <a:path w="6350" h="3873500">
                <a:moveTo>
                  <a:pt x="3175" y="0"/>
                </a:moveTo>
                <a:lnTo>
                  <a:pt x="3175" y="3873500"/>
                </a:lnTo>
              </a:path>
            </a:pathLst>
          </a:custGeom>
          <a:solidFill>
            <a:srgbClr val="000000"/>
          </a:solidFill>
          <a:ln w="9525">
            <a:solidFill>
              <a:srgbClr val="0C2226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270000" y="3076575"/>
            <a:ext cx="6223000" cy="6350"/>
          </a:xfrm>
          <a:custGeom>
            <a:avLst/>
            <a:gdLst/>
            <a:ahLst/>
            <a:cxnLst/>
            <a:rect l="l" t="t" r="r" b="b"/>
            <a:pathLst>
              <a:path w="6223000" h="6350">
                <a:moveTo>
                  <a:pt x="0" y="3175"/>
                </a:moveTo>
                <a:lnTo>
                  <a:pt x="6223000" y="3175"/>
                </a:lnTo>
              </a:path>
            </a:pathLst>
          </a:custGeom>
          <a:solidFill>
            <a:srgbClr val="000000"/>
          </a:solidFill>
          <a:ln w="9525">
            <a:solidFill>
              <a:srgbClr val="0C2226">
                <a:alpha val="20000"/>
              </a:srgbClr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1266825" y="1181100"/>
            <a:ext cx="6350" cy="3835400"/>
          </a:xfrm>
          <a:custGeom>
            <a:avLst/>
            <a:gdLst/>
            <a:ahLst/>
            <a:cxnLst/>
            <a:rect l="l" t="t" r="r" b="b"/>
            <a:pathLst>
              <a:path w="6350" h="3835400">
                <a:moveTo>
                  <a:pt x="3175" y="3835400"/>
                </a:moveTo>
                <a:lnTo>
                  <a:pt x="3175" y="0"/>
                </a:lnTo>
              </a:path>
            </a:pathLst>
          </a:custGeom>
          <a:solidFill>
            <a:srgbClr val="000000"/>
          </a:solidFill>
          <a:ln w="15875">
            <a:solidFill>
              <a:srgbClr val="19424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1270000" y="5013325"/>
            <a:ext cx="6184900" cy="6350"/>
          </a:xfrm>
          <a:custGeom>
            <a:avLst/>
            <a:gdLst/>
            <a:ahLst/>
            <a:cxnLst/>
            <a:rect l="l" t="t" r="r" b="b"/>
            <a:pathLst>
              <a:path w="6184900" h="6350">
                <a:moveTo>
                  <a:pt x="0" y="3175"/>
                </a:moveTo>
                <a:lnTo>
                  <a:pt x="6184900" y="3175"/>
                </a:lnTo>
              </a:path>
            </a:pathLst>
          </a:custGeom>
          <a:solidFill>
            <a:srgbClr val="000000"/>
          </a:solidFill>
          <a:ln w="15875">
            <a:solidFill>
              <a:srgbClr val="194247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775200" y="1536700"/>
            <a:ext cx="736600" cy="736600"/>
          </a:xfrm>
          <a:prstGeom prst="ellipse">
            <a:avLst/>
          </a:prstGeom>
          <a:solidFill>
            <a:srgbClr val="0C2226"/>
          </a:solidFill>
          <a:ln w="12700">
            <a:solidFill>
              <a:srgbClr val="0C22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184900" y="1371600"/>
            <a:ext cx="584200" cy="584200"/>
          </a:xfrm>
          <a:prstGeom prst="ellipse">
            <a:avLst/>
          </a:prstGeom>
          <a:solidFill>
            <a:srgbClr val="0C2226"/>
          </a:solidFill>
          <a:ln w="12700">
            <a:solidFill>
              <a:srgbClr val="0C22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604000" y="2400300"/>
            <a:ext cx="508000" cy="508000"/>
          </a:xfrm>
          <a:prstGeom prst="ellipse">
            <a:avLst/>
          </a:prstGeom>
          <a:solidFill>
            <a:srgbClr val="0C2226"/>
          </a:solidFill>
          <a:ln w="12700">
            <a:solidFill>
              <a:srgbClr val="0C22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2438400" y="1676400"/>
            <a:ext cx="711200" cy="711200"/>
          </a:xfrm>
          <a:prstGeom prst="ellipse">
            <a:avLst/>
          </a:prstGeom>
          <a:solidFill>
            <a:srgbClr val="D2F0C6"/>
          </a:solidFill>
          <a:ln w="12700">
            <a:solidFill>
              <a:srgbClr val="09A7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511800" y="3670300"/>
            <a:ext cx="533400" cy="533400"/>
          </a:xfrm>
          <a:prstGeom prst="ellipse">
            <a:avLst/>
          </a:prstGeom>
          <a:solidFill>
            <a:srgbClr val="D2F0C6"/>
          </a:solidFill>
          <a:ln w="12700">
            <a:solidFill>
              <a:srgbClr val="09A7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3111500" y="3492500"/>
            <a:ext cx="635000" cy="635000"/>
          </a:xfrm>
          <a:prstGeom prst="ellipse">
            <a:avLst/>
          </a:prstGeom>
          <a:solidFill>
            <a:srgbClr val="D2F0C6"/>
          </a:solidFill>
          <a:ln w="12700">
            <a:solidFill>
              <a:srgbClr val="09A7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1714500" y="4356100"/>
            <a:ext cx="381000" cy="381000"/>
          </a:xfrm>
          <a:prstGeom prst="ellipse">
            <a:avLst/>
          </a:prstGeom>
          <a:solidFill>
            <a:srgbClr val="D2F0C6"/>
          </a:solidFill>
          <a:ln w="12700">
            <a:solidFill>
              <a:srgbClr val="09A7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4825493" y="2318385"/>
            <a:ext cx="635915" cy="1447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9424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Disputes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5700214" y="2000885"/>
            <a:ext cx="1553571" cy="1447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9424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Knowledge foundation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5666716" y="2572385"/>
            <a:ext cx="873784" cy="1447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19424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Agent assist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2213240" y="2432685"/>
            <a:ext cx="1161421" cy="1447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9424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Implementations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5213349" y="4248785"/>
            <a:ext cx="1130203" cy="1447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9424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Repeat contacts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2820076" y="4172585"/>
            <a:ext cx="1217749" cy="1447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9424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L1 and L2 support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2159000" y="4464685"/>
            <a:ext cx="1422930" cy="1447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9424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quality operations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341265" y="1153795"/>
            <a:ext cx="84618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707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Higher value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375424" y="4722495"/>
            <a:ext cx="812026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707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Lower value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270000" y="5103495"/>
            <a:ext cx="964611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Harder to start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6571145" y="5103495"/>
            <a:ext cx="92185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707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Easier to start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6328271" y="1257300"/>
            <a:ext cx="1063129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114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HERE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1270000" y="5306695"/>
            <a:ext cx="370864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Bubble size shows contact volume; positions are illustrative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7874000" y="1181100"/>
            <a:ext cx="2386282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14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HERE, IN THIS ORDER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7877175" y="1527175"/>
            <a:ext cx="3930650" cy="819150"/>
          </a:xfrm>
          <a:prstGeom prst="roundRect">
            <a:avLst>
              <a:gd name="adj" fmla="val 12016"/>
            </a:avLst>
          </a:prstGeom>
          <a:solidFill>
            <a:srgbClr val="0C2226">
              <a:alpha val="4000"/>
            </a:srgbClr>
          </a:solidFill>
          <a:ln w="6350">
            <a:solidFill>
              <a:srgbClr val="0C222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8045450" y="1695450"/>
            <a:ext cx="266700" cy="266700"/>
          </a:xfrm>
          <a:prstGeom prst="ellipse">
            <a:avLst/>
          </a:prstGeom>
          <a:solidFill>
            <a:srgbClr val="0C2226"/>
          </a:solidFill>
          <a:ln w="12700">
            <a:solidFill>
              <a:srgbClr val="0C22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 txBox="1"/>
          <p:nvPr/>
        </p:nvSpPr>
        <p:spPr>
          <a:xfrm>
            <a:off x="8151416" y="1765300"/>
            <a:ext cx="113236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2E0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420100" y="1684020"/>
            <a:ext cx="769836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Disputes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8420100" y="1897023"/>
            <a:ext cx="3139365" cy="156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value; rules and deadlines already defined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7877175" y="2479675"/>
            <a:ext cx="3930650" cy="819150"/>
          </a:xfrm>
          <a:prstGeom prst="roundRect">
            <a:avLst>
              <a:gd name="adj" fmla="val 12016"/>
            </a:avLst>
          </a:prstGeom>
          <a:solidFill>
            <a:srgbClr val="0C2226">
              <a:alpha val="4000"/>
            </a:srgbClr>
          </a:solidFill>
          <a:ln w="6350">
            <a:solidFill>
              <a:srgbClr val="0C222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4"/>
          <p:cNvSpPr/>
          <p:nvPr/>
        </p:nvSpPr>
        <p:spPr>
          <a:xfrm>
            <a:off x="8045450" y="2647950"/>
            <a:ext cx="266700" cy="266700"/>
          </a:xfrm>
          <a:prstGeom prst="ellipse">
            <a:avLst/>
          </a:prstGeom>
          <a:solidFill>
            <a:srgbClr val="0C2226"/>
          </a:solidFill>
          <a:ln w="12700">
            <a:solidFill>
              <a:srgbClr val="0C22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 txBox="1"/>
          <p:nvPr/>
        </p:nvSpPr>
        <p:spPr>
          <a:xfrm>
            <a:off x="8138716" y="2717800"/>
            <a:ext cx="142079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2E0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8420100" y="2636520"/>
            <a:ext cx="1894257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foundation</a:t>
            </a:r>
            <a:endParaRPr lang="en-US" sz="1150" dirty="0"/>
          </a:p>
        </p:txBody>
      </p:sp>
      <p:sp>
        <p:nvSpPr>
          <p:cNvPr id="40" name="Text 37"/>
          <p:cNvSpPr txBox="1"/>
          <p:nvPr/>
        </p:nvSpPr>
        <p:spPr>
          <a:xfrm>
            <a:off x="8420100" y="2849523"/>
            <a:ext cx="3237657" cy="156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to start; every later use case depends on it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7877175" y="3432175"/>
            <a:ext cx="3930650" cy="819150"/>
          </a:xfrm>
          <a:prstGeom prst="roundRect">
            <a:avLst>
              <a:gd name="adj" fmla="val 12016"/>
            </a:avLst>
          </a:prstGeom>
          <a:solidFill>
            <a:srgbClr val="0C2226">
              <a:alpha val="4000"/>
            </a:srgbClr>
          </a:solidFill>
          <a:ln w="6350">
            <a:solidFill>
              <a:srgbClr val="0C2226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9"/>
          <p:cNvSpPr/>
          <p:nvPr/>
        </p:nvSpPr>
        <p:spPr>
          <a:xfrm>
            <a:off x="8045450" y="3600450"/>
            <a:ext cx="266700" cy="266700"/>
          </a:xfrm>
          <a:prstGeom prst="ellipse">
            <a:avLst/>
          </a:prstGeom>
          <a:solidFill>
            <a:srgbClr val="0C2226"/>
          </a:solidFill>
          <a:ln w="12700">
            <a:solidFill>
              <a:srgbClr val="0C22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 txBox="1"/>
          <p:nvPr/>
        </p:nvSpPr>
        <p:spPr>
          <a:xfrm>
            <a:off x="8137723" y="3670300"/>
            <a:ext cx="144341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2E0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8420100" y="3589020"/>
            <a:ext cx="1062224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assist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8420100" y="3802023"/>
            <a:ext cx="2615442" cy="156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Visible to agents early; builds trust in AI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7874000" y="4440873"/>
            <a:ext cx="3702310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would calibrate positions with you in a working session.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374650" y="5537200"/>
            <a:ext cx="11436350" cy="508000"/>
          </a:xfrm>
          <a:prstGeom prst="roundRect">
            <a:avLst>
              <a:gd name="adj" fmla="val 17500"/>
            </a:avLst>
          </a:prstGeom>
          <a:solidFill>
            <a:srgbClr val="F6F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5"/>
          <p:cNvSpPr/>
          <p:nvPr/>
        </p:nvSpPr>
        <p:spPr>
          <a:xfrm>
            <a:off x="527050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9" name="svgicon-141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5150" y="5689501"/>
            <a:ext cx="203200" cy="203200"/>
          </a:xfrm>
          <a:prstGeom prst="rect">
            <a:avLst/>
          </a:prstGeom>
        </p:spPr>
      </p:pic>
      <p:sp>
        <p:nvSpPr>
          <p:cNvPr id="50" name="Text 46"/>
          <p:cNvSpPr txBox="1"/>
          <p:nvPr/>
        </p:nvSpPr>
        <p:spPr>
          <a:xfrm>
            <a:off x="882650" y="5640070"/>
            <a:ext cx="86269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IT FOR</a:t>
            </a:r>
            <a:endParaRPr lang="en-US" sz="900" dirty="0"/>
          </a:p>
        </p:txBody>
      </p:sp>
      <p:sp>
        <p:nvSpPr>
          <p:cNvPr id="51" name="Text 47"/>
          <p:cNvSpPr txBox="1"/>
          <p:nvPr/>
        </p:nvSpPr>
        <p:spPr>
          <a:xfrm>
            <a:off x="882650" y="5790525"/>
            <a:ext cx="262155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Choosing between options on two criteria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4288334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3" name="svgicon-142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6434" y="5689501"/>
            <a:ext cx="203200" cy="203200"/>
          </a:xfrm>
          <a:prstGeom prst="rect">
            <a:avLst/>
          </a:prstGeom>
        </p:spPr>
      </p:pic>
      <p:sp>
        <p:nvSpPr>
          <p:cNvPr id="54" name="Text 49"/>
          <p:cNvSpPr txBox="1"/>
          <p:nvPr/>
        </p:nvSpPr>
        <p:spPr>
          <a:xfrm>
            <a:off x="4643934" y="5640070"/>
            <a:ext cx="65435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MOTION</a:t>
            </a:r>
            <a:endParaRPr lang="en-US" sz="900" dirty="0"/>
          </a:p>
        </p:txBody>
      </p:sp>
      <p:sp>
        <p:nvSpPr>
          <p:cNvPr id="55" name="Text 50"/>
          <p:cNvSpPr txBox="1"/>
          <p:nvPr/>
        </p:nvSpPr>
        <p:spPr>
          <a:xfrm>
            <a:off x="4643934" y="5790525"/>
            <a:ext cx="399516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</a:t>
            </a:r>
            <a:endParaRPr lang="en-US" sz="900" dirty="0"/>
          </a:p>
        </p:txBody>
      </p:sp>
      <p:sp>
        <p:nvSpPr>
          <p:cNvPr id="56" name="Shape 51"/>
          <p:cNvSpPr/>
          <p:nvPr/>
        </p:nvSpPr>
        <p:spPr>
          <a:xfrm>
            <a:off x="8049617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7" name="svgicon-143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7717" y="5689501"/>
            <a:ext cx="203200" cy="203200"/>
          </a:xfrm>
          <a:prstGeom prst="rect">
            <a:avLst/>
          </a:prstGeom>
        </p:spPr>
      </p:pic>
      <p:sp>
        <p:nvSpPr>
          <p:cNvPr id="58" name="Text 52"/>
          <p:cNvSpPr txBox="1"/>
          <p:nvPr/>
        </p:nvSpPr>
        <p:spPr>
          <a:xfrm>
            <a:off x="8405217" y="5640070"/>
            <a:ext cx="63354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SEEN IN</a:t>
            </a:r>
            <a:endParaRPr lang="en-US" sz="900" dirty="0"/>
          </a:p>
        </p:txBody>
      </p:sp>
      <p:sp>
        <p:nvSpPr>
          <p:cNvPr id="59" name="Text 53"/>
          <p:cNvSpPr txBox="1"/>
          <p:nvPr/>
        </p:nvSpPr>
        <p:spPr>
          <a:xfrm>
            <a:off x="8405217" y="5790525"/>
            <a:ext cx="2304957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Consulting decks; prioritisation work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00050" y="203200"/>
            <a:ext cx="2455618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10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 11/12 | FLYWHEEL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374650" y="328930"/>
            <a:ext cx="12289234" cy="4089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28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 stay accurate when they are </a:t>
            </a:r>
            <a:r>
              <a:rPr lang="en-US" sz="2800" b="1" kern="0" spc="-28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as a continuous loop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971800" y="2514600"/>
            <a:ext cx="1676400" cy="1676400"/>
          </a:xfrm>
          <a:prstGeom prst="ellipse">
            <a:avLst/>
          </a:prstGeom>
          <a:solidFill>
            <a:srgbClr val="D2F0C6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3086100" y="2628900"/>
            <a:ext cx="1447800" cy="1447800"/>
          </a:xfrm>
          <a:prstGeom prst="ellipse">
            <a:avLst/>
          </a:prstGeom>
          <a:solidFill>
            <a:srgbClr val="0C222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svgicon-144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70300" y="2971800"/>
            <a:ext cx="279395" cy="2793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218115" y="1818640"/>
            <a:ext cx="924814" cy="671957"/>
          </a:xfrm>
          <a:custGeom>
            <a:avLst/>
            <a:gdLst/>
            <a:ahLst/>
            <a:cxnLst/>
            <a:rect l="l" t="t" r="r" b="b"/>
            <a:pathLst>
              <a:path w="924814" h="671957">
                <a:moveTo>
                  <a:pt x="0" y="0"/>
                </a:moveTo>
                <a:cubicBezTo>
                  <a:pt x="381000" y="101346"/>
                  <a:pt x="710692" y="340868"/>
                  <a:pt x="924814" y="671957"/>
                </a:cubicBezTo>
              </a:path>
            </a:pathLst>
          </a:custGeom>
          <a:ln w="19050">
            <a:solidFill>
              <a:srgbClr val="09A78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5"/>
          <p:cNvSpPr/>
          <p:nvPr/>
        </p:nvSpPr>
        <p:spPr>
          <a:xfrm>
            <a:off x="5041900" y="3266884"/>
            <a:ext cx="374587" cy="1087184"/>
          </a:xfrm>
          <a:custGeom>
            <a:avLst/>
            <a:gdLst/>
            <a:ahLst/>
            <a:cxnLst/>
            <a:rect l="l" t="t" r="r" b="b"/>
            <a:pathLst>
              <a:path w="374587" h="1087184">
                <a:moveTo>
                  <a:pt x="353251" y="0"/>
                </a:moveTo>
                <a:cubicBezTo>
                  <a:pt x="374587" y="393700"/>
                  <a:pt x="248666" y="781241"/>
                  <a:pt x="0" y="1087184"/>
                </a:cubicBezTo>
              </a:path>
            </a:pathLst>
          </a:custGeom>
          <a:ln w="19050">
            <a:solidFill>
              <a:srgbClr val="09A78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3238437" y="4833810"/>
            <a:ext cx="1143127" cy="141986"/>
          </a:xfrm>
          <a:custGeom>
            <a:avLst/>
            <a:gdLst/>
            <a:ahLst/>
            <a:cxnLst/>
            <a:rect l="l" t="t" r="r" b="b"/>
            <a:pathLst>
              <a:path w="1143127" h="141986">
                <a:moveTo>
                  <a:pt x="1143127" y="0"/>
                </a:moveTo>
                <a:cubicBezTo>
                  <a:pt x="775335" y="141986"/>
                  <a:pt x="367792" y="141986"/>
                  <a:pt x="0" y="0"/>
                </a:cubicBezTo>
              </a:path>
            </a:pathLst>
          </a:custGeom>
          <a:ln w="19050">
            <a:solidFill>
              <a:srgbClr val="09A78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2203514" y="3266884"/>
            <a:ext cx="374587" cy="1087184"/>
          </a:xfrm>
          <a:custGeom>
            <a:avLst/>
            <a:gdLst/>
            <a:ahLst/>
            <a:cxnLst/>
            <a:rect l="l" t="t" r="r" b="b"/>
            <a:pathLst>
              <a:path w="374587" h="1087184">
                <a:moveTo>
                  <a:pt x="374587" y="1087184"/>
                </a:moveTo>
                <a:cubicBezTo>
                  <a:pt x="125920" y="781241"/>
                  <a:pt x="0" y="393700"/>
                  <a:pt x="21336" y="0"/>
                </a:cubicBezTo>
              </a:path>
            </a:pathLst>
          </a:custGeom>
          <a:ln w="19050">
            <a:solidFill>
              <a:srgbClr val="09A78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2477072" y="1818640"/>
            <a:ext cx="924814" cy="671957"/>
          </a:xfrm>
          <a:custGeom>
            <a:avLst/>
            <a:gdLst/>
            <a:ahLst/>
            <a:cxnLst/>
            <a:rect l="l" t="t" r="r" b="b"/>
            <a:pathLst>
              <a:path w="924814" h="671957">
                <a:moveTo>
                  <a:pt x="0" y="671957"/>
                </a:moveTo>
                <a:cubicBezTo>
                  <a:pt x="214122" y="340868"/>
                  <a:pt x="543814" y="101346"/>
                  <a:pt x="924814" y="0"/>
                </a:cubicBezTo>
              </a:path>
            </a:pathLst>
          </a:custGeom>
          <a:ln w="19050">
            <a:solidFill>
              <a:srgbClr val="09A78D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3505200" y="1460500"/>
            <a:ext cx="609600" cy="609600"/>
          </a:xfrm>
          <a:prstGeom prst="ellipse">
            <a:avLst/>
          </a:prstGeom>
          <a:solidFill>
            <a:srgbClr val="D2F0C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svgicon-145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06800" y="1562100"/>
            <a:ext cx="406405" cy="40640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015230" y="2557145"/>
            <a:ext cx="609600" cy="609600"/>
          </a:xfrm>
          <a:prstGeom prst="ellipse">
            <a:avLst/>
          </a:prstGeom>
          <a:solidFill>
            <a:srgbClr val="D2F0C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svgicon-146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16830" y="2658745"/>
            <a:ext cx="406405" cy="406405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438015" y="4332605"/>
            <a:ext cx="609600" cy="609600"/>
          </a:xfrm>
          <a:prstGeom prst="ellipse">
            <a:avLst/>
          </a:prstGeom>
          <a:solidFill>
            <a:srgbClr val="D2F0C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svgicon-147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39615" y="4434205"/>
            <a:ext cx="406405" cy="406405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2572385" y="4332605"/>
            <a:ext cx="609600" cy="609600"/>
          </a:xfrm>
          <a:prstGeom prst="ellipse">
            <a:avLst/>
          </a:prstGeom>
          <a:solidFill>
            <a:srgbClr val="D2F0C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svgicon-148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73985" y="4434205"/>
            <a:ext cx="406405" cy="406405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1995170" y="2557145"/>
            <a:ext cx="609600" cy="609600"/>
          </a:xfrm>
          <a:prstGeom prst="ellipse">
            <a:avLst/>
          </a:prstGeom>
          <a:solidFill>
            <a:srgbClr val="D2F0C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svgicon-149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96770" y="2658745"/>
            <a:ext cx="406405" cy="40640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3438492" y="1203325"/>
            <a:ext cx="742916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Observe</a:t>
            </a:r>
            <a:endParaRPr lang="en-US" sz="1150" dirty="0"/>
          </a:p>
        </p:txBody>
      </p:sp>
      <p:sp>
        <p:nvSpPr>
          <p:cNvPr id="24" name="Text 15"/>
          <p:cNvSpPr txBox="1"/>
          <p:nvPr/>
        </p:nvSpPr>
        <p:spPr>
          <a:xfrm>
            <a:off x="5715000" y="2784475"/>
            <a:ext cx="750834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Evaluate</a:t>
            </a:r>
            <a:endParaRPr lang="en-US" sz="1150" dirty="0"/>
          </a:p>
        </p:txBody>
      </p:sp>
      <p:sp>
        <p:nvSpPr>
          <p:cNvPr id="25" name="Text 16"/>
          <p:cNvSpPr txBox="1"/>
          <p:nvPr/>
        </p:nvSpPr>
        <p:spPr>
          <a:xfrm>
            <a:off x="5137150" y="4556125"/>
            <a:ext cx="713395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</a:t>
            </a:r>
            <a:endParaRPr lang="en-US" sz="1150" dirty="0"/>
          </a:p>
        </p:txBody>
      </p:sp>
      <p:sp>
        <p:nvSpPr>
          <p:cNvPr id="26" name="Text 17"/>
          <p:cNvSpPr txBox="1"/>
          <p:nvPr/>
        </p:nvSpPr>
        <p:spPr>
          <a:xfrm>
            <a:off x="2080506" y="4556125"/>
            <a:ext cx="402344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</a:t>
            </a:r>
            <a:endParaRPr lang="en-US" sz="1150" dirty="0"/>
          </a:p>
        </p:txBody>
      </p:sp>
      <p:sp>
        <p:nvSpPr>
          <p:cNvPr id="27" name="Text 18"/>
          <p:cNvSpPr txBox="1"/>
          <p:nvPr/>
        </p:nvSpPr>
        <p:spPr>
          <a:xfrm>
            <a:off x="1212644" y="2784475"/>
            <a:ext cx="692356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</a:t>
            </a:r>
            <a:endParaRPr lang="en-US" sz="1150" dirty="0"/>
          </a:p>
        </p:txBody>
      </p:sp>
      <p:sp>
        <p:nvSpPr>
          <p:cNvPr id="28" name="Text 19"/>
          <p:cNvSpPr txBox="1"/>
          <p:nvPr/>
        </p:nvSpPr>
        <p:spPr>
          <a:xfrm>
            <a:off x="3179012" y="3326765"/>
            <a:ext cx="1261975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as a service</a:t>
            </a:r>
            <a:endParaRPr lang="en-US" sz="1050" dirty="0"/>
          </a:p>
        </p:txBody>
      </p:sp>
      <p:sp>
        <p:nvSpPr>
          <p:cNvPr id="29" name="Text 20"/>
          <p:cNvSpPr txBox="1"/>
          <p:nvPr/>
        </p:nvSpPr>
        <p:spPr>
          <a:xfrm>
            <a:off x="3118619" y="3511471"/>
            <a:ext cx="1382663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2F0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Managed by Myridius</a:t>
            </a:r>
            <a:endParaRPr lang="en-US" sz="900" dirty="0"/>
          </a:p>
        </p:txBody>
      </p:sp>
      <p:sp>
        <p:nvSpPr>
          <p:cNvPr id="30" name="Text 21"/>
          <p:cNvSpPr txBox="1"/>
          <p:nvPr/>
        </p:nvSpPr>
        <p:spPr>
          <a:xfrm>
            <a:off x="7112000" y="1181100"/>
            <a:ext cx="2140043" cy="120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114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TURN OF THE LOOP</a:t>
            </a:r>
            <a:endParaRPr lang="en-US" sz="950" dirty="0"/>
          </a:p>
        </p:txBody>
      </p:sp>
      <p:sp>
        <p:nvSpPr>
          <p:cNvPr id="31" name="Shape 22"/>
          <p:cNvSpPr/>
          <p:nvPr/>
        </p:nvSpPr>
        <p:spPr>
          <a:xfrm>
            <a:off x="7112000" y="1473200"/>
            <a:ext cx="355600" cy="355600"/>
          </a:xfrm>
          <a:prstGeom prst="ellipse">
            <a:avLst/>
          </a:prstGeom>
          <a:solidFill>
            <a:srgbClr val="D2F0C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svgicon-150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62800" y="1524000"/>
            <a:ext cx="254000" cy="25400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7581900" y="1474807"/>
            <a:ext cx="712829" cy="167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Observe</a:t>
            </a:r>
            <a:endParaRPr lang="en-US" sz="1100" dirty="0"/>
          </a:p>
        </p:txBody>
      </p:sp>
      <p:sp>
        <p:nvSpPr>
          <p:cNvPr id="34" name="Text 24"/>
          <p:cNvSpPr txBox="1"/>
          <p:nvPr/>
        </p:nvSpPr>
        <p:spPr>
          <a:xfrm>
            <a:off x="7581900" y="1663660"/>
            <a:ext cx="3042091" cy="156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conversations, outcomes and escalations</a:t>
            </a:r>
            <a:endParaRPr lang="en-US" sz="950" dirty="0"/>
          </a:p>
        </p:txBody>
      </p:sp>
      <p:sp>
        <p:nvSpPr>
          <p:cNvPr id="35" name="Shape 25"/>
          <p:cNvSpPr/>
          <p:nvPr/>
        </p:nvSpPr>
        <p:spPr>
          <a:xfrm>
            <a:off x="7112000" y="2260600"/>
            <a:ext cx="355600" cy="355600"/>
          </a:xfrm>
          <a:prstGeom prst="ellipse">
            <a:avLst/>
          </a:prstGeom>
          <a:solidFill>
            <a:srgbClr val="D2F0C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svgicon-151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62800" y="2311400"/>
            <a:ext cx="254000" cy="25400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7581900" y="2262207"/>
            <a:ext cx="720408" cy="167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Evaluate</a:t>
            </a:r>
            <a:endParaRPr lang="en-US" sz="1100" dirty="0"/>
          </a:p>
        </p:txBody>
      </p:sp>
      <p:sp>
        <p:nvSpPr>
          <p:cNvPr id="38" name="Text 27"/>
          <p:cNvSpPr txBox="1"/>
          <p:nvPr/>
        </p:nvSpPr>
        <p:spPr>
          <a:xfrm>
            <a:off x="7581900" y="2451060"/>
            <a:ext cx="2800036" cy="156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Scored for accuracy, compliance and tone</a:t>
            </a:r>
            <a:endParaRPr lang="en-US" sz="950" dirty="0"/>
          </a:p>
        </p:txBody>
      </p:sp>
      <p:sp>
        <p:nvSpPr>
          <p:cNvPr id="39" name="Shape 28"/>
          <p:cNvSpPr/>
          <p:nvPr/>
        </p:nvSpPr>
        <p:spPr>
          <a:xfrm>
            <a:off x="7112000" y="3048000"/>
            <a:ext cx="355600" cy="355600"/>
          </a:xfrm>
          <a:prstGeom prst="ellipse">
            <a:avLst/>
          </a:prstGeom>
          <a:solidFill>
            <a:srgbClr val="D2F0C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0" name="svgicon-152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62800" y="3098800"/>
            <a:ext cx="254000" cy="254000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7581900" y="3049607"/>
            <a:ext cx="684552" cy="167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</a:t>
            </a:r>
            <a:endParaRPr lang="en-US" sz="1100" dirty="0"/>
          </a:p>
        </p:txBody>
      </p:sp>
      <p:sp>
        <p:nvSpPr>
          <p:cNvPr id="42" name="Text 30"/>
          <p:cNvSpPr txBox="1"/>
          <p:nvPr/>
        </p:nvSpPr>
        <p:spPr>
          <a:xfrm>
            <a:off x="7581900" y="3238460"/>
            <a:ext cx="2959860" cy="156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Knowledge, prompts and workflows updated</a:t>
            </a:r>
            <a:endParaRPr lang="en-US" sz="950" dirty="0"/>
          </a:p>
        </p:txBody>
      </p:sp>
      <p:sp>
        <p:nvSpPr>
          <p:cNvPr id="43" name="Shape 31"/>
          <p:cNvSpPr/>
          <p:nvPr/>
        </p:nvSpPr>
        <p:spPr>
          <a:xfrm>
            <a:off x="7112000" y="3835400"/>
            <a:ext cx="355600" cy="355600"/>
          </a:xfrm>
          <a:prstGeom prst="ellipse">
            <a:avLst/>
          </a:prstGeom>
          <a:solidFill>
            <a:srgbClr val="D2F0C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4" name="svgicon-153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62800" y="3886200"/>
            <a:ext cx="254000" cy="254000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7581900" y="3837007"/>
            <a:ext cx="387074" cy="167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</a:t>
            </a:r>
            <a:endParaRPr lang="en-US" sz="1100" dirty="0"/>
          </a:p>
        </p:txBody>
      </p:sp>
      <p:sp>
        <p:nvSpPr>
          <p:cNvPr id="46" name="Text 33"/>
          <p:cNvSpPr txBox="1"/>
          <p:nvPr/>
        </p:nvSpPr>
        <p:spPr>
          <a:xfrm>
            <a:off x="7581900" y="4025860"/>
            <a:ext cx="3034625" cy="156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Changes proven on past cases before release</a:t>
            </a:r>
            <a:endParaRPr lang="en-US" sz="950" dirty="0"/>
          </a:p>
        </p:txBody>
      </p:sp>
      <p:sp>
        <p:nvSpPr>
          <p:cNvPr id="47" name="Shape 34"/>
          <p:cNvSpPr/>
          <p:nvPr/>
        </p:nvSpPr>
        <p:spPr>
          <a:xfrm>
            <a:off x="7112000" y="4622800"/>
            <a:ext cx="355600" cy="355600"/>
          </a:xfrm>
          <a:prstGeom prst="ellipse">
            <a:avLst/>
          </a:prstGeom>
          <a:solidFill>
            <a:srgbClr val="D2F0C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8" name="svgicon-154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62800" y="4673600"/>
            <a:ext cx="254000" cy="254000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7581900" y="4624407"/>
            <a:ext cx="664531" cy="167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Release</a:t>
            </a:r>
            <a:endParaRPr lang="en-US" sz="1100" dirty="0"/>
          </a:p>
        </p:txBody>
      </p:sp>
      <p:sp>
        <p:nvSpPr>
          <p:cNvPr id="50" name="Text 36"/>
          <p:cNvSpPr txBox="1"/>
          <p:nvPr/>
        </p:nvSpPr>
        <p:spPr>
          <a:xfrm>
            <a:off x="7581900" y="4813260"/>
            <a:ext cx="2956919" cy="156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Shipped with approval and a way to roll back</a:t>
            </a:r>
            <a:endParaRPr lang="en-US" sz="950" dirty="0"/>
          </a:p>
        </p:txBody>
      </p:sp>
      <p:sp>
        <p:nvSpPr>
          <p:cNvPr id="51" name="Shape 37"/>
          <p:cNvSpPr/>
          <p:nvPr/>
        </p:nvSpPr>
        <p:spPr>
          <a:xfrm>
            <a:off x="374650" y="5537200"/>
            <a:ext cx="11436350" cy="508000"/>
          </a:xfrm>
          <a:prstGeom prst="roundRect">
            <a:avLst>
              <a:gd name="adj" fmla="val 17500"/>
            </a:avLst>
          </a:prstGeom>
          <a:solidFill>
            <a:srgbClr val="F6F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38"/>
          <p:cNvSpPr/>
          <p:nvPr/>
        </p:nvSpPr>
        <p:spPr>
          <a:xfrm>
            <a:off x="527050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3" name="svgicon-155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65150" y="5689501"/>
            <a:ext cx="203200" cy="203200"/>
          </a:xfrm>
          <a:prstGeom prst="rect">
            <a:avLst/>
          </a:prstGeom>
        </p:spPr>
      </p:pic>
      <p:sp>
        <p:nvSpPr>
          <p:cNvPr id="54" name="Text 39"/>
          <p:cNvSpPr txBox="1"/>
          <p:nvPr/>
        </p:nvSpPr>
        <p:spPr>
          <a:xfrm>
            <a:off x="882650" y="5640070"/>
            <a:ext cx="86269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IT FOR</a:t>
            </a:r>
            <a:endParaRPr lang="en-US" sz="900" dirty="0"/>
          </a:p>
        </p:txBody>
      </p:sp>
      <p:sp>
        <p:nvSpPr>
          <p:cNvPr id="55" name="Text 40"/>
          <p:cNvSpPr txBox="1"/>
          <p:nvPr/>
        </p:nvSpPr>
        <p:spPr>
          <a:xfrm>
            <a:off x="882650" y="5790525"/>
            <a:ext cx="3210737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Cycles, continuous improvement, operating models</a:t>
            </a:r>
            <a:endParaRPr lang="en-US" sz="900" dirty="0"/>
          </a:p>
        </p:txBody>
      </p:sp>
      <p:sp>
        <p:nvSpPr>
          <p:cNvPr id="56" name="Shape 41"/>
          <p:cNvSpPr/>
          <p:nvPr/>
        </p:nvSpPr>
        <p:spPr>
          <a:xfrm>
            <a:off x="4288334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7" name="svgicon-156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26434" y="5689501"/>
            <a:ext cx="203200" cy="203200"/>
          </a:xfrm>
          <a:prstGeom prst="rect">
            <a:avLst/>
          </a:prstGeom>
        </p:spPr>
      </p:pic>
      <p:sp>
        <p:nvSpPr>
          <p:cNvPr id="58" name="Text 42"/>
          <p:cNvSpPr txBox="1"/>
          <p:nvPr/>
        </p:nvSpPr>
        <p:spPr>
          <a:xfrm>
            <a:off x="4643934" y="5640070"/>
            <a:ext cx="65435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MOTION</a:t>
            </a:r>
            <a:endParaRPr lang="en-US" sz="900" dirty="0"/>
          </a:p>
        </p:txBody>
      </p:sp>
      <p:sp>
        <p:nvSpPr>
          <p:cNvPr id="59" name="Text 43"/>
          <p:cNvSpPr txBox="1"/>
          <p:nvPr/>
        </p:nvSpPr>
        <p:spPr>
          <a:xfrm>
            <a:off x="4643934" y="5790525"/>
            <a:ext cx="399516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</a:t>
            </a:r>
            <a:endParaRPr lang="en-US" sz="900" dirty="0"/>
          </a:p>
        </p:txBody>
      </p:sp>
      <p:sp>
        <p:nvSpPr>
          <p:cNvPr id="60" name="Shape 44"/>
          <p:cNvSpPr/>
          <p:nvPr/>
        </p:nvSpPr>
        <p:spPr>
          <a:xfrm>
            <a:off x="8049617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1" name="svgicon-157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087717" y="5689501"/>
            <a:ext cx="203200" cy="203200"/>
          </a:xfrm>
          <a:prstGeom prst="rect">
            <a:avLst/>
          </a:prstGeom>
        </p:spPr>
      </p:pic>
      <p:sp>
        <p:nvSpPr>
          <p:cNvPr id="62" name="Text 45"/>
          <p:cNvSpPr txBox="1"/>
          <p:nvPr/>
        </p:nvSpPr>
        <p:spPr>
          <a:xfrm>
            <a:off x="8405217" y="5640070"/>
            <a:ext cx="63354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SEEN IN</a:t>
            </a:r>
            <a:endParaRPr lang="en-US" sz="900" dirty="0"/>
          </a:p>
        </p:txBody>
      </p:sp>
      <p:sp>
        <p:nvSpPr>
          <p:cNvPr id="63" name="Text 46"/>
          <p:cNvSpPr txBox="1"/>
          <p:nvPr/>
        </p:nvSpPr>
        <p:spPr>
          <a:xfrm>
            <a:off x="8405217" y="5790525"/>
            <a:ext cx="2506065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Operating model and flywheel diagrams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00050" y="203200"/>
            <a:ext cx="2545993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10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 12/12 | STAT HERO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374650" y="328930"/>
            <a:ext cx="12675164" cy="4089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28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 expect AI to resolve issues, </a:t>
            </a:r>
            <a:r>
              <a:rPr lang="en-US" sz="2800" b="1" kern="0" spc="-28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a person within reach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7825" y="1069975"/>
            <a:ext cx="5588000" cy="3752850"/>
          </a:xfrm>
          <a:prstGeom prst="roundRect">
            <a:avLst>
              <a:gd name="adj" fmla="val 2623"/>
            </a:avLst>
          </a:prstGeom>
          <a:solidFill>
            <a:srgbClr val="0C2226"/>
          </a:solidFill>
          <a:ln w="6350">
            <a:solidFill>
              <a:srgbClr val="0C22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6219825" y="1069975"/>
            <a:ext cx="5588000" cy="375285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6350">
            <a:solidFill>
              <a:srgbClr val="0C2226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3721100" y="13081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3917950" y="13081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114800" y="13081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311650" y="13081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508500" y="13081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705350" y="13081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902200" y="13081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099050" y="13081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5295900" y="13081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5492750" y="13081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3721100" y="15049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3917950" y="15049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114800" y="15049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4311650" y="15049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4508500" y="15049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4705350" y="15049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4902200" y="15049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5099050" y="15049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5295900" y="15049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5492750" y="15049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3721100" y="17018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3917950" y="17018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4114800" y="17018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>
            <a:off x="4311650" y="17018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4508500" y="17018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4705350" y="17018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4902200" y="17018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5099050" y="17018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2"/>
          <p:cNvSpPr/>
          <p:nvPr/>
        </p:nvSpPr>
        <p:spPr>
          <a:xfrm>
            <a:off x="5295900" y="17018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3"/>
          <p:cNvSpPr/>
          <p:nvPr/>
        </p:nvSpPr>
        <p:spPr>
          <a:xfrm>
            <a:off x="5492750" y="17018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4"/>
          <p:cNvSpPr/>
          <p:nvPr/>
        </p:nvSpPr>
        <p:spPr>
          <a:xfrm>
            <a:off x="3721100" y="18986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5"/>
          <p:cNvSpPr/>
          <p:nvPr/>
        </p:nvSpPr>
        <p:spPr>
          <a:xfrm>
            <a:off x="3917950" y="18986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6"/>
          <p:cNvSpPr/>
          <p:nvPr/>
        </p:nvSpPr>
        <p:spPr>
          <a:xfrm>
            <a:off x="4114800" y="18986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7"/>
          <p:cNvSpPr/>
          <p:nvPr/>
        </p:nvSpPr>
        <p:spPr>
          <a:xfrm>
            <a:off x="4311650" y="18986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8"/>
          <p:cNvSpPr/>
          <p:nvPr/>
        </p:nvSpPr>
        <p:spPr>
          <a:xfrm>
            <a:off x="4508500" y="18986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39"/>
          <p:cNvSpPr/>
          <p:nvPr/>
        </p:nvSpPr>
        <p:spPr>
          <a:xfrm>
            <a:off x="4705350" y="18986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0"/>
          <p:cNvSpPr/>
          <p:nvPr/>
        </p:nvSpPr>
        <p:spPr>
          <a:xfrm>
            <a:off x="4902200" y="18986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1"/>
          <p:cNvSpPr/>
          <p:nvPr/>
        </p:nvSpPr>
        <p:spPr>
          <a:xfrm>
            <a:off x="5099050" y="18986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2"/>
          <p:cNvSpPr/>
          <p:nvPr/>
        </p:nvSpPr>
        <p:spPr>
          <a:xfrm>
            <a:off x="5295900" y="18986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3"/>
          <p:cNvSpPr/>
          <p:nvPr/>
        </p:nvSpPr>
        <p:spPr>
          <a:xfrm>
            <a:off x="5492750" y="18986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3721100" y="20955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5"/>
          <p:cNvSpPr/>
          <p:nvPr/>
        </p:nvSpPr>
        <p:spPr>
          <a:xfrm>
            <a:off x="3917950" y="20955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6"/>
          <p:cNvSpPr/>
          <p:nvPr/>
        </p:nvSpPr>
        <p:spPr>
          <a:xfrm>
            <a:off x="4114800" y="20955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7"/>
          <p:cNvSpPr/>
          <p:nvPr/>
        </p:nvSpPr>
        <p:spPr>
          <a:xfrm>
            <a:off x="4311650" y="20955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8"/>
          <p:cNvSpPr/>
          <p:nvPr/>
        </p:nvSpPr>
        <p:spPr>
          <a:xfrm>
            <a:off x="4508500" y="20955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49"/>
          <p:cNvSpPr/>
          <p:nvPr/>
        </p:nvSpPr>
        <p:spPr>
          <a:xfrm>
            <a:off x="4705350" y="20955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0"/>
          <p:cNvSpPr/>
          <p:nvPr/>
        </p:nvSpPr>
        <p:spPr>
          <a:xfrm>
            <a:off x="4902200" y="20955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1"/>
          <p:cNvSpPr/>
          <p:nvPr/>
        </p:nvSpPr>
        <p:spPr>
          <a:xfrm>
            <a:off x="5099050" y="20955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2"/>
          <p:cNvSpPr/>
          <p:nvPr/>
        </p:nvSpPr>
        <p:spPr>
          <a:xfrm>
            <a:off x="5295900" y="20955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3"/>
          <p:cNvSpPr/>
          <p:nvPr/>
        </p:nvSpPr>
        <p:spPr>
          <a:xfrm>
            <a:off x="5492750" y="20955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54"/>
          <p:cNvSpPr/>
          <p:nvPr/>
        </p:nvSpPr>
        <p:spPr>
          <a:xfrm>
            <a:off x="3721100" y="22923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5"/>
          <p:cNvSpPr/>
          <p:nvPr/>
        </p:nvSpPr>
        <p:spPr>
          <a:xfrm>
            <a:off x="3917950" y="22923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56"/>
          <p:cNvSpPr/>
          <p:nvPr/>
        </p:nvSpPr>
        <p:spPr>
          <a:xfrm>
            <a:off x="4114800" y="22923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57"/>
          <p:cNvSpPr/>
          <p:nvPr/>
        </p:nvSpPr>
        <p:spPr>
          <a:xfrm>
            <a:off x="4311650" y="22923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Shape 58"/>
          <p:cNvSpPr/>
          <p:nvPr/>
        </p:nvSpPr>
        <p:spPr>
          <a:xfrm>
            <a:off x="4508500" y="22923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4705350" y="22923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Shape 60"/>
          <p:cNvSpPr/>
          <p:nvPr/>
        </p:nvSpPr>
        <p:spPr>
          <a:xfrm>
            <a:off x="4902200" y="22923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Shape 61"/>
          <p:cNvSpPr/>
          <p:nvPr/>
        </p:nvSpPr>
        <p:spPr>
          <a:xfrm>
            <a:off x="5099050" y="22923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Shape 62"/>
          <p:cNvSpPr/>
          <p:nvPr/>
        </p:nvSpPr>
        <p:spPr>
          <a:xfrm>
            <a:off x="5295900" y="22923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63"/>
          <p:cNvSpPr/>
          <p:nvPr/>
        </p:nvSpPr>
        <p:spPr>
          <a:xfrm>
            <a:off x="5492750" y="22923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Shape 64"/>
          <p:cNvSpPr/>
          <p:nvPr/>
        </p:nvSpPr>
        <p:spPr>
          <a:xfrm>
            <a:off x="3721100" y="24892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Shape 65"/>
          <p:cNvSpPr/>
          <p:nvPr/>
        </p:nvSpPr>
        <p:spPr>
          <a:xfrm>
            <a:off x="3917950" y="24892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66"/>
          <p:cNvSpPr/>
          <p:nvPr/>
        </p:nvSpPr>
        <p:spPr>
          <a:xfrm>
            <a:off x="4114800" y="24892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7"/>
          <p:cNvSpPr/>
          <p:nvPr/>
        </p:nvSpPr>
        <p:spPr>
          <a:xfrm>
            <a:off x="4311650" y="24892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8"/>
          <p:cNvSpPr/>
          <p:nvPr/>
        </p:nvSpPr>
        <p:spPr>
          <a:xfrm>
            <a:off x="4508500" y="24892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Shape 69"/>
          <p:cNvSpPr/>
          <p:nvPr/>
        </p:nvSpPr>
        <p:spPr>
          <a:xfrm>
            <a:off x="4705350" y="24892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70"/>
          <p:cNvSpPr/>
          <p:nvPr/>
        </p:nvSpPr>
        <p:spPr>
          <a:xfrm>
            <a:off x="4902200" y="24892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Shape 71"/>
          <p:cNvSpPr/>
          <p:nvPr/>
        </p:nvSpPr>
        <p:spPr>
          <a:xfrm>
            <a:off x="5099050" y="24892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Shape 72"/>
          <p:cNvSpPr/>
          <p:nvPr/>
        </p:nvSpPr>
        <p:spPr>
          <a:xfrm>
            <a:off x="5295900" y="24892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Shape 73"/>
          <p:cNvSpPr/>
          <p:nvPr/>
        </p:nvSpPr>
        <p:spPr>
          <a:xfrm>
            <a:off x="5492750" y="24892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4"/>
          <p:cNvSpPr/>
          <p:nvPr/>
        </p:nvSpPr>
        <p:spPr>
          <a:xfrm>
            <a:off x="3721100" y="26860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Shape 75"/>
          <p:cNvSpPr/>
          <p:nvPr/>
        </p:nvSpPr>
        <p:spPr>
          <a:xfrm>
            <a:off x="3917950" y="26860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Shape 76"/>
          <p:cNvSpPr/>
          <p:nvPr/>
        </p:nvSpPr>
        <p:spPr>
          <a:xfrm>
            <a:off x="4114800" y="26860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Shape 77"/>
          <p:cNvSpPr/>
          <p:nvPr/>
        </p:nvSpPr>
        <p:spPr>
          <a:xfrm>
            <a:off x="4311650" y="26860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Shape 78"/>
          <p:cNvSpPr/>
          <p:nvPr/>
        </p:nvSpPr>
        <p:spPr>
          <a:xfrm>
            <a:off x="4508500" y="26860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Shape 79"/>
          <p:cNvSpPr/>
          <p:nvPr/>
        </p:nvSpPr>
        <p:spPr>
          <a:xfrm>
            <a:off x="4705350" y="26860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Shape 80"/>
          <p:cNvSpPr/>
          <p:nvPr/>
        </p:nvSpPr>
        <p:spPr>
          <a:xfrm>
            <a:off x="4902200" y="26860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Shape 81"/>
          <p:cNvSpPr/>
          <p:nvPr/>
        </p:nvSpPr>
        <p:spPr>
          <a:xfrm>
            <a:off x="5099050" y="26860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Shape 82"/>
          <p:cNvSpPr/>
          <p:nvPr/>
        </p:nvSpPr>
        <p:spPr>
          <a:xfrm>
            <a:off x="5295900" y="26860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Shape 83"/>
          <p:cNvSpPr/>
          <p:nvPr/>
        </p:nvSpPr>
        <p:spPr>
          <a:xfrm>
            <a:off x="5492750" y="26860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52E0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Shape 84"/>
          <p:cNvSpPr/>
          <p:nvPr/>
        </p:nvSpPr>
        <p:spPr>
          <a:xfrm>
            <a:off x="3721100" y="28829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1942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Shape 85"/>
          <p:cNvSpPr/>
          <p:nvPr/>
        </p:nvSpPr>
        <p:spPr>
          <a:xfrm>
            <a:off x="3917950" y="28829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1942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Shape 86"/>
          <p:cNvSpPr/>
          <p:nvPr/>
        </p:nvSpPr>
        <p:spPr>
          <a:xfrm>
            <a:off x="4114800" y="28829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1942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Shape 87"/>
          <p:cNvSpPr/>
          <p:nvPr/>
        </p:nvSpPr>
        <p:spPr>
          <a:xfrm>
            <a:off x="4311650" y="28829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1942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Shape 88"/>
          <p:cNvSpPr/>
          <p:nvPr/>
        </p:nvSpPr>
        <p:spPr>
          <a:xfrm>
            <a:off x="4508500" y="28829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1942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Shape 89"/>
          <p:cNvSpPr/>
          <p:nvPr/>
        </p:nvSpPr>
        <p:spPr>
          <a:xfrm>
            <a:off x="4705350" y="28829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1942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Shape 90"/>
          <p:cNvSpPr/>
          <p:nvPr/>
        </p:nvSpPr>
        <p:spPr>
          <a:xfrm>
            <a:off x="4902200" y="28829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1942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Shape 91"/>
          <p:cNvSpPr/>
          <p:nvPr/>
        </p:nvSpPr>
        <p:spPr>
          <a:xfrm>
            <a:off x="5099050" y="28829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1942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Shape 92"/>
          <p:cNvSpPr/>
          <p:nvPr/>
        </p:nvSpPr>
        <p:spPr>
          <a:xfrm>
            <a:off x="5295900" y="28829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1942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Shape 93"/>
          <p:cNvSpPr/>
          <p:nvPr/>
        </p:nvSpPr>
        <p:spPr>
          <a:xfrm>
            <a:off x="5492750" y="28829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1942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Shape 94"/>
          <p:cNvSpPr/>
          <p:nvPr/>
        </p:nvSpPr>
        <p:spPr>
          <a:xfrm>
            <a:off x="3721100" y="30797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1942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Shape 95"/>
          <p:cNvSpPr/>
          <p:nvPr/>
        </p:nvSpPr>
        <p:spPr>
          <a:xfrm>
            <a:off x="3917950" y="30797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1942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Shape 96"/>
          <p:cNvSpPr/>
          <p:nvPr/>
        </p:nvSpPr>
        <p:spPr>
          <a:xfrm>
            <a:off x="4114800" y="30797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1942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Shape 97"/>
          <p:cNvSpPr/>
          <p:nvPr/>
        </p:nvSpPr>
        <p:spPr>
          <a:xfrm>
            <a:off x="4311650" y="30797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1942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Shape 98"/>
          <p:cNvSpPr/>
          <p:nvPr/>
        </p:nvSpPr>
        <p:spPr>
          <a:xfrm>
            <a:off x="4508500" y="30797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1942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Shape 99"/>
          <p:cNvSpPr/>
          <p:nvPr/>
        </p:nvSpPr>
        <p:spPr>
          <a:xfrm>
            <a:off x="4705350" y="30797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1942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3" name="Shape 100"/>
          <p:cNvSpPr/>
          <p:nvPr/>
        </p:nvSpPr>
        <p:spPr>
          <a:xfrm>
            <a:off x="4902200" y="30797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1942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Shape 101"/>
          <p:cNvSpPr/>
          <p:nvPr/>
        </p:nvSpPr>
        <p:spPr>
          <a:xfrm>
            <a:off x="5099050" y="30797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1942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Shape 102"/>
          <p:cNvSpPr/>
          <p:nvPr/>
        </p:nvSpPr>
        <p:spPr>
          <a:xfrm>
            <a:off x="5295900" y="30797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1942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Shape 103"/>
          <p:cNvSpPr/>
          <p:nvPr/>
        </p:nvSpPr>
        <p:spPr>
          <a:xfrm>
            <a:off x="5492750" y="30797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1942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Shape 104"/>
          <p:cNvSpPr/>
          <p:nvPr/>
        </p:nvSpPr>
        <p:spPr>
          <a:xfrm>
            <a:off x="9563100" y="13081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Shape 105"/>
          <p:cNvSpPr/>
          <p:nvPr/>
        </p:nvSpPr>
        <p:spPr>
          <a:xfrm>
            <a:off x="9759950" y="13081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Shape 106"/>
          <p:cNvSpPr/>
          <p:nvPr/>
        </p:nvSpPr>
        <p:spPr>
          <a:xfrm>
            <a:off x="9956800" y="13081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Shape 107"/>
          <p:cNvSpPr/>
          <p:nvPr/>
        </p:nvSpPr>
        <p:spPr>
          <a:xfrm>
            <a:off x="10153650" y="13081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Shape 108"/>
          <p:cNvSpPr/>
          <p:nvPr/>
        </p:nvSpPr>
        <p:spPr>
          <a:xfrm>
            <a:off x="10350500" y="13081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Shape 109"/>
          <p:cNvSpPr/>
          <p:nvPr/>
        </p:nvSpPr>
        <p:spPr>
          <a:xfrm>
            <a:off x="10547350" y="13081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Shape 110"/>
          <p:cNvSpPr/>
          <p:nvPr/>
        </p:nvSpPr>
        <p:spPr>
          <a:xfrm>
            <a:off x="10744200" y="13081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Shape 111"/>
          <p:cNvSpPr/>
          <p:nvPr/>
        </p:nvSpPr>
        <p:spPr>
          <a:xfrm>
            <a:off x="10941050" y="13081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Shape 112"/>
          <p:cNvSpPr/>
          <p:nvPr/>
        </p:nvSpPr>
        <p:spPr>
          <a:xfrm>
            <a:off x="11137900" y="13081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Shape 113"/>
          <p:cNvSpPr/>
          <p:nvPr/>
        </p:nvSpPr>
        <p:spPr>
          <a:xfrm>
            <a:off x="11334750" y="13081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7" name="Shape 114"/>
          <p:cNvSpPr/>
          <p:nvPr/>
        </p:nvSpPr>
        <p:spPr>
          <a:xfrm>
            <a:off x="9563100" y="15049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Shape 115"/>
          <p:cNvSpPr/>
          <p:nvPr/>
        </p:nvSpPr>
        <p:spPr>
          <a:xfrm>
            <a:off x="9759950" y="15049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Shape 116"/>
          <p:cNvSpPr/>
          <p:nvPr/>
        </p:nvSpPr>
        <p:spPr>
          <a:xfrm>
            <a:off x="9956800" y="15049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Shape 117"/>
          <p:cNvSpPr/>
          <p:nvPr/>
        </p:nvSpPr>
        <p:spPr>
          <a:xfrm>
            <a:off x="10153650" y="15049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Shape 118"/>
          <p:cNvSpPr/>
          <p:nvPr/>
        </p:nvSpPr>
        <p:spPr>
          <a:xfrm>
            <a:off x="10350500" y="15049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2" name="Shape 119"/>
          <p:cNvSpPr/>
          <p:nvPr/>
        </p:nvSpPr>
        <p:spPr>
          <a:xfrm>
            <a:off x="10547350" y="15049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Shape 120"/>
          <p:cNvSpPr/>
          <p:nvPr/>
        </p:nvSpPr>
        <p:spPr>
          <a:xfrm>
            <a:off x="10744200" y="15049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4" name="Shape 121"/>
          <p:cNvSpPr/>
          <p:nvPr/>
        </p:nvSpPr>
        <p:spPr>
          <a:xfrm>
            <a:off x="10941050" y="15049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Shape 122"/>
          <p:cNvSpPr/>
          <p:nvPr/>
        </p:nvSpPr>
        <p:spPr>
          <a:xfrm>
            <a:off x="11137900" y="15049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6" name="Shape 123"/>
          <p:cNvSpPr/>
          <p:nvPr/>
        </p:nvSpPr>
        <p:spPr>
          <a:xfrm>
            <a:off x="11334750" y="15049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Shape 124"/>
          <p:cNvSpPr/>
          <p:nvPr/>
        </p:nvSpPr>
        <p:spPr>
          <a:xfrm>
            <a:off x="9563100" y="17018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8" name="Shape 125"/>
          <p:cNvSpPr/>
          <p:nvPr/>
        </p:nvSpPr>
        <p:spPr>
          <a:xfrm>
            <a:off x="9759950" y="17018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Shape 126"/>
          <p:cNvSpPr/>
          <p:nvPr/>
        </p:nvSpPr>
        <p:spPr>
          <a:xfrm>
            <a:off x="9956800" y="17018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Shape 127"/>
          <p:cNvSpPr/>
          <p:nvPr/>
        </p:nvSpPr>
        <p:spPr>
          <a:xfrm>
            <a:off x="10153650" y="17018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Shape 128"/>
          <p:cNvSpPr/>
          <p:nvPr/>
        </p:nvSpPr>
        <p:spPr>
          <a:xfrm>
            <a:off x="10350500" y="17018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2" name="Shape 129"/>
          <p:cNvSpPr/>
          <p:nvPr/>
        </p:nvSpPr>
        <p:spPr>
          <a:xfrm>
            <a:off x="10547350" y="17018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3" name="Shape 130"/>
          <p:cNvSpPr/>
          <p:nvPr/>
        </p:nvSpPr>
        <p:spPr>
          <a:xfrm>
            <a:off x="10744200" y="17018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Shape 131"/>
          <p:cNvSpPr/>
          <p:nvPr/>
        </p:nvSpPr>
        <p:spPr>
          <a:xfrm>
            <a:off x="10941050" y="17018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5" name="Shape 132"/>
          <p:cNvSpPr/>
          <p:nvPr/>
        </p:nvSpPr>
        <p:spPr>
          <a:xfrm>
            <a:off x="11137900" y="17018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6" name="Shape 133"/>
          <p:cNvSpPr/>
          <p:nvPr/>
        </p:nvSpPr>
        <p:spPr>
          <a:xfrm>
            <a:off x="11334750" y="17018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7" name="Shape 134"/>
          <p:cNvSpPr/>
          <p:nvPr/>
        </p:nvSpPr>
        <p:spPr>
          <a:xfrm>
            <a:off x="9563100" y="18986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8" name="Shape 135"/>
          <p:cNvSpPr/>
          <p:nvPr/>
        </p:nvSpPr>
        <p:spPr>
          <a:xfrm>
            <a:off x="9759950" y="18986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9" name="Shape 136"/>
          <p:cNvSpPr/>
          <p:nvPr/>
        </p:nvSpPr>
        <p:spPr>
          <a:xfrm>
            <a:off x="9956800" y="18986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0" name="Shape 137"/>
          <p:cNvSpPr/>
          <p:nvPr/>
        </p:nvSpPr>
        <p:spPr>
          <a:xfrm>
            <a:off x="10153650" y="18986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1" name="Shape 138"/>
          <p:cNvSpPr/>
          <p:nvPr/>
        </p:nvSpPr>
        <p:spPr>
          <a:xfrm>
            <a:off x="10350500" y="18986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2" name="Shape 139"/>
          <p:cNvSpPr/>
          <p:nvPr/>
        </p:nvSpPr>
        <p:spPr>
          <a:xfrm>
            <a:off x="10547350" y="18986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3" name="Shape 140"/>
          <p:cNvSpPr/>
          <p:nvPr/>
        </p:nvSpPr>
        <p:spPr>
          <a:xfrm>
            <a:off x="10744200" y="18986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4" name="Shape 141"/>
          <p:cNvSpPr/>
          <p:nvPr/>
        </p:nvSpPr>
        <p:spPr>
          <a:xfrm>
            <a:off x="10941050" y="18986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5" name="Shape 142"/>
          <p:cNvSpPr/>
          <p:nvPr/>
        </p:nvSpPr>
        <p:spPr>
          <a:xfrm>
            <a:off x="11137900" y="18986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6" name="Shape 143"/>
          <p:cNvSpPr/>
          <p:nvPr/>
        </p:nvSpPr>
        <p:spPr>
          <a:xfrm>
            <a:off x="11334750" y="18986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7" name="Shape 144"/>
          <p:cNvSpPr/>
          <p:nvPr/>
        </p:nvSpPr>
        <p:spPr>
          <a:xfrm>
            <a:off x="9563100" y="20955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8" name="Shape 145"/>
          <p:cNvSpPr/>
          <p:nvPr/>
        </p:nvSpPr>
        <p:spPr>
          <a:xfrm>
            <a:off x="9759950" y="20955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Shape 146"/>
          <p:cNvSpPr/>
          <p:nvPr/>
        </p:nvSpPr>
        <p:spPr>
          <a:xfrm>
            <a:off x="9956800" y="20955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0" name="Shape 147"/>
          <p:cNvSpPr/>
          <p:nvPr/>
        </p:nvSpPr>
        <p:spPr>
          <a:xfrm>
            <a:off x="10153650" y="20955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1" name="Shape 148"/>
          <p:cNvSpPr/>
          <p:nvPr/>
        </p:nvSpPr>
        <p:spPr>
          <a:xfrm>
            <a:off x="10350500" y="20955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2" name="Shape 149"/>
          <p:cNvSpPr/>
          <p:nvPr/>
        </p:nvSpPr>
        <p:spPr>
          <a:xfrm>
            <a:off x="10547350" y="20955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" name="Shape 150"/>
          <p:cNvSpPr/>
          <p:nvPr/>
        </p:nvSpPr>
        <p:spPr>
          <a:xfrm>
            <a:off x="10744200" y="20955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4" name="Shape 151"/>
          <p:cNvSpPr/>
          <p:nvPr/>
        </p:nvSpPr>
        <p:spPr>
          <a:xfrm>
            <a:off x="10941050" y="20955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5" name="Shape 152"/>
          <p:cNvSpPr/>
          <p:nvPr/>
        </p:nvSpPr>
        <p:spPr>
          <a:xfrm>
            <a:off x="11137900" y="20955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6" name="Shape 153"/>
          <p:cNvSpPr/>
          <p:nvPr/>
        </p:nvSpPr>
        <p:spPr>
          <a:xfrm>
            <a:off x="11334750" y="20955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7" name="Shape 154"/>
          <p:cNvSpPr/>
          <p:nvPr/>
        </p:nvSpPr>
        <p:spPr>
          <a:xfrm>
            <a:off x="9563100" y="22923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8" name="Shape 155"/>
          <p:cNvSpPr/>
          <p:nvPr/>
        </p:nvSpPr>
        <p:spPr>
          <a:xfrm>
            <a:off x="9759950" y="22923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9" name="Shape 156"/>
          <p:cNvSpPr/>
          <p:nvPr/>
        </p:nvSpPr>
        <p:spPr>
          <a:xfrm>
            <a:off x="9956800" y="22923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0" name="Shape 157"/>
          <p:cNvSpPr/>
          <p:nvPr/>
        </p:nvSpPr>
        <p:spPr>
          <a:xfrm>
            <a:off x="10153650" y="22923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1" name="Shape 158"/>
          <p:cNvSpPr/>
          <p:nvPr/>
        </p:nvSpPr>
        <p:spPr>
          <a:xfrm>
            <a:off x="10350500" y="22923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2" name="Shape 159"/>
          <p:cNvSpPr/>
          <p:nvPr/>
        </p:nvSpPr>
        <p:spPr>
          <a:xfrm>
            <a:off x="10547350" y="22923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3" name="Shape 160"/>
          <p:cNvSpPr/>
          <p:nvPr/>
        </p:nvSpPr>
        <p:spPr>
          <a:xfrm>
            <a:off x="10744200" y="22923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4" name="Shape 161"/>
          <p:cNvSpPr/>
          <p:nvPr/>
        </p:nvSpPr>
        <p:spPr>
          <a:xfrm>
            <a:off x="10941050" y="22923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5" name="Shape 162"/>
          <p:cNvSpPr/>
          <p:nvPr/>
        </p:nvSpPr>
        <p:spPr>
          <a:xfrm>
            <a:off x="11137900" y="22923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6" name="Shape 163"/>
          <p:cNvSpPr/>
          <p:nvPr/>
        </p:nvSpPr>
        <p:spPr>
          <a:xfrm>
            <a:off x="11334750" y="22923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7" name="Shape 164"/>
          <p:cNvSpPr/>
          <p:nvPr/>
        </p:nvSpPr>
        <p:spPr>
          <a:xfrm>
            <a:off x="9563100" y="24892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8" name="Shape 165"/>
          <p:cNvSpPr/>
          <p:nvPr/>
        </p:nvSpPr>
        <p:spPr>
          <a:xfrm>
            <a:off x="9759950" y="24892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9" name="Shape 166"/>
          <p:cNvSpPr/>
          <p:nvPr/>
        </p:nvSpPr>
        <p:spPr>
          <a:xfrm>
            <a:off x="9956800" y="24892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0" name="Shape 167"/>
          <p:cNvSpPr/>
          <p:nvPr/>
        </p:nvSpPr>
        <p:spPr>
          <a:xfrm>
            <a:off x="10153650" y="24892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1" name="Shape 168"/>
          <p:cNvSpPr/>
          <p:nvPr/>
        </p:nvSpPr>
        <p:spPr>
          <a:xfrm>
            <a:off x="10350500" y="24892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2" name="Shape 169"/>
          <p:cNvSpPr/>
          <p:nvPr/>
        </p:nvSpPr>
        <p:spPr>
          <a:xfrm>
            <a:off x="10547350" y="24892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3" name="Shape 170"/>
          <p:cNvSpPr/>
          <p:nvPr/>
        </p:nvSpPr>
        <p:spPr>
          <a:xfrm>
            <a:off x="10744200" y="24892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4" name="Shape 171"/>
          <p:cNvSpPr/>
          <p:nvPr/>
        </p:nvSpPr>
        <p:spPr>
          <a:xfrm>
            <a:off x="10941050" y="24892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5" name="Shape 172"/>
          <p:cNvSpPr/>
          <p:nvPr/>
        </p:nvSpPr>
        <p:spPr>
          <a:xfrm>
            <a:off x="11137900" y="24892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6" name="Shape 173"/>
          <p:cNvSpPr/>
          <p:nvPr/>
        </p:nvSpPr>
        <p:spPr>
          <a:xfrm>
            <a:off x="11334750" y="24892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7" name="Shape 174"/>
          <p:cNvSpPr/>
          <p:nvPr/>
        </p:nvSpPr>
        <p:spPr>
          <a:xfrm>
            <a:off x="9563100" y="26860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8" name="Shape 175"/>
          <p:cNvSpPr/>
          <p:nvPr/>
        </p:nvSpPr>
        <p:spPr>
          <a:xfrm>
            <a:off x="9759950" y="26860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9" name="Shape 176"/>
          <p:cNvSpPr/>
          <p:nvPr/>
        </p:nvSpPr>
        <p:spPr>
          <a:xfrm>
            <a:off x="9956800" y="26860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0" name="Shape 177"/>
          <p:cNvSpPr/>
          <p:nvPr/>
        </p:nvSpPr>
        <p:spPr>
          <a:xfrm>
            <a:off x="10153650" y="26860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1" name="Shape 178"/>
          <p:cNvSpPr/>
          <p:nvPr/>
        </p:nvSpPr>
        <p:spPr>
          <a:xfrm>
            <a:off x="10350500" y="26860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2" name="Shape 179"/>
          <p:cNvSpPr/>
          <p:nvPr/>
        </p:nvSpPr>
        <p:spPr>
          <a:xfrm>
            <a:off x="10547350" y="26860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3" name="Shape 180"/>
          <p:cNvSpPr/>
          <p:nvPr/>
        </p:nvSpPr>
        <p:spPr>
          <a:xfrm>
            <a:off x="10744200" y="26860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4" name="Shape 181"/>
          <p:cNvSpPr/>
          <p:nvPr/>
        </p:nvSpPr>
        <p:spPr>
          <a:xfrm>
            <a:off x="10941050" y="26860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5" name="Shape 182"/>
          <p:cNvSpPr/>
          <p:nvPr/>
        </p:nvSpPr>
        <p:spPr>
          <a:xfrm>
            <a:off x="11137900" y="26860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6" name="Shape 183"/>
          <p:cNvSpPr/>
          <p:nvPr/>
        </p:nvSpPr>
        <p:spPr>
          <a:xfrm>
            <a:off x="11334750" y="26860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7" name="Shape 184"/>
          <p:cNvSpPr/>
          <p:nvPr/>
        </p:nvSpPr>
        <p:spPr>
          <a:xfrm>
            <a:off x="9563100" y="28829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8" name="Shape 185"/>
          <p:cNvSpPr/>
          <p:nvPr/>
        </p:nvSpPr>
        <p:spPr>
          <a:xfrm>
            <a:off x="9759950" y="28829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9" name="Shape 186"/>
          <p:cNvSpPr/>
          <p:nvPr/>
        </p:nvSpPr>
        <p:spPr>
          <a:xfrm>
            <a:off x="9956800" y="28829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0" name="Shape 187"/>
          <p:cNvSpPr/>
          <p:nvPr/>
        </p:nvSpPr>
        <p:spPr>
          <a:xfrm>
            <a:off x="10153650" y="28829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1" name="Shape 188"/>
          <p:cNvSpPr/>
          <p:nvPr/>
        </p:nvSpPr>
        <p:spPr>
          <a:xfrm>
            <a:off x="10350500" y="28829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2" name="Shape 189"/>
          <p:cNvSpPr/>
          <p:nvPr/>
        </p:nvSpPr>
        <p:spPr>
          <a:xfrm>
            <a:off x="10547350" y="28829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3" name="Shape 190"/>
          <p:cNvSpPr/>
          <p:nvPr/>
        </p:nvSpPr>
        <p:spPr>
          <a:xfrm>
            <a:off x="10744200" y="28829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9A7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4" name="Shape 191"/>
          <p:cNvSpPr/>
          <p:nvPr/>
        </p:nvSpPr>
        <p:spPr>
          <a:xfrm>
            <a:off x="10941050" y="28829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C22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5" name="Shape 192"/>
          <p:cNvSpPr/>
          <p:nvPr/>
        </p:nvSpPr>
        <p:spPr>
          <a:xfrm>
            <a:off x="11137900" y="28829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C22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6" name="Shape 193"/>
          <p:cNvSpPr/>
          <p:nvPr/>
        </p:nvSpPr>
        <p:spPr>
          <a:xfrm>
            <a:off x="11334750" y="288290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C22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7" name="Shape 194"/>
          <p:cNvSpPr/>
          <p:nvPr/>
        </p:nvSpPr>
        <p:spPr>
          <a:xfrm>
            <a:off x="9563100" y="30797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C22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8" name="Shape 195"/>
          <p:cNvSpPr/>
          <p:nvPr/>
        </p:nvSpPr>
        <p:spPr>
          <a:xfrm>
            <a:off x="9759950" y="30797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C22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9" name="Shape 196"/>
          <p:cNvSpPr/>
          <p:nvPr/>
        </p:nvSpPr>
        <p:spPr>
          <a:xfrm>
            <a:off x="9956800" y="30797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C22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0" name="Shape 197"/>
          <p:cNvSpPr/>
          <p:nvPr/>
        </p:nvSpPr>
        <p:spPr>
          <a:xfrm>
            <a:off x="10153650" y="30797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C22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1" name="Shape 198"/>
          <p:cNvSpPr/>
          <p:nvPr/>
        </p:nvSpPr>
        <p:spPr>
          <a:xfrm>
            <a:off x="10350500" y="30797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C22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2" name="Shape 199"/>
          <p:cNvSpPr/>
          <p:nvPr/>
        </p:nvSpPr>
        <p:spPr>
          <a:xfrm>
            <a:off x="10547350" y="30797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C22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3" name="Shape 200"/>
          <p:cNvSpPr/>
          <p:nvPr/>
        </p:nvSpPr>
        <p:spPr>
          <a:xfrm>
            <a:off x="10744200" y="30797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C22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4" name="Shape 201"/>
          <p:cNvSpPr/>
          <p:nvPr/>
        </p:nvSpPr>
        <p:spPr>
          <a:xfrm>
            <a:off x="10941050" y="30797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C22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5" name="Shape 202"/>
          <p:cNvSpPr/>
          <p:nvPr/>
        </p:nvSpPr>
        <p:spPr>
          <a:xfrm>
            <a:off x="11137900" y="30797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C22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6" name="Shape 203"/>
          <p:cNvSpPr/>
          <p:nvPr/>
        </p:nvSpPr>
        <p:spPr>
          <a:xfrm>
            <a:off x="11334750" y="3079750"/>
            <a:ext cx="158750" cy="158750"/>
          </a:xfrm>
          <a:prstGeom prst="roundRect">
            <a:avLst>
              <a:gd name="adj" fmla="val 20000"/>
            </a:avLst>
          </a:prstGeom>
          <a:solidFill>
            <a:srgbClr val="0C22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7" name="Text 204"/>
          <p:cNvSpPr txBox="1"/>
          <p:nvPr/>
        </p:nvSpPr>
        <p:spPr>
          <a:xfrm>
            <a:off x="628650" y="1241425"/>
            <a:ext cx="2527443" cy="952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0" b="1" kern="0" spc="-150" dirty="0">
                <a:solidFill>
                  <a:srgbClr val="52E0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80%</a:t>
            </a:r>
            <a:endParaRPr lang="en-US" sz="7500" dirty="0"/>
          </a:p>
        </p:txBody>
      </p:sp>
      <p:sp>
        <p:nvSpPr>
          <p:cNvPr id="208" name="Text 205"/>
          <p:cNvSpPr txBox="1"/>
          <p:nvPr/>
        </p:nvSpPr>
        <p:spPr>
          <a:xfrm>
            <a:off x="628650" y="2374900"/>
            <a:ext cx="2928374" cy="679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common customer service issues will be resolved by agentic AI without a person, by 2029¹</a:t>
            </a:r>
            <a:endParaRPr lang="en-US" sz="1250" dirty="0"/>
          </a:p>
        </p:txBody>
      </p:sp>
      <p:sp>
        <p:nvSpPr>
          <p:cNvPr id="209" name="Text 206"/>
          <p:cNvSpPr txBox="1"/>
          <p:nvPr/>
        </p:nvSpPr>
        <p:spPr>
          <a:xfrm>
            <a:off x="6470650" y="1241425"/>
            <a:ext cx="2426776" cy="952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500" b="1" kern="0" spc="-150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87%</a:t>
            </a:r>
            <a:endParaRPr lang="en-US" sz="7500" dirty="0"/>
          </a:p>
        </p:txBody>
      </p:sp>
      <p:sp>
        <p:nvSpPr>
          <p:cNvPr id="210" name="Text 207"/>
          <p:cNvSpPr txBox="1"/>
          <p:nvPr/>
        </p:nvSpPr>
        <p:spPr>
          <a:xfrm>
            <a:off x="6470650" y="2374900"/>
            <a:ext cx="281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customers say firms using GenAI must offer a way to reach a person²</a:t>
            </a:r>
            <a:endParaRPr lang="en-US" sz="1250" dirty="0"/>
          </a:p>
        </p:txBody>
      </p:sp>
      <p:sp>
        <p:nvSpPr>
          <p:cNvPr id="211" name="Shape 208"/>
          <p:cNvSpPr/>
          <p:nvPr/>
        </p:nvSpPr>
        <p:spPr>
          <a:xfrm>
            <a:off x="628650" y="3644900"/>
            <a:ext cx="5086350" cy="9525"/>
          </a:xfrm>
          <a:prstGeom prst="rect">
            <a:avLst/>
          </a:prstGeom>
          <a:solidFill>
            <a:srgbClr val="D2F0C6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2" name="Shape 209"/>
          <p:cNvSpPr/>
          <p:nvPr/>
        </p:nvSpPr>
        <p:spPr>
          <a:xfrm>
            <a:off x="6470650" y="3644900"/>
            <a:ext cx="5086350" cy="9525"/>
          </a:xfrm>
          <a:prstGeom prst="rect">
            <a:avLst/>
          </a:prstGeom>
          <a:solidFill>
            <a:srgbClr val="0C2226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3" name="svgicon-158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8650" y="3797300"/>
            <a:ext cx="190500" cy="190500"/>
          </a:xfrm>
          <a:prstGeom prst="rect">
            <a:avLst/>
          </a:prstGeom>
        </p:spPr>
      </p:pic>
      <p:sp>
        <p:nvSpPr>
          <p:cNvPr id="214" name="Text 210"/>
          <p:cNvSpPr txBox="1"/>
          <p:nvPr/>
        </p:nvSpPr>
        <p:spPr>
          <a:xfrm>
            <a:off x="908050" y="3798272"/>
            <a:ext cx="3650619" cy="1800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30%</a:t>
            </a:r>
            <a:r>
              <a:rPr lang="en-US" sz="1050" dirty="0">
                <a:solidFill>
                  <a:srgbClr val="D2F0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lower operational costs expected as a result¹</a:t>
            </a:r>
            <a:endParaRPr lang="en-US" sz="1050" dirty="0"/>
          </a:p>
        </p:txBody>
      </p:sp>
      <p:pic>
        <p:nvPicPr>
          <p:cNvPr id="215" name="svgicon-159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0650" y="3797300"/>
            <a:ext cx="190500" cy="190500"/>
          </a:xfrm>
          <a:prstGeom prst="rect">
            <a:avLst/>
          </a:prstGeom>
        </p:spPr>
      </p:pic>
      <p:sp>
        <p:nvSpPr>
          <p:cNvPr id="216" name="Text 211"/>
          <p:cNvSpPr txBox="1"/>
          <p:nvPr/>
        </p:nvSpPr>
        <p:spPr>
          <a:xfrm>
            <a:off x="6750050" y="3798272"/>
            <a:ext cx="5236412" cy="1800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9424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58%</a:t>
            </a:r>
            <a:r>
              <a:rPr lang="en-US" sz="105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customers who use GenAI have had it complete a task for them²</a:t>
            </a:r>
            <a:endParaRPr lang="en-US" sz="1050" dirty="0"/>
          </a:p>
        </p:txBody>
      </p:sp>
      <p:sp>
        <p:nvSpPr>
          <p:cNvPr id="217" name="Text 212"/>
          <p:cNvSpPr txBox="1"/>
          <p:nvPr/>
        </p:nvSpPr>
        <p:spPr>
          <a:xfrm>
            <a:off x="628650" y="4443095"/>
            <a:ext cx="182673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2F0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</a:t>
            </a:r>
            <a:r>
              <a:rPr lang="en-US" sz="900" u="sng" dirty="0">
                <a:solidFill>
                  <a:srgbClr val="D2F0C6"/>
                </a:solidFill>
                <a:uFill>
                  <a:solidFill>
                    <a:srgbClr val="D2F0C6"/>
                  </a:solidFill>
                </a:uFill>
                <a:latin typeface="Segoe UI" pitchFamily="34" charset="0"/>
                <a:ea typeface="Segoe UI" pitchFamily="34" charset="-122"/>
                <a:cs typeface="Segoe U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¹ Gartner predictions</a:t>
            </a:r>
            <a:endParaRPr lang="en-US" sz="900" dirty="0"/>
          </a:p>
        </p:txBody>
      </p:sp>
      <p:sp>
        <p:nvSpPr>
          <p:cNvPr id="218" name="Text 213"/>
          <p:cNvSpPr txBox="1"/>
          <p:nvPr/>
        </p:nvSpPr>
        <p:spPr>
          <a:xfrm>
            <a:off x="6470650" y="4443095"/>
            <a:ext cx="218800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</a:t>
            </a:r>
            <a:r>
              <a:rPr lang="en-US" sz="900" u="sng" dirty="0">
                <a:solidFill>
                  <a:srgbClr val="337077"/>
                </a:solidFill>
                <a:uFill>
                  <a:solidFill>
                    <a:srgbClr val="337077"/>
                  </a:solidFill>
                </a:uFill>
                <a:latin typeface="Segoe UI" pitchFamily="34" charset="0"/>
                <a:ea typeface="Segoe UI" pitchFamily="34" charset="-122"/>
                <a:cs typeface="Segoe U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² Gartner customer survey</a:t>
            </a:r>
            <a:endParaRPr lang="en-US" sz="900" dirty="0"/>
          </a:p>
        </p:txBody>
      </p:sp>
      <p:sp>
        <p:nvSpPr>
          <p:cNvPr id="219" name="Shape 214"/>
          <p:cNvSpPr/>
          <p:nvPr/>
        </p:nvSpPr>
        <p:spPr>
          <a:xfrm>
            <a:off x="374650" y="4978400"/>
            <a:ext cx="11436350" cy="419100"/>
          </a:xfrm>
          <a:prstGeom prst="roundRect">
            <a:avLst>
              <a:gd name="adj" fmla="val 21212"/>
            </a:avLst>
          </a:prstGeom>
          <a:solidFill>
            <a:srgbClr val="19424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0" name="svgicon-160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5150" y="5092700"/>
            <a:ext cx="190500" cy="190500"/>
          </a:xfrm>
          <a:prstGeom prst="rect">
            <a:avLst/>
          </a:prstGeom>
        </p:spPr>
      </p:pic>
      <p:sp>
        <p:nvSpPr>
          <p:cNvPr id="221" name="Text 215"/>
          <p:cNvSpPr txBox="1"/>
          <p:nvPr/>
        </p:nvSpPr>
        <p:spPr>
          <a:xfrm>
            <a:off x="857250" y="5127625"/>
            <a:ext cx="800376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6" dirty="0">
                <a:solidFill>
                  <a:srgbClr val="52E0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WHAT</a:t>
            </a:r>
            <a:endParaRPr lang="en-US" sz="900" dirty="0"/>
          </a:p>
        </p:txBody>
      </p:sp>
      <p:sp>
        <p:nvSpPr>
          <p:cNvPr id="222" name="Text 216"/>
          <p:cNvSpPr txBox="1"/>
          <p:nvPr/>
        </p:nvSpPr>
        <p:spPr>
          <a:xfrm>
            <a:off x="1679873" y="5093672"/>
            <a:ext cx="5311178" cy="1800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D2F0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for both: AI that resolves the request, and a clear path to a person</a:t>
            </a:r>
            <a:endParaRPr lang="en-US" sz="1050" dirty="0"/>
          </a:p>
        </p:txBody>
      </p:sp>
      <p:sp>
        <p:nvSpPr>
          <p:cNvPr id="223" name="Shape 217"/>
          <p:cNvSpPr/>
          <p:nvPr/>
        </p:nvSpPr>
        <p:spPr>
          <a:xfrm>
            <a:off x="374650" y="5537200"/>
            <a:ext cx="11436350" cy="508000"/>
          </a:xfrm>
          <a:prstGeom prst="roundRect">
            <a:avLst>
              <a:gd name="adj" fmla="val 17500"/>
            </a:avLst>
          </a:prstGeom>
          <a:solidFill>
            <a:srgbClr val="F6F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4" name="Shape 218"/>
          <p:cNvSpPr/>
          <p:nvPr/>
        </p:nvSpPr>
        <p:spPr>
          <a:xfrm>
            <a:off x="527050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5" name="svgicon-161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5150" y="5689501"/>
            <a:ext cx="203200" cy="203200"/>
          </a:xfrm>
          <a:prstGeom prst="rect">
            <a:avLst/>
          </a:prstGeom>
        </p:spPr>
      </p:pic>
      <p:sp>
        <p:nvSpPr>
          <p:cNvPr id="226" name="Text 219"/>
          <p:cNvSpPr txBox="1"/>
          <p:nvPr/>
        </p:nvSpPr>
        <p:spPr>
          <a:xfrm>
            <a:off x="882650" y="5640070"/>
            <a:ext cx="862699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IT FOR</a:t>
            </a:r>
            <a:endParaRPr lang="en-US" sz="900" dirty="0"/>
          </a:p>
        </p:txBody>
      </p:sp>
      <p:sp>
        <p:nvSpPr>
          <p:cNvPr id="227" name="Text 220"/>
          <p:cNvSpPr txBox="1"/>
          <p:nvPr/>
        </p:nvSpPr>
        <p:spPr>
          <a:xfrm>
            <a:off x="882650" y="5790525"/>
            <a:ext cx="3107355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or two sourced numbers that frame the issue</a:t>
            </a:r>
            <a:endParaRPr lang="en-US" sz="900" dirty="0"/>
          </a:p>
        </p:txBody>
      </p:sp>
      <p:sp>
        <p:nvSpPr>
          <p:cNvPr id="228" name="Shape 221"/>
          <p:cNvSpPr/>
          <p:nvPr/>
        </p:nvSpPr>
        <p:spPr>
          <a:xfrm>
            <a:off x="4288334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9" name="svgicon-162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26434" y="5689501"/>
            <a:ext cx="203200" cy="203200"/>
          </a:xfrm>
          <a:prstGeom prst="rect">
            <a:avLst/>
          </a:prstGeom>
        </p:spPr>
      </p:pic>
      <p:sp>
        <p:nvSpPr>
          <p:cNvPr id="230" name="Text 222"/>
          <p:cNvSpPr txBox="1"/>
          <p:nvPr/>
        </p:nvSpPr>
        <p:spPr>
          <a:xfrm>
            <a:off x="4643934" y="5640070"/>
            <a:ext cx="65435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MOTION</a:t>
            </a:r>
            <a:endParaRPr lang="en-US" sz="900" dirty="0"/>
          </a:p>
        </p:txBody>
      </p:sp>
      <p:sp>
        <p:nvSpPr>
          <p:cNvPr id="231" name="Text 223"/>
          <p:cNvSpPr txBox="1"/>
          <p:nvPr/>
        </p:nvSpPr>
        <p:spPr>
          <a:xfrm>
            <a:off x="4643934" y="5790525"/>
            <a:ext cx="399516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</a:t>
            </a:r>
            <a:endParaRPr lang="en-US" sz="900" dirty="0"/>
          </a:p>
        </p:txBody>
      </p:sp>
      <p:sp>
        <p:nvSpPr>
          <p:cNvPr id="232" name="Shape 224"/>
          <p:cNvSpPr/>
          <p:nvPr/>
        </p:nvSpPr>
        <p:spPr>
          <a:xfrm>
            <a:off x="8049617" y="5651401"/>
            <a:ext cx="279400" cy="2794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3" name="svgicon-163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87717" y="5689501"/>
            <a:ext cx="203200" cy="203200"/>
          </a:xfrm>
          <a:prstGeom prst="rect">
            <a:avLst/>
          </a:prstGeom>
        </p:spPr>
      </p:pic>
      <p:sp>
        <p:nvSpPr>
          <p:cNvPr id="234" name="Text 225"/>
          <p:cNvSpPr txBox="1"/>
          <p:nvPr/>
        </p:nvSpPr>
        <p:spPr>
          <a:xfrm>
            <a:off x="8405217" y="5640070"/>
            <a:ext cx="63354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SEEN IN</a:t>
            </a:r>
            <a:endParaRPr lang="en-US" sz="900" dirty="0"/>
          </a:p>
        </p:txBody>
      </p:sp>
      <p:sp>
        <p:nvSpPr>
          <p:cNvPr id="235" name="Text 226"/>
          <p:cNvSpPr txBox="1"/>
          <p:nvPr/>
        </p:nvSpPr>
        <p:spPr>
          <a:xfrm>
            <a:off x="8405217" y="5790525"/>
            <a:ext cx="1708757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Analyst and investor decks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00050" y="203200"/>
            <a:ext cx="2071386" cy="127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10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ALREADY IN THE KIT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374650" y="328930"/>
            <a:ext cx="11388544" cy="4089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-28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Patterns we already have, and </a:t>
            </a:r>
            <a:r>
              <a:rPr lang="en-US" sz="2800" b="1" kern="0" spc="-28" dirty="0">
                <a:solidFill>
                  <a:srgbClr val="09A78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each one has worked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77825" y="1069975"/>
            <a:ext cx="2736850" cy="2051050"/>
          </a:xfrm>
          <a:prstGeom prst="roundRect">
            <a:avLst>
              <a:gd name="adj" fmla="val 4799"/>
            </a:avLst>
          </a:prstGeom>
          <a:solidFill>
            <a:srgbClr val="FFFFFF"/>
          </a:solidFill>
          <a:ln w="6350">
            <a:solidFill>
              <a:srgbClr val="0C2226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539750" y="1231900"/>
            <a:ext cx="355600" cy="355600"/>
          </a:xfrm>
          <a:prstGeom prst="ellipse">
            <a:avLst/>
          </a:prstGeom>
          <a:solidFill>
            <a:srgbClr val="D2F0C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svgicon-164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0550" y="1282700"/>
            <a:ext cx="254000" cy="2540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39750" y="1696720"/>
            <a:ext cx="1795399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Scatter to hub to card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539750" y="1934170"/>
            <a:ext cx="2529142" cy="34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95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foundation (A1); support triage (C1)</a:t>
            </a:r>
            <a:endParaRPr lang="en-US" sz="950" dirty="0"/>
          </a:p>
        </p:txBody>
      </p:sp>
      <p:pic>
        <p:nvPicPr>
          <p:cNvPr id="10" name="svgicon-165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750" y="2730500"/>
            <a:ext cx="139700" cy="1397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30250" y="2729230"/>
            <a:ext cx="1291497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Liked; animates well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3273425" y="1069975"/>
            <a:ext cx="2736850" cy="2051050"/>
          </a:xfrm>
          <a:prstGeom prst="roundRect">
            <a:avLst>
              <a:gd name="adj" fmla="val 4799"/>
            </a:avLst>
          </a:prstGeom>
          <a:solidFill>
            <a:srgbClr val="FFFFFF"/>
          </a:solidFill>
          <a:ln w="6350">
            <a:solidFill>
              <a:srgbClr val="0C2226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3435350" y="1231900"/>
            <a:ext cx="355600" cy="355600"/>
          </a:xfrm>
          <a:prstGeom prst="ellipse">
            <a:avLst/>
          </a:prstGeom>
          <a:solidFill>
            <a:srgbClr val="D2F0C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svgicon-166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6150" y="1282700"/>
            <a:ext cx="254000" cy="2540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435350" y="1696720"/>
            <a:ext cx="1368185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window</a:t>
            </a:r>
            <a:endParaRPr lang="en-US" sz="1150" dirty="0"/>
          </a:p>
        </p:txBody>
      </p:sp>
      <p:sp>
        <p:nvSpPr>
          <p:cNvPr id="16" name="Text 10"/>
          <p:cNvSpPr txBox="1"/>
          <p:nvPr/>
        </p:nvSpPr>
        <p:spPr>
          <a:xfrm>
            <a:off x="3435350" y="1934170"/>
            <a:ext cx="2365280" cy="34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95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desktop: before, during and after the contact</a:t>
            </a:r>
            <a:endParaRPr lang="en-US" sz="950" dirty="0"/>
          </a:p>
        </p:txBody>
      </p:sp>
      <p:pic>
        <p:nvPicPr>
          <p:cNvPr id="17" name="svgicon-167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35350" y="2730500"/>
            <a:ext cx="139700" cy="1397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625850" y="2729230"/>
            <a:ext cx="846298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it static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6169025" y="1069975"/>
            <a:ext cx="2736850" cy="2051050"/>
          </a:xfrm>
          <a:prstGeom prst="roundRect">
            <a:avLst>
              <a:gd name="adj" fmla="val 4799"/>
            </a:avLst>
          </a:prstGeom>
          <a:solidFill>
            <a:srgbClr val="FFFFFF"/>
          </a:solidFill>
          <a:ln w="6350">
            <a:solidFill>
              <a:srgbClr val="0C2226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3"/>
          <p:cNvSpPr/>
          <p:nvPr/>
        </p:nvSpPr>
        <p:spPr>
          <a:xfrm>
            <a:off x="6330950" y="1231900"/>
            <a:ext cx="355600" cy="355600"/>
          </a:xfrm>
          <a:prstGeom prst="ellipse">
            <a:avLst/>
          </a:prstGeom>
          <a:solidFill>
            <a:srgbClr val="D2F0C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svgicon-168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81750" y="1282700"/>
            <a:ext cx="254000" cy="25400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330950" y="1696720"/>
            <a:ext cx="1166511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From/to lanes</a:t>
            </a:r>
            <a:endParaRPr lang="en-US" sz="1150" dirty="0"/>
          </a:p>
        </p:txBody>
      </p:sp>
      <p:sp>
        <p:nvSpPr>
          <p:cNvPr id="23" name="Text 15"/>
          <p:cNvSpPr txBox="1"/>
          <p:nvPr/>
        </p:nvSpPr>
        <p:spPr>
          <a:xfrm>
            <a:off x="6330950" y="1925757"/>
            <a:ext cx="1969587" cy="162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shifts on the hook slide</a:t>
            </a:r>
            <a:endParaRPr lang="en-US" sz="950" dirty="0"/>
          </a:p>
        </p:txBody>
      </p:sp>
      <p:pic>
        <p:nvPicPr>
          <p:cNvPr id="24" name="svgicon-169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0950" y="2730500"/>
            <a:ext cx="139700" cy="13970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521450" y="2729230"/>
            <a:ext cx="380401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Liked</a:t>
            </a:r>
            <a:endParaRPr lang="en-US" sz="900" dirty="0"/>
          </a:p>
        </p:txBody>
      </p:sp>
      <p:sp>
        <p:nvSpPr>
          <p:cNvPr id="26" name="Shape 17"/>
          <p:cNvSpPr/>
          <p:nvPr/>
        </p:nvSpPr>
        <p:spPr>
          <a:xfrm>
            <a:off x="9064625" y="1069975"/>
            <a:ext cx="2736850" cy="2051050"/>
          </a:xfrm>
          <a:prstGeom prst="roundRect">
            <a:avLst>
              <a:gd name="adj" fmla="val 4799"/>
            </a:avLst>
          </a:prstGeom>
          <a:solidFill>
            <a:srgbClr val="FFFFFF"/>
          </a:solidFill>
          <a:ln w="6350">
            <a:solidFill>
              <a:srgbClr val="0C2226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18"/>
          <p:cNvSpPr/>
          <p:nvPr/>
        </p:nvSpPr>
        <p:spPr>
          <a:xfrm>
            <a:off x="9226550" y="1231900"/>
            <a:ext cx="355600" cy="355600"/>
          </a:xfrm>
          <a:prstGeom prst="ellipse">
            <a:avLst/>
          </a:prstGeom>
          <a:solidFill>
            <a:srgbClr val="D2F0C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svgicon-170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77350" y="1282700"/>
            <a:ext cx="254000" cy="25400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9226550" y="1696720"/>
            <a:ext cx="769158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Equation</a:t>
            </a:r>
            <a:endParaRPr lang="en-US" sz="1150" dirty="0"/>
          </a:p>
        </p:txBody>
      </p:sp>
      <p:sp>
        <p:nvSpPr>
          <p:cNvPr id="30" name="Text 20"/>
          <p:cNvSpPr txBox="1"/>
          <p:nvPr/>
        </p:nvSpPr>
        <p:spPr>
          <a:xfrm>
            <a:off x="9226550" y="1934170"/>
            <a:ext cx="2032810" cy="34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95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we fit: platforms + layers = outcomes</a:t>
            </a:r>
            <a:endParaRPr lang="en-US" sz="950" dirty="0"/>
          </a:p>
        </p:txBody>
      </p:sp>
      <p:pic>
        <p:nvPicPr>
          <p:cNvPr id="31" name="svgicon-171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26550" y="2730500"/>
            <a:ext cx="139700" cy="139700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9417050" y="2729230"/>
            <a:ext cx="227792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Chosen for a first executive meeting</a:t>
            </a:r>
            <a:endParaRPr lang="en-US" sz="900" dirty="0"/>
          </a:p>
        </p:txBody>
      </p:sp>
      <p:sp>
        <p:nvSpPr>
          <p:cNvPr id="33" name="Shape 22"/>
          <p:cNvSpPr/>
          <p:nvPr/>
        </p:nvSpPr>
        <p:spPr>
          <a:xfrm>
            <a:off x="377825" y="3254375"/>
            <a:ext cx="2736850" cy="2051050"/>
          </a:xfrm>
          <a:prstGeom prst="roundRect">
            <a:avLst>
              <a:gd name="adj" fmla="val 4799"/>
            </a:avLst>
          </a:prstGeom>
          <a:solidFill>
            <a:srgbClr val="FFFFFF"/>
          </a:solidFill>
          <a:ln w="6350">
            <a:solidFill>
              <a:srgbClr val="0C2226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23"/>
          <p:cNvSpPr/>
          <p:nvPr/>
        </p:nvSpPr>
        <p:spPr>
          <a:xfrm>
            <a:off x="539750" y="3416300"/>
            <a:ext cx="355600" cy="355600"/>
          </a:xfrm>
          <a:prstGeom prst="ellipse">
            <a:avLst/>
          </a:prstGeom>
          <a:solidFill>
            <a:srgbClr val="D2F0C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svgicon-172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0550" y="3467100"/>
            <a:ext cx="254000" cy="254000"/>
          </a:xfrm>
          <a:prstGeom prst="rect">
            <a:avLst/>
          </a:prstGeom>
        </p:spPr>
      </p:pic>
      <p:sp>
        <p:nvSpPr>
          <p:cNvPr id="36" name="Text 24"/>
          <p:cNvSpPr txBox="1"/>
          <p:nvPr/>
        </p:nvSpPr>
        <p:spPr>
          <a:xfrm>
            <a:off x="539750" y="3881120"/>
            <a:ext cx="1324525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Services matrix</a:t>
            </a:r>
            <a:endParaRPr lang="en-US" sz="1150" dirty="0"/>
          </a:p>
        </p:txBody>
      </p:sp>
      <p:sp>
        <p:nvSpPr>
          <p:cNvPr id="37" name="Text 25"/>
          <p:cNvSpPr txBox="1"/>
          <p:nvPr/>
        </p:nvSpPr>
        <p:spPr>
          <a:xfrm>
            <a:off x="539750" y="4110157"/>
            <a:ext cx="2658537" cy="162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Advise, build and run across the themes</a:t>
            </a:r>
            <a:endParaRPr lang="en-US" sz="950" dirty="0"/>
          </a:p>
        </p:txBody>
      </p:sp>
      <p:pic>
        <p:nvPicPr>
          <p:cNvPr id="38" name="svgicon-173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750" y="4914900"/>
            <a:ext cx="139700" cy="139700"/>
          </a:xfrm>
          <a:prstGeom prst="rect">
            <a:avLst/>
          </a:prstGeom>
        </p:spPr>
      </p:pic>
      <p:sp>
        <p:nvSpPr>
          <p:cNvPr id="39" name="Text 26"/>
          <p:cNvSpPr txBox="1"/>
          <p:nvPr/>
        </p:nvSpPr>
        <p:spPr>
          <a:xfrm>
            <a:off x="730250" y="4913630"/>
            <a:ext cx="1634218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services anchor slide</a:t>
            </a:r>
            <a:endParaRPr lang="en-US" sz="900" dirty="0"/>
          </a:p>
        </p:txBody>
      </p:sp>
      <p:sp>
        <p:nvSpPr>
          <p:cNvPr id="40" name="Shape 27"/>
          <p:cNvSpPr/>
          <p:nvPr/>
        </p:nvSpPr>
        <p:spPr>
          <a:xfrm>
            <a:off x="3273425" y="3254375"/>
            <a:ext cx="2736850" cy="2051050"/>
          </a:xfrm>
          <a:prstGeom prst="roundRect">
            <a:avLst>
              <a:gd name="adj" fmla="val 4799"/>
            </a:avLst>
          </a:prstGeom>
          <a:solidFill>
            <a:srgbClr val="FFFFFF"/>
          </a:solidFill>
          <a:ln w="6350">
            <a:solidFill>
              <a:srgbClr val="0C2226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28"/>
          <p:cNvSpPr/>
          <p:nvPr/>
        </p:nvSpPr>
        <p:spPr>
          <a:xfrm>
            <a:off x="3435350" y="3416300"/>
            <a:ext cx="355600" cy="355600"/>
          </a:xfrm>
          <a:prstGeom prst="ellipse">
            <a:avLst/>
          </a:prstGeom>
          <a:solidFill>
            <a:srgbClr val="D2F0C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2" name="svgicon-174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86150" y="3467100"/>
            <a:ext cx="254000" cy="254000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3435350" y="3881120"/>
            <a:ext cx="1128732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stories</a:t>
            </a:r>
            <a:endParaRPr lang="en-US" sz="1150" dirty="0"/>
          </a:p>
        </p:txBody>
      </p:sp>
      <p:sp>
        <p:nvSpPr>
          <p:cNvPr id="44" name="Text 30"/>
          <p:cNvSpPr txBox="1"/>
          <p:nvPr/>
        </p:nvSpPr>
        <p:spPr>
          <a:xfrm>
            <a:off x="3435350" y="4118570"/>
            <a:ext cx="2440400" cy="34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95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Situation, solution and outcomes in three columns</a:t>
            </a:r>
            <a:endParaRPr lang="en-US" sz="950" dirty="0"/>
          </a:p>
        </p:txBody>
      </p:sp>
      <p:pic>
        <p:nvPicPr>
          <p:cNvPr id="45" name="svgicon-175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35350" y="4914900"/>
            <a:ext cx="139700" cy="139700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3625850" y="4913630"/>
            <a:ext cx="1017546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 template</a:t>
            </a:r>
            <a:endParaRPr lang="en-US" sz="900" dirty="0"/>
          </a:p>
        </p:txBody>
      </p:sp>
      <p:sp>
        <p:nvSpPr>
          <p:cNvPr id="47" name="Shape 32"/>
          <p:cNvSpPr/>
          <p:nvPr/>
        </p:nvSpPr>
        <p:spPr>
          <a:xfrm>
            <a:off x="6169025" y="3254375"/>
            <a:ext cx="2736850" cy="2051050"/>
          </a:xfrm>
          <a:prstGeom prst="roundRect">
            <a:avLst>
              <a:gd name="adj" fmla="val 4799"/>
            </a:avLst>
          </a:prstGeom>
          <a:solidFill>
            <a:srgbClr val="FFFFFF"/>
          </a:solidFill>
          <a:ln w="6350">
            <a:solidFill>
              <a:srgbClr val="0C2226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33"/>
          <p:cNvSpPr/>
          <p:nvPr/>
        </p:nvSpPr>
        <p:spPr>
          <a:xfrm>
            <a:off x="6330950" y="3416300"/>
            <a:ext cx="355600" cy="355600"/>
          </a:xfrm>
          <a:prstGeom prst="ellipse">
            <a:avLst/>
          </a:prstGeom>
          <a:solidFill>
            <a:srgbClr val="D2F0C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9" name="svgicon-176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81750" y="3467100"/>
            <a:ext cx="254000" cy="254000"/>
          </a:xfrm>
          <a:prstGeom prst="rect">
            <a:avLst/>
          </a:prstGeom>
        </p:spPr>
      </p:pic>
      <p:sp>
        <p:nvSpPr>
          <p:cNvPr id="50" name="Text 34"/>
          <p:cNvSpPr txBox="1"/>
          <p:nvPr/>
        </p:nvSpPr>
        <p:spPr>
          <a:xfrm>
            <a:off x="6330950" y="3881120"/>
            <a:ext cx="2057700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Deadline-bound process</a:t>
            </a:r>
            <a:endParaRPr lang="en-US" sz="1150" dirty="0"/>
          </a:p>
        </p:txBody>
      </p:sp>
      <p:sp>
        <p:nvSpPr>
          <p:cNvPr id="51" name="Text 35"/>
          <p:cNvSpPr txBox="1"/>
          <p:nvPr/>
        </p:nvSpPr>
        <p:spPr>
          <a:xfrm>
            <a:off x="6330950" y="4118570"/>
            <a:ext cx="2363113" cy="341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3"/>
              </a:lnSpc>
              <a:buNone/>
            </a:pPr>
            <a:r>
              <a:rPr lang="en-US" sz="95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Disputes: stages, where people decide, always-on band</a:t>
            </a:r>
            <a:endParaRPr lang="en-US" sz="950" dirty="0"/>
          </a:p>
        </p:txBody>
      </p:sp>
      <p:pic>
        <p:nvPicPr>
          <p:cNvPr id="52" name="svgicon-177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0950" y="4914900"/>
            <a:ext cx="139700" cy="139700"/>
          </a:xfrm>
          <a:prstGeom prst="rect">
            <a:avLst/>
          </a:prstGeom>
        </p:spPr>
      </p:pic>
      <p:sp>
        <p:nvSpPr>
          <p:cNvPr id="53" name="Text 36"/>
          <p:cNvSpPr txBox="1"/>
          <p:nvPr/>
        </p:nvSpPr>
        <p:spPr>
          <a:xfrm>
            <a:off x="6521450" y="4913630"/>
            <a:ext cx="1410262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Used for disputes (B1)</a:t>
            </a:r>
            <a:endParaRPr lang="en-US" sz="900" dirty="0"/>
          </a:p>
        </p:txBody>
      </p:sp>
      <p:sp>
        <p:nvSpPr>
          <p:cNvPr id="54" name="Shape 37"/>
          <p:cNvSpPr/>
          <p:nvPr/>
        </p:nvSpPr>
        <p:spPr>
          <a:xfrm>
            <a:off x="9064625" y="3254375"/>
            <a:ext cx="2736850" cy="2051050"/>
          </a:xfrm>
          <a:prstGeom prst="roundRect">
            <a:avLst>
              <a:gd name="adj" fmla="val 4799"/>
            </a:avLst>
          </a:prstGeom>
          <a:solidFill>
            <a:srgbClr val="FFFFFF"/>
          </a:solidFill>
          <a:ln w="6350">
            <a:solidFill>
              <a:srgbClr val="0C2226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38"/>
          <p:cNvSpPr/>
          <p:nvPr/>
        </p:nvSpPr>
        <p:spPr>
          <a:xfrm>
            <a:off x="9226550" y="3416300"/>
            <a:ext cx="355600" cy="355600"/>
          </a:xfrm>
          <a:prstGeom prst="ellipse">
            <a:avLst/>
          </a:prstGeom>
          <a:solidFill>
            <a:srgbClr val="D2F0C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6" name="svgicon-178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77350" y="3467100"/>
            <a:ext cx="254000" cy="254000"/>
          </a:xfrm>
          <a:prstGeom prst="rect">
            <a:avLst/>
          </a:prstGeom>
        </p:spPr>
      </p:pic>
      <p:sp>
        <p:nvSpPr>
          <p:cNvPr id="57" name="Text 39"/>
          <p:cNvSpPr txBox="1"/>
          <p:nvPr/>
        </p:nvSpPr>
        <p:spPr>
          <a:xfrm>
            <a:off x="9226550" y="3881120"/>
            <a:ext cx="1097514" cy="1752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Flow ribbons</a:t>
            </a:r>
            <a:endParaRPr lang="en-US" sz="1150" dirty="0"/>
          </a:p>
        </p:txBody>
      </p:sp>
      <p:sp>
        <p:nvSpPr>
          <p:cNvPr id="58" name="Text 40"/>
          <p:cNvSpPr txBox="1"/>
          <p:nvPr/>
        </p:nvSpPr>
        <p:spPr>
          <a:xfrm>
            <a:off x="9226550" y="4110157"/>
            <a:ext cx="1793589" cy="1628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942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Tried for L1 and L2 support</a:t>
            </a:r>
            <a:endParaRPr lang="en-US" sz="950" dirty="0"/>
          </a:p>
        </p:txBody>
      </p:sp>
      <p:pic>
        <p:nvPicPr>
          <p:cNvPr id="59" name="svgicon-179" descr="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26550" y="4914900"/>
            <a:ext cx="139700" cy="139700"/>
          </a:xfrm>
          <a:prstGeom prst="rect">
            <a:avLst/>
          </a:prstGeom>
        </p:spPr>
      </p:pic>
      <p:sp>
        <p:nvSpPr>
          <p:cNvPr id="60" name="Text 41"/>
          <p:cNvSpPr txBox="1"/>
          <p:nvPr/>
        </p:nvSpPr>
        <p:spPr>
          <a:xfrm>
            <a:off x="9417050" y="4921250"/>
            <a:ext cx="2005155" cy="311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Scatter preferred; use when shares matter</a:t>
            </a:r>
            <a:endParaRPr lang="en-US" sz="900" dirty="0"/>
          </a:p>
        </p:txBody>
      </p:sp>
      <p:sp>
        <p:nvSpPr>
          <p:cNvPr id="61" name="Text 42"/>
          <p:cNvSpPr txBox="1"/>
          <p:nvPr/>
        </p:nvSpPr>
        <p:spPr>
          <a:xfrm>
            <a:off x="374650" y="5587365"/>
            <a:ext cx="624614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370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live in tools/patterns.py and the Fiserv deck; the styles you pick from this catalogue join them.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DE5D7CAE-EB9F-DBD8-E8E3-BEC477EB3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770" y="1266514"/>
            <a:ext cx="6400800" cy="1512243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3E31409D-2172-4866-7795-348190737051}"/>
              </a:ext>
            </a:extLst>
          </p:cNvPr>
          <p:cNvSpPr/>
          <p:nvPr/>
        </p:nvSpPr>
        <p:spPr>
          <a:xfrm>
            <a:off x="2499702" y="2661792"/>
            <a:ext cx="5901837" cy="767208"/>
          </a:xfrm>
          <a:prstGeom prst="rect">
            <a:avLst/>
          </a:prstGeom>
          <a:noFill/>
          <a:ln>
            <a:miter lim="800000"/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ts val="1718"/>
              </a:lnSpc>
              <a:spcBef>
                <a:spcPts val="1857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300" normalizeH="0" baseline="0" noProof="0" dirty="0">
                <a:ln>
                  <a:noFill/>
                </a:ln>
                <a:solidFill>
                  <a:srgbClr val="337077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Learn more at myridius.com</a:t>
            </a:r>
          </a:p>
        </p:txBody>
      </p:sp>
    </p:spTree>
    <p:extLst>
      <p:ext uri="{BB962C8B-B14F-4D97-AF65-F5344CB8AC3E}">
        <p14:creationId xmlns:p14="http://schemas.microsoft.com/office/powerpoint/2010/main" val="4251596336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Myridius 2026">
      <a:dk1>
        <a:srgbClr val="0C2226"/>
      </a:dk1>
      <a:lt1>
        <a:srgbClr val="FFFFFF"/>
      </a:lt1>
      <a:dk2>
        <a:srgbClr val="194247"/>
      </a:dk2>
      <a:lt2>
        <a:srgbClr val="F6F3F0"/>
      </a:lt2>
      <a:accent1>
        <a:srgbClr val="51E081"/>
      </a:accent1>
      <a:accent2>
        <a:srgbClr val="09A78D"/>
      </a:accent2>
      <a:accent3>
        <a:srgbClr val="337077"/>
      </a:accent3>
      <a:accent4>
        <a:srgbClr val="E5FD84"/>
      </a:accent4>
      <a:accent5>
        <a:srgbClr val="CBEBBD"/>
      </a:accent5>
      <a:accent6>
        <a:srgbClr val="94DEA5"/>
      </a:accent6>
      <a:hlink>
        <a:srgbClr val="09A78D"/>
      </a:hlink>
      <a:folHlink>
        <a:srgbClr val="09A78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smtClean="0"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3_Office Theme">
  <a:themeElements>
    <a:clrScheme name="Myridius 2026">
      <a:dk1>
        <a:srgbClr val="0C2226"/>
      </a:dk1>
      <a:lt1>
        <a:srgbClr val="FFFFFF"/>
      </a:lt1>
      <a:dk2>
        <a:srgbClr val="194247"/>
      </a:dk2>
      <a:lt2>
        <a:srgbClr val="F6F3F0"/>
      </a:lt2>
      <a:accent1>
        <a:srgbClr val="51E081"/>
      </a:accent1>
      <a:accent2>
        <a:srgbClr val="09A78D"/>
      </a:accent2>
      <a:accent3>
        <a:srgbClr val="337077"/>
      </a:accent3>
      <a:accent4>
        <a:srgbClr val="E5FD84"/>
      </a:accent4>
      <a:accent5>
        <a:srgbClr val="CBEBBD"/>
      </a:accent5>
      <a:accent6>
        <a:srgbClr val="94DEA5"/>
      </a:accent6>
      <a:hlink>
        <a:srgbClr val="09A78D"/>
      </a:hlink>
      <a:folHlink>
        <a:srgbClr val="09A78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noAutofit/>
      </a:bodyPr>
      <a:lstStyle>
        <a:defPPr algn="l">
          <a:defRPr dirty="0" smtClean="0"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Myridius 2025">
      <a:dk1>
        <a:srgbClr val="0C2226"/>
      </a:dk1>
      <a:lt1>
        <a:srgbClr val="FFFFFF"/>
      </a:lt1>
      <a:dk2>
        <a:srgbClr val="194247"/>
      </a:dk2>
      <a:lt2>
        <a:srgbClr val="D2F0C6"/>
      </a:lt2>
      <a:accent1>
        <a:srgbClr val="52E081"/>
      </a:accent1>
      <a:accent2>
        <a:srgbClr val="D2F0C6"/>
      </a:accent2>
      <a:accent3>
        <a:srgbClr val="194247"/>
      </a:accent3>
      <a:accent4>
        <a:srgbClr val="0C2226"/>
      </a:accent4>
      <a:accent5>
        <a:srgbClr val="000000"/>
      </a:accent5>
      <a:accent6>
        <a:srgbClr val="52E081"/>
      </a:accent6>
      <a:hlink>
        <a:srgbClr val="52E081"/>
      </a:hlink>
      <a:folHlink>
        <a:srgbClr val="52E081"/>
      </a:folHlink>
    </a:clrScheme>
    <a:fontScheme name="Custom 1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FBD0CBB-28AB-4E70-A557-6F8F43EDAACB}">
  <we:reference id="WA200010215" version="2.0.0.0" store="Omex" storeType="OMEX"/>
  <we:alternateReferences>
    <we:reference id="WA200010215" version="2.0.0.0" store="WA200010215" storeType="OMEX"/>
  </we:alternateReferences>
  <we:properties>
    <we:property name="bps.codex_control.document_id" value="&quot;e3fbf1b4-2a3b-4c3b-a861-509b4486e7e8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1b9688-ab0d-4497-a1e5-51788cd6458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2492CF41097242803D2EA21A1DA434" ma:contentTypeVersion="15" ma:contentTypeDescription="Create a new document." ma:contentTypeScope="" ma:versionID="974e704a9c455b4a170702c16189c06b">
  <xsd:schema xmlns:xsd="http://www.w3.org/2001/XMLSchema" xmlns:xs="http://www.w3.org/2001/XMLSchema" xmlns:p="http://schemas.microsoft.com/office/2006/metadata/properties" xmlns:ns2="e21b9688-ab0d-4497-a1e5-51788cd6458b" xmlns:ns3="4e354d5d-1461-4be1-84db-0b61070ebef5" targetNamespace="http://schemas.microsoft.com/office/2006/metadata/properties" ma:root="true" ma:fieldsID="3a138772235447f233f71de12bc81b8d" ns2:_="" ns3:_="">
    <xsd:import namespace="e21b9688-ab0d-4497-a1e5-51788cd6458b"/>
    <xsd:import namespace="4e354d5d-1461-4be1-84db-0b61070ebe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1b9688-ab0d-4497-a1e5-51788cd645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40f5f769-a73a-44cc-8cb8-1e7862020f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354d5d-1461-4be1-84db-0b61070ebef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6A959EB-A2B7-4A15-A2EC-32060017C8D2}">
  <ds:schemaRefs>
    <ds:schemaRef ds:uri="4e354d5d-1461-4be1-84db-0b61070ebef5"/>
    <ds:schemaRef ds:uri="e21b9688-ab0d-4497-a1e5-51788cd6458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387B879-1934-4D24-A77F-5561B4BE50F2}">
  <ds:schemaRefs>
    <ds:schemaRef ds:uri="4e354d5d-1461-4be1-84db-0b61070ebef5"/>
    <ds:schemaRef ds:uri="e21b9688-ab0d-4497-a1e5-51788cd6458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FA4442E-CBB8-46F2-9812-9E602236078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Words>1870</Words>
  <Application>Microsoft Office PowerPoint</Application>
  <PresentationFormat>Widescreen</PresentationFormat>
  <Paragraphs>423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Montserrat</vt:lpstr>
      <vt:lpstr>Mundial Light</vt:lpstr>
      <vt:lpstr>Segoe UI</vt:lpstr>
      <vt:lpstr>Segoe UI Semibold</vt:lpstr>
      <vt:lpstr>2_Office Theme</vt:lpstr>
      <vt:lpstr>3_Office Theme</vt:lpstr>
      <vt:lpstr>Office Theme</vt:lpstr>
      <vt:lpstr>Visual style catalogue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 cras diem neque nis dolores sinsq nunca diami besque lorem ipsum</dc:title>
  <dc:creator>Ashleigh Rose</dc:creator>
  <cp:lastModifiedBy>Abhishek Sharma</cp:lastModifiedBy>
  <cp:revision>1</cp:revision>
  <dcterms:created xsi:type="dcterms:W3CDTF">2024-12-04T15:35:16Z</dcterms:created>
  <dcterms:modified xsi:type="dcterms:W3CDTF">2026-10-09T10:17:08Z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2e0584-010f-4004-8a6a-d5c118c8b4bd_Enabled">
    <vt:lpwstr>true</vt:lpwstr>
  </property>
  <property fmtid="{D5CDD505-2E9C-101B-9397-08002B2CF9AE}" pid="3" name="MSIP_Label_c62e0584-010f-4004-8a6a-d5c118c8b4bd_SetDate">
    <vt:lpwstr>2024-12-04T15:44:00Z</vt:lpwstr>
  </property>
  <property fmtid="{D5CDD505-2E9C-101B-9397-08002B2CF9AE}" pid="4" name="MSIP_Label_c62e0584-010f-4004-8a6a-d5c118c8b4bd_Method">
    <vt:lpwstr>Standard</vt:lpwstr>
  </property>
  <property fmtid="{D5CDD505-2E9C-101B-9397-08002B2CF9AE}" pid="5" name="MSIP_Label_c62e0584-010f-4004-8a6a-d5c118c8b4bd_Name">
    <vt:lpwstr>Internal</vt:lpwstr>
  </property>
  <property fmtid="{D5CDD505-2E9C-101B-9397-08002B2CF9AE}" pid="6" name="MSIP_Label_c62e0584-010f-4004-8a6a-d5c118c8b4bd_SiteId">
    <vt:lpwstr>56b731a8-a2ac-4c32-bf6b-616810e913c6</vt:lpwstr>
  </property>
  <property fmtid="{D5CDD505-2E9C-101B-9397-08002B2CF9AE}" pid="7" name="MSIP_Label_c62e0584-010f-4004-8a6a-d5c118c8b4bd_ActionId">
    <vt:lpwstr>7d5bda3b-487f-4011-bffd-98a16ef4a53a</vt:lpwstr>
  </property>
  <property fmtid="{D5CDD505-2E9C-101B-9397-08002B2CF9AE}" pid="8" name="MSIP_Label_c62e0584-010f-4004-8a6a-d5c118c8b4bd_ContentBits">
    <vt:lpwstr>0</vt:lpwstr>
  </property>
  <property fmtid="{D5CDD505-2E9C-101B-9397-08002B2CF9AE}" pid="9" name="ContentTypeId">
    <vt:lpwstr>0x010100292492CF41097242803D2EA21A1DA434</vt:lpwstr>
  </property>
  <property fmtid="{D5CDD505-2E9C-101B-9397-08002B2CF9AE}" pid="10" name="MediaServiceImageTags">
    <vt:lpwstr/>
  </property>
  <property fmtid="{D5CDD505-2E9C-101B-9397-08002B2CF9AE}" pid="11" name="TaxKeyword">
    <vt:lpwstr/>
  </property>
  <property fmtid="{D5CDD505-2E9C-101B-9397-08002B2CF9AE}" pid="12" name="xd_ProgID">
    <vt:lpwstr/>
  </property>
  <property fmtid="{D5CDD505-2E9C-101B-9397-08002B2CF9AE}" pid="13" name="ComplianceAssetId">
    <vt:lpwstr/>
  </property>
  <property fmtid="{D5CDD505-2E9C-101B-9397-08002B2CF9AE}" pid="14" name="TemplateUrl">
    <vt:lpwstr/>
  </property>
  <property fmtid="{D5CDD505-2E9C-101B-9397-08002B2CF9AE}" pid="15" name="_ExtendedDescription">
    <vt:lpwstr/>
  </property>
  <property fmtid="{D5CDD505-2E9C-101B-9397-08002B2CF9AE}" pid="16" name="TriggerFlowInfo">
    <vt:lpwstr/>
  </property>
  <property fmtid="{D5CDD505-2E9C-101B-9397-08002B2CF9AE}" pid="17" name="xd_Signature">
    <vt:bool>false</vt:bool>
  </property>
</Properties>
</file>